
<file path=[Content_Types].xml><?xml version="1.0" encoding="utf-8"?>
<Types xmlns="http://schemas.openxmlformats.org/package/2006/content-types">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charts/chart1.xml" ContentType="application/vnd.openxmlformats-officedocument.drawingml.chart+xml"/>
  <Override PartName="/ppt/charts/chart2.xml" ContentType="application/vnd.openxmlformats-officedocument.drawingml.chart+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3"/>
  </p:notesMasterIdLst>
  <p:sldIdLst>
    <p:sldId id="256" r:id="rId2"/>
    <p:sldId id="257" r:id="rId3"/>
    <p:sldId id="258" r:id="rId4"/>
    <p:sldId id="259" r:id="rId5"/>
    <p:sldId id="260" r:id="rId6"/>
    <p:sldId id="261" r:id="rId7"/>
    <p:sldId id="262" r:id="rId8"/>
    <p:sldId id="263" r:id="rId9"/>
    <p:sldId id="264" r:id="rId10"/>
    <p:sldId id="265" r:id="rId11"/>
    <p:sldId id="266" r:id="rId12"/>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09" d="100"/>
          <a:sy n="109" d="100"/>
        </p:scale>
        <p:origin x="706" y="8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bar"/>
        <c:grouping val="clustered"/>
        <c:varyColors val="0"/>
        <c:ser>
          <c:idx val="0"/>
          <c:order val="0"/>
          <c:tx>
            <c:strRef>
              <c:f>Sheet1!$B$1</c:f>
              <c:strCache>
                <c:ptCount val="1"/>
                <c:pt idx="0">
                  <c:v>Net Cost ($M)</c:v>
                </c:pt>
              </c:strCache>
            </c:strRef>
          </c:tx>
          <c:spPr>
            <a:solidFill>
              <a:srgbClr val="1A73E8"/>
            </a:solidFill>
            <a:effectLst/>
          </c:spPr>
          <c:invertIfNegative val="0"/>
          <c:dPt>
            <c:idx val="0"/>
            <c:invertIfNegative val="0"/>
            <c:bubble3D val="0"/>
            <c:extLst>
              <c:ext xmlns:c16="http://schemas.microsoft.com/office/drawing/2014/chart" uri="{C3380CC4-5D6E-409C-BE32-E72D297353CC}">
                <c16:uniqueId val="{00000001-1556-472E-A22B-FC63A434E3C5}"/>
              </c:ext>
            </c:extLst>
          </c:dPt>
          <c:dPt>
            <c:idx val="1"/>
            <c:invertIfNegative val="0"/>
            <c:bubble3D val="0"/>
            <c:spPr>
              <a:solidFill>
                <a:srgbClr val="34A853"/>
              </a:solidFill>
              <a:effectLst/>
            </c:spPr>
            <c:extLst>
              <c:ext xmlns:c16="http://schemas.microsoft.com/office/drawing/2014/chart" uri="{C3380CC4-5D6E-409C-BE32-E72D297353CC}">
                <c16:uniqueId val="{00000003-1556-472E-A22B-FC63A434E3C5}"/>
              </c:ext>
            </c:extLst>
          </c:dPt>
          <c:dPt>
            <c:idx val="2"/>
            <c:invertIfNegative val="0"/>
            <c:bubble3D val="0"/>
            <c:spPr>
              <a:solidFill>
                <a:srgbClr val="4285F4"/>
              </a:solidFill>
              <a:effectLst/>
            </c:spPr>
            <c:extLst>
              <c:ext xmlns:c16="http://schemas.microsoft.com/office/drawing/2014/chart" uri="{C3380CC4-5D6E-409C-BE32-E72D297353CC}">
                <c16:uniqueId val="{00000005-1556-472E-A22B-FC63A434E3C5}"/>
              </c:ext>
            </c:extLst>
          </c:dPt>
          <c:dPt>
            <c:idx val="3"/>
            <c:invertIfNegative val="0"/>
            <c:bubble3D val="0"/>
            <c:spPr>
              <a:solidFill>
                <a:srgbClr val="FBBC04"/>
              </a:solidFill>
              <a:effectLst/>
            </c:spPr>
            <c:extLst>
              <c:ext xmlns:c16="http://schemas.microsoft.com/office/drawing/2014/chart" uri="{C3380CC4-5D6E-409C-BE32-E72D297353CC}">
                <c16:uniqueId val="{00000007-1556-472E-A22B-FC63A434E3C5}"/>
              </c:ext>
            </c:extLst>
          </c:dPt>
          <c:dPt>
            <c:idx val="4"/>
            <c:invertIfNegative val="0"/>
            <c:bubble3D val="0"/>
            <c:spPr>
              <a:solidFill>
                <a:srgbClr val="EA4335"/>
              </a:solidFill>
              <a:effectLst/>
            </c:spPr>
            <c:extLst>
              <c:ext xmlns:c16="http://schemas.microsoft.com/office/drawing/2014/chart" uri="{C3380CC4-5D6E-409C-BE32-E72D297353CC}">
                <c16:uniqueId val="{00000009-1556-472E-A22B-FC63A434E3C5}"/>
              </c:ext>
            </c:extLst>
          </c:dPt>
          <c:dPt>
            <c:idx val="5"/>
            <c:invertIfNegative val="0"/>
            <c:bubble3D val="0"/>
            <c:spPr>
              <a:solidFill>
                <a:srgbClr val="00ACC1"/>
              </a:solidFill>
              <a:effectLst/>
            </c:spPr>
            <c:extLst>
              <c:ext xmlns:c16="http://schemas.microsoft.com/office/drawing/2014/chart" uri="{C3380CC4-5D6E-409C-BE32-E72D297353CC}">
                <c16:uniqueId val="{0000000B-1556-472E-A22B-FC63A434E3C5}"/>
              </c:ext>
            </c:extLst>
          </c:dPt>
          <c:dPt>
            <c:idx val="6"/>
            <c:invertIfNegative val="0"/>
            <c:bubble3D val="0"/>
            <c:spPr>
              <a:solidFill>
                <a:srgbClr val="A142F4"/>
              </a:solidFill>
              <a:effectLst/>
            </c:spPr>
            <c:extLst>
              <c:ext xmlns:c16="http://schemas.microsoft.com/office/drawing/2014/chart" uri="{C3380CC4-5D6E-409C-BE32-E72D297353CC}">
                <c16:uniqueId val="{0000000D-1556-472E-A22B-FC63A434E3C5}"/>
              </c:ext>
            </c:extLst>
          </c:dPt>
          <c:dLbls>
            <c:dLbl>
              <c:idx val="0"/>
              <c:tx>
                <c:rich>
                  <a:bodyPr/>
                  <a:lstStyle/>
                  <a:p>
                    <a:fld id="{E2F386AA-3AD6-4EB0-A0C5-6793C124EE29}" type="VALUE">
                      <a:rPr lang="en-US" smtClean="0"/>
                      <a:pPr/>
                      <a:t>[VALUE]</a:t>
                    </a:fld>
                    <a:r>
                      <a:rPr lang="en-US"/>
                      <a:t> M</a:t>
                    </a:r>
                  </a:p>
                </c:rich>
              </c:tx>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1-1556-472E-A22B-FC63A434E3C5}"/>
                </c:ext>
              </c:extLst>
            </c:dLbl>
            <c:dLbl>
              <c:idx val="1"/>
              <c:tx>
                <c:rich>
                  <a:bodyPr/>
                  <a:lstStyle/>
                  <a:p>
                    <a:fld id="{6C97A523-E804-44EB-AD04-77A60E41887D}" type="VALUE">
                      <a:rPr lang="en-US" smtClean="0"/>
                      <a:pPr/>
                      <a:t>[VALUE]</a:t>
                    </a:fld>
                    <a:r>
                      <a:rPr lang="en-US"/>
                      <a:t> M</a:t>
                    </a:r>
                  </a:p>
                </c:rich>
              </c:tx>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3-1556-472E-A22B-FC63A434E3C5}"/>
                </c:ext>
              </c:extLst>
            </c:dLbl>
            <c:dLbl>
              <c:idx val="2"/>
              <c:tx>
                <c:rich>
                  <a:bodyPr/>
                  <a:lstStyle/>
                  <a:p>
                    <a:fld id="{F412708A-83D4-4EF8-9961-2F3D97700891}" type="VALUE">
                      <a:rPr lang="en-US" smtClean="0"/>
                      <a:pPr/>
                      <a:t>[VALUE]</a:t>
                    </a:fld>
                    <a:r>
                      <a:rPr lang="en-US"/>
                      <a:t> M</a:t>
                    </a:r>
                  </a:p>
                </c:rich>
              </c:tx>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5-1556-472E-A22B-FC63A434E3C5}"/>
                </c:ext>
              </c:extLst>
            </c:dLbl>
            <c:dLbl>
              <c:idx val="3"/>
              <c:tx>
                <c:rich>
                  <a:bodyPr/>
                  <a:lstStyle/>
                  <a:p>
                    <a:fld id="{8BD97100-1BED-435E-8473-40A574CA6DE5}" type="VALUE">
                      <a:rPr lang="en-US" smtClean="0"/>
                      <a:pPr/>
                      <a:t>[VALUE]</a:t>
                    </a:fld>
                    <a:r>
                      <a:rPr lang="en-US"/>
                      <a:t> M</a:t>
                    </a:r>
                  </a:p>
                </c:rich>
              </c:tx>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7-1556-472E-A22B-FC63A434E3C5}"/>
                </c:ext>
              </c:extLst>
            </c:dLbl>
            <c:dLbl>
              <c:idx val="4"/>
              <c:tx>
                <c:rich>
                  <a:bodyPr/>
                  <a:lstStyle/>
                  <a:p>
                    <a:fld id="{369EE188-99DE-45A0-B5CC-1397F09EC31A}" type="VALUE">
                      <a:rPr lang="en-US" smtClean="0"/>
                      <a:pPr/>
                      <a:t>[VALUE]</a:t>
                    </a:fld>
                    <a:r>
                      <a:rPr lang="en-US"/>
                      <a:t> M</a:t>
                    </a:r>
                  </a:p>
                </c:rich>
              </c:tx>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9-1556-472E-A22B-FC63A434E3C5}"/>
                </c:ext>
              </c:extLst>
            </c:dLbl>
            <c:dLbl>
              <c:idx val="5"/>
              <c:tx>
                <c:rich>
                  <a:bodyPr/>
                  <a:lstStyle/>
                  <a:p>
                    <a:fld id="{1B98A7C2-01F9-4313-B643-E106738EDDD3}" type="VALUE">
                      <a:rPr lang="en-US" smtClean="0"/>
                      <a:pPr/>
                      <a:t>[VALUE]</a:t>
                    </a:fld>
                    <a:r>
                      <a:rPr lang="en-US"/>
                      <a:t> M</a:t>
                    </a:r>
                  </a:p>
                </c:rich>
              </c:tx>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B-1556-472E-A22B-FC63A434E3C5}"/>
                </c:ext>
              </c:extLst>
            </c:dLbl>
            <c:dLbl>
              <c:idx val="6"/>
              <c:tx>
                <c:rich>
                  <a:bodyPr/>
                  <a:lstStyle/>
                  <a:p>
                    <a:fld id="{9EC4F028-798B-4B5B-9778-DC926A9057D8}" type="VALUE">
                      <a:rPr lang="en-US" smtClean="0"/>
                      <a:pPr/>
                      <a:t>[VALUE]</a:t>
                    </a:fld>
                    <a:r>
                      <a:rPr lang="en-US"/>
                      <a:t> M</a:t>
                    </a:r>
                  </a:p>
                </c:rich>
              </c:tx>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D-1556-472E-A22B-FC63A434E3C5}"/>
                </c:ext>
              </c:extLst>
            </c:dLbl>
            <c:numFmt formatCode="#,##0" sourceLinked="0"/>
            <c:spPr>
              <a:noFill/>
              <a:ln>
                <a:noFill/>
              </a:ln>
              <a:effectLst/>
            </c:spPr>
            <c:txPr>
              <a:bodyPr/>
              <a:lstStyle/>
              <a:p>
                <a:pPr>
                  <a:defRPr sz="1200" b="0" i="0" u="none" strike="noStrike">
                    <a:solidFill>
                      <a:srgbClr val="202124"/>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Sheet1!$A$2:$A$8</c:f>
              <c:strCache>
                <c:ptCount val="7"/>
                <c:pt idx="0">
                  <c:v>BigQuery</c:v>
                </c:pt>
                <c:pt idx="1">
                  <c:v>Compute Engine</c:v>
                </c:pt>
                <c:pt idx="2">
                  <c:v>Cloud Storage</c:v>
                </c:pt>
                <c:pt idx="3">
                  <c:v>Vertex AI</c:v>
                </c:pt>
                <c:pt idx="4">
                  <c:v>Cloud Run</c:v>
                </c:pt>
                <c:pt idx="5">
                  <c:v>Pub/Sub</c:v>
                </c:pt>
                <c:pt idx="6">
                  <c:v>Cloud SQL</c:v>
                </c:pt>
              </c:strCache>
            </c:strRef>
          </c:cat>
          <c:val>
            <c:numRef>
              <c:f>Sheet1!$B$2:$B$8</c:f>
              <c:numCache>
                <c:formatCode>General</c:formatCode>
                <c:ptCount val="7"/>
                <c:pt idx="0">
                  <c:v>17.2</c:v>
                </c:pt>
                <c:pt idx="1">
                  <c:v>14.9</c:v>
                </c:pt>
                <c:pt idx="2">
                  <c:v>12.7</c:v>
                </c:pt>
                <c:pt idx="3">
                  <c:v>10</c:v>
                </c:pt>
                <c:pt idx="4">
                  <c:v>7.5</c:v>
                </c:pt>
                <c:pt idx="5">
                  <c:v>4.8</c:v>
                </c:pt>
                <c:pt idx="6">
                  <c:v>4.7</c:v>
                </c:pt>
              </c:numCache>
            </c:numRef>
          </c:val>
          <c:extLst>
            <c:ext xmlns:c16="http://schemas.microsoft.com/office/drawing/2014/chart" uri="{C3380CC4-5D6E-409C-BE32-E72D297353CC}">
              <c16:uniqueId val="{0000000E-1556-472E-A22B-FC63A434E3C5}"/>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5F6368"/>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b"/>
        <c:majorGridlines>
          <c:spPr>
            <a:ln w="6350" cap="flat">
              <a:solidFill>
                <a:srgbClr val="DADDE1"/>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5F6368"/>
                </a:solidFill>
                <a:latin typeface="Arial"/>
              </a:defRPr>
            </a:pPr>
            <a:endParaRPr lang="en-US"/>
          </a:p>
        </c:txPr>
        <c:crossAx val="2094734554"/>
        <c:crosses val="autoZero"/>
        <c:crossBetween val="between"/>
      </c:valAx>
      <c:spPr>
        <a:noFill/>
        <a:ln>
          <a:noFill/>
        </a:ln>
        <a:effectLst/>
      </c:spPr>
    </c:plotArea>
    <c:plotVisOnly val="1"/>
    <c:dispBlanksAs val="span"/>
    <c:showDLblsOverMax val="1"/>
  </c:chart>
  <c:spPr>
    <a:solidFill>
      <a:srgbClr val="FFFFFF"/>
    </a:solid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pieChart>
        <c:varyColors val="1"/>
        <c:ser>
          <c:idx val="0"/>
          <c:order val="0"/>
          <c:tx>
            <c:strRef>
              <c:f>Sheet1!$B$1</c:f>
              <c:strCache>
                <c:ptCount val="1"/>
                <c:pt idx="0">
                  <c:v>Department Cost</c:v>
                </c:pt>
              </c:strCache>
            </c:strRef>
          </c:tx>
          <c:spPr>
            <a:solidFill>
              <a:schemeClr val="accent1"/>
            </a:solidFill>
            <a:ln w="9525" cap="flat">
              <a:solidFill>
                <a:srgbClr val="F9F9F9"/>
              </a:solidFill>
              <a:prstDash val="solid"/>
              <a:round/>
            </a:ln>
            <a:effectLst/>
          </c:spPr>
          <c:dPt>
            <c:idx val="0"/>
            <c:bubble3D val="0"/>
            <c:spPr>
              <a:solidFill>
                <a:srgbClr val="1A73E8"/>
              </a:solidFill>
              <a:effectLst/>
            </c:spPr>
            <c:extLst>
              <c:ext xmlns:c16="http://schemas.microsoft.com/office/drawing/2014/chart" uri="{C3380CC4-5D6E-409C-BE32-E72D297353CC}">
                <c16:uniqueId val="{00000001-2F86-43B2-8B3F-4FEBA745C7A8}"/>
              </c:ext>
            </c:extLst>
          </c:dPt>
          <c:dPt>
            <c:idx val="1"/>
            <c:bubble3D val="0"/>
            <c:spPr>
              <a:solidFill>
                <a:srgbClr val="34A853"/>
              </a:solidFill>
              <a:effectLst/>
            </c:spPr>
            <c:extLst>
              <c:ext xmlns:c16="http://schemas.microsoft.com/office/drawing/2014/chart" uri="{C3380CC4-5D6E-409C-BE32-E72D297353CC}">
                <c16:uniqueId val="{00000003-2F86-43B2-8B3F-4FEBA745C7A8}"/>
              </c:ext>
            </c:extLst>
          </c:dPt>
          <c:dPt>
            <c:idx val="2"/>
            <c:bubble3D val="0"/>
            <c:spPr>
              <a:solidFill>
                <a:srgbClr val="FBBC04"/>
              </a:solidFill>
              <a:effectLst/>
            </c:spPr>
            <c:extLst>
              <c:ext xmlns:c16="http://schemas.microsoft.com/office/drawing/2014/chart" uri="{C3380CC4-5D6E-409C-BE32-E72D297353CC}">
                <c16:uniqueId val="{00000005-2F86-43B2-8B3F-4FEBA745C7A8}"/>
              </c:ext>
            </c:extLst>
          </c:dPt>
          <c:dPt>
            <c:idx val="3"/>
            <c:bubble3D val="0"/>
            <c:spPr>
              <a:solidFill>
                <a:srgbClr val="EA4335"/>
              </a:solidFill>
              <a:effectLst/>
            </c:spPr>
            <c:extLst>
              <c:ext xmlns:c16="http://schemas.microsoft.com/office/drawing/2014/chart" uri="{C3380CC4-5D6E-409C-BE32-E72D297353CC}">
                <c16:uniqueId val="{00000007-2F86-43B2-8B3F-4FEBA745C7A8}"/>
              </c:ext>
            </c:extLst>
          </c:dPt>
          <c:dPt>
            <c:idx val="4"/>
            <c:bubble3D val="0"/>
            <c:spPr>
              <a:solidFill>
                <a:srgbClr val="4285F4"/>
              </a:solidFill>
              <a:effectLst/>
            </c:spPr>
            <c:extLst>
              <c:ext xmlns:c16="http://schemas.microsoft.com/office/drawing/2014/chart" uri="{C3380CC4-5D6E-409C-BE32-E72D297353CC}">
                <c16:uniqueId val="{00000009-2F86-43B2-8B3F-4FEBA745C7A8}"/>
              </c:ext>
            </c:extLst>
          </c:dPt>
          <c:dPt>
            <c:idx val="5"/>
            <c:bubble3D val="0"/>
            <c:spPr>
              <a:solidFill>
                <a:srgbClr val="A142F4"/>
              </a:solidFill>
              <a:effectLst/>
            </c:spPr>
            <c:extLst>
              <c:ext xmlns:c16="http://schemas.microsoft.com/office/drawing/2014/chart" uri="{C3380CC4-5D6E-409C-BE32-E72D297353CC}">
                <c16:uniqueId val="{0000000B-2F86-43B2-8B3F-4FEBA745C7A8}"/>
              </c:ext>
            </c:extLst>
          </c:dPt>
          <c:dLbls>
            <c:dLbl>
              <c:idx val="0"/>
              <c:numFmt formatCode="0%" sourceLinked="0"/>
              <c:spPr/>
              <c:txPr>
                <a:bodyPr/>
                <a:lstStyle/>
                <a:p>
                  <a:pPr>
                    <a:defRPr sz="1200" b="0" i="0" u="none" strike="noStrike">
                      <a:solidFill>
                        <a:srgbClr val="000000"/>
                      </a:solidFill>
                      <a:latin typeface="Arial"/>
                    </a:defRPr>
                  </a:pPr>
                  <a:endParaRPr lang="en-US"/>
                </a:p>
              </c:txPr>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1-2F86-43B2-8B3F-4FEBA745C7A8}"/>
                </c:ext>
              </c:extLst>
            </c:dLbl>
            <c:dLbl>
              <c:idx val="1"/>
              <c:numFmt formatCode="0%" sourceLinked="0"/>
              <c:spPr/>
              <c:txPr>
                <a:bodyPr/>
                <a:lstStyle/>
                <a:p>
                  <a:pPr>
                    <a:defRPr sz="1200" b="0" i="0" u="none" strike="noStrike">
                      <a:solidFill>
                        <a:srgbClr val="000000"/>
                      </a:solidFill>
                      <a:latin typeface="Arial"/>
                    </a:defRPr>
                  </a:pPr>
                  <a:endParaRPr lang="en-US"/>
                </a:p>
              </c:txPr>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3-2F86-43B2-8B3F-4FEBA745C7A8}"/>
                </c:ext>
              </c:extLst>
            </c:dLbl>
            <c:dLbl>
              <c:idx val="2"/>
              <c:numFmt formatCode="0%" sourceLinked="0"/>
              <c:spPr/>
              <c:txPr>
                <a:bodyPr/>
                <a:lstStyle/>
                <a:p>
                  <a:pPr>
                    <a:defRPr sz="1200" b="0" i="0" u="none" strike="noStrike">
                      <a:solidFill>
                        <a:srgbClr val="000000"/>
                      </a:solidFill>
                      <a:latin typeface="Arial"/>
                    </a:defRPr>
                  </a:pPr>
                  <a:endParaRPr lang="en-US"/>
                </a:p>
              </c:txPr>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5-2F86-43B2-8B3F-4FEBA745C7A8}"/>
                </c:ext>
              </c:extLst>
            </c:dLbl>
            <c:dLbl>
              <c:idx val="3"/>
              <c:numFmt formatCode="0%" sourceLinked="0"/>
              <c:spPr/>
              <c:txPr>
                <a:bodyPr/>
                <a:lstStyle/>
                <a:p>
                  <a:pPr>
                    <a:defRPr sz="1200" b="0" i="0" u="none" strike="noStrike">
                      <a:solidFill>
                        <a:srgbClr val="000000"/>
                      </a:solidFill>
                      <a:latin typeface="Arial"/>
                    </a:defRPr>
                  </a:pPr>
                  <a:endParaRPr lang="en-US"/>
                </a:p>
              </c:txPr>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7-2F86-43B2-8B3F-4FEBA745C7A8}"/>
                </c:ext>
              </c:extLst>
            </c:dLbl>
            <c:dLbl>
              <c:idx val="4"/>
              <c:numFmt formatCode="0%" sourceLinked="0"/>
              <c:spPr/>
              <c:txPr>
                <a:bodyPr/>
                <a:lstStyle/>
                <a:p>
                  <a:pPr>
                    <a:defRPr sz="1200" b="0" i="0" u="none" strike="noStrike">
                      <a:solidFill>
                        <a:srgbClr val="000000"/>
                      </a:solidFill>
                      <a:latin typeface="Arial"/>
                    </a:defRPr>
                  </a:pPr>
                  <a:endParaRPr lang="en-US"/>
                </a:p>
              </c:txPr>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9-2F86-43B2-8B3F-4FEBA745C7A8}"/>
                </c:ext>
              </c:extLst>
            </c:dLbl>
            <c:dLbl>
              <c:idx val="5"/>
              <c:numFmt formatCode="0%" sourceLinked="0"/>
              <c:spPr/>
              <c:txPr>
                <a:bodyPr/>
                <a:lstStyle/>
                <a:p>
                  <a:pPr>
                    <a:defRPr sz="1200" b="0" i="0" u="none" strike="noStrike">
                      <a:solidFill>
                        <a:srgbClr val="000000"/>
                      </a:solidFill>
                      <a:latin typeface="Arial"/>
                    </a:defRPr>
                  </a:pPr>
                  <a:endParaRPr lang="en-US"/>
                </a:p>
              </c:txPr>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B-2F86-43B2-8B3F-4FEBA745C7A8}"/>
                </c:ext>
              </c:extLst>
            </c:dLbl>
            <c:numFmt formatCode="0%" sourceLinked="0"/>
            <c:spPr>
              <a:noFill/>
              <a:ln>
                <a:noFill/>
              </a:ln>
              <a:effectLst/>
            </c:spPr>
            <c:txPr>
              <a:bodyPr/>
              <a:lstStyle/>
              <a:p>
                <a:pPr>
                  <a:defRPr sz="1800" b="0" i="0" u="none" strike="noStrike">
                    <a:solidFill>
                      <a:srgbClr val="000000"/>
                    </a:solidFill>
                    <a:latin typeface="Arial"/>
                  </a:defRPr>
                </a:pPr>
                <a:endParaRPr lang="en-US"/>
              </a:p>
            </c:txPr>
            <c:dLblPos val="ctr"/>
            <c:showLegendKey val="0"/>
            <c:showVal val="0"/>
            <c:showCatName val="1"/>
            <c:showSerName val="0"/>
            <c:showPercent val="1"/>
            <c:showBubbleSize val="0"/>
            <c:showLeaderLines val="0"/>
            <c:extLst>
              <c:ext xmlns:c15="http://schemas.microsoft.com/office/drawing/2012/chart" uri="{CE6537A1-D6FC-4f65-9D91-7224C49458BB}"/>
            </c:extLst>
          </c:dLbls>
          <c:cat>
            <c:strRef>
              <c:f>Sheet1!$A$2:$A$7</c:f>
              <c:strCache>
                <c:ptCount val="6"/>
                <c:pt idx="0">
                  <c:v>IT Operations</c:v>
                </c:pt>
                <c:pt idx="1">
                  <c:v>E-Commerce</c:v>
                </c:pt>
                <c:pt idx="2">
                  <c:v>Marketing</c:v>
                </c:pt>
                <c:pt idx="3">
                  <c:v>Sales</c:v>
                </c:pt>
                <c:pt idx="4">
                  <c:v>Data Science</c:v>
                </c:pt>
                <c:pt idx="5">
                  <c:v>Others</c:v>
                </c:pt>
              </c:strCache>
            </c:strRef>
          </c:cat>
          <c:val>
            <c:numRef>
              <c:f>Sheet1!$B$2:$B$7</c:f>
              <c:numCache>
                <c:formatCode>General</c:formatCode>
                <c:ptCount val="6"/>
                <c:pt idx="0">
                  <c:v>12.9</c:v>
                </c:pt>
                <c:pt idx="1">
                  <c:v>9.9</c:v>
                </c:pt>
                <c:pt idx="2">
                  <c:v>9.1999999999999993</c:v>
                </c:pt>
                <c:pt idx="3">
                  <c:v>7.3</c:v>
                </c:pt>
                <c:pt idx="4">
                  <c:v>7.3</c:v>
                </c:pt>
                <c:pt idx="5">
                  <c:v>27.7</c:v>
                </c:pt>
              </c:numCache>
            </c:numRef>
          </c:val>
          <c:extLst>
            <c:ext xmlns:c16="http://schemas.microsoft.com/office/drawing/2014/chart" uri="{C3380CC4-5D6E-409C-BE32-E72D297353CC}">
              <c16:uniqueId val="{0000000C-2F86-43B2-8B3F-4FEBA745C7A8}"/>
            </c:ext>
          </c:extLst>
        </c:ser>
        <c:dLbls>
          <c:showLegendKey val="0"/>
          <c:showVal val="0"/>
          <c:showCatName val="0"/>
          <c:showSerName val="0"/>
          <c:showPercent val="0"/>
          <c:showBubbleSize val="0"/>
          <c:showLeaderLines val="0"/>
        </c:dLbls>
        <c:firstSliceAng val="0"/>
      </c:pieChart>
      <c:spPr>
        <a:noFill/>
        <a:ln>
          <a:noFill/>
        </a:ln>
        <a:effectLst/>
      </c:spPr>
    </c:plotArea>
    <c:legend>
      <c:legendPos val="b"/>
      <c:overlay val="0"/>
      <c:txPr>
        <a:bodyPr/>
        <a:lstStyle/>
        <a:p>
          <a:pPr>
            <a:defRPr>
              <a:solidFill>
                <a:srgbClr val="5F6368"/>
              </a:solidFill>
            </a:defRPr>
          </a:pPr>
          <a:endParaRPr lang="en-US"/>
        </a:p>
      </c:txPr>
    </c:legend>
    <c:plotVisOnly val="1"/>
    <c:dispBlanksAs val="span"/>
    <c:showDLblsOverMax val="1"/>
  </c:chart>
  <c:spPr>
    <a:solidFill>
      <a:srgbClr val="FFFFFF"/>
    </a:solid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96867877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chart" Target="../charts/char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2B6B"/>
        </a:solidFill>
        <a:effectLst/>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0D2B6B"/>
          </a:solidFill>
          <a:ln w="12700">
            <a:solidFill>
              <a:srgbClr val="0D2B6B"/>
            </a:solidFill>
            <a:prstDash val="solid"/>
          </a:ln>
        </p:spPr>
      </p:sp>
      <p:sp>
        <p:nvSpPr>
          <p:cNvPr id="3" name="Shape 1"/>
          <p:cNvSpPr/>
          <p:nvPr/>
        </p:nvSpPr>
        <p:spPr>
          <a:xfrm>
            <a:off x="7132320" y="0"/>
            <a:ext cx="2011680" cy="5143500"/>
          </a:xfrm>
          <a:prstGeom prst="rect">
            <a:avLst/>
          </a:prstGeom>
          <a:solidFill>
            <a:srgbClr val="1A73E8">
              <a:alpha val="25000"/>
            </a:srgbClr>
          </a:solidFill>
          <a:ln w="12700">
            <a:solidFill>
              <a:srgbClr val="1A73E8">
                <a:alpha val="25000"/>
              </a:srgbClr>
            </a:solidFill>
            <a:prstDash val="solid"/>
          </a:ln>
        </p:spPr>
      </p:sp>
      <p:sp>
        <p:nvSpPr>
          <p:cNvPr id="4" name="Shape 2"/>
          <p:cNvSpPr/>
          <p:nvPr/>
        </p:nvSpPr>
        <p:spPr>
          <a:xfrm>
            <a:off x="0" y="4663440"/>
            <a:ext cx="9144000" cy="64008"/>
          </a:xfrm>
          <a:prstGeom prst="rect">
            <a:avLst/>
          </a:prstGeom>
          <a:solidFill>
            <a:srgbClr val="FBBC04"/>
          </a:solidFill>
          <a:ln w="12700">
            <a:solidFill>
              <a:srgbClr val="FBBC04"/>
            </a:solidFill>
            <a:prstDash val="solid"/>
          </a:ln>
        </p:spPr>
      </p:sp>
      <p:sp>
        <p:nvSpPr>
          <p:cNvPr id="5" name="Shape 3"/>
          <p:cNvSpPr/>
          <p:nvPr/>
        </p:nvSpPr>
        <p:spPr>
          <a:xfrm>
            <a:off x="548640" y="457200"/>
            <a:ext cx="640080" cy="640080"/>
          </a:xfrm>
          <a:prstGeom prst="rect">
            <a:avLst/>
          </a:prstGeom>
          <a:solidFill>
            <a:srgbClr val="1A73E8"/>
          </a:solidFill>
          <a:ln w="12700">
            <a:solidFill>
              <a:srgbClr val="1A73E8"/>
            </a:solidFill>
            <a:prstDash val="solid"/>
          </a:ln>
        </p:spPr>
      </p:sp>
      <p:sp>
        <p:nvSpPr>
          <p:cNvPr id="6" name="Text 4"/>
          <p:cNvSpPr/>
          <p:nvPr/>
        </p:nvSpPr>
        <p:spPr>
          <a:xfrm>
            <a:off x="548640" y="457200"/>
            <a:ext cx="640080" cy="640080"/>
          </a:xfrm>
          <a:prstGeom prst="rect">
            <a:avLst/>
          </a:prstGeom>
          <a:noFill/>
          <a:ln/>
        </p:spPr>
        <p:txBody>
          <a:bodyPr wrap="square" rtlCol="0" anchor="ctr"/>
          <a:lstStyle/>
          <a:p>
            <a:pPr marL="0" indent="0" algn="ctr">
              <a:buNone/>
            </a:pPr>
            <a:r>
              <a:rPr lang="en-US" sz="2200" b="1" dirty="0">
                <a:solidFill>
                  <a:srgbClr val="FFFFFF"/>
                </a:solidFill>
              </a:rPr>
              <a:t>G</a:t>
            </a:r>
            <a:endParaRPr lang="en-US" sz="2200" dirty="0"/>
          </a:p>
        </p:txBody>
      </p:sp>
      <p:sp>
        <p:nvSpPr>
          <p:cNvPr id="7" name="Text 5"/>
          <p:cNvSpPr/>
          <p:nvPr/>
        </p:nvSpPr>
        <p:spPr>
          <a:xfrm>
            <a:off x="1325880" y="530352"/>
            <a:ext cx="4572000" cy="256032"/>
          </a:xfrm>
          <a:prstGeom prst="rect">
            <a:avLst/>
          </a:prstGeom>
          <a:noFill/>
          <a:ln/>
        </p:spPr>
        <p:txBody>
          <a:bodyPr wrap="square" rtlCol="0" anchor="ctr"/>
          <a:lstStyle/>
          <a:p>
            <a:pPr marL="0" indent="0">
              <a:buNone/>
            </a:pPr>
            <a:r>
              <a:rPr lang="en-US" sz="1000" dirty="0">
                <a:solidFill>
                  <a:srgbClr val="8AB4F8"/>
                </a:solidFill>
              </a:rPr>
              <a:t>Google Cloud Platform</a:t>
            </a:r>
            <a:endParaRPr lang="en-US" sz="1000" dirty="0"/>
          </a:p>
        </p:txBody>
      </p:sp>
      <p:sp>
        <p:nvSpPr>
          <p:cNvPr id="8" name="Text 6"/>
          <p:cNvSpPr/>
          <p:nvPr/>
        </p:nvSpPr>
        <p:spPr>
          <a:xfrm>
            <a:off x="548640" y="1280160"/>
            <a:ext cx="8229600" cy="457200"/>
          </a:xfrm>
          <a:prstGeom prst="rect">
            <a:avLst/>
          </a:prstGeom>
          <a:noFill/>
          <a:ln/>
        </p:spPr>
        <p:txBody>
          <a:bodyPr wrap="square" rtlCol="0" anchor="ctr"/>
          <a:lstStyle/>
          <a:p>
            <a:pPr marL="0" indent="0">
              <a:buNone/>
            </a:pPr>
            <a:r>
              <a:rPr lang="en-US" sz="1300" kern="0" spc="300" dirty="0">
                <a:solidFill>
                  <a:srgbClr val="8AB4F8"/>
                </a:solidFill>
              </a:rPr>
              <a:t>FinOps Analytics</a:t>
            </a:r>
            <a:endParaRPr lang="en-US" sz="1300" dirty="0"/>
          </a:p>
        </p:txBody>
      </p:sp>
      <p:sp>
        <p:nvSpPr>
          <p:cNvPr id="9" name="Text 7"/>
          <p:cNvSpPr/>
          <p:nvPr/>
        </p:nvSpPr>
        <p:spPr>
          <a:xfrm>
            <a:off x="548640" y="1737360"/>
            <a:ext cx="6858000" cy="1371600"/>
          </a:xfrm>
          <a:prstGeom prst="rect">
            <a:avLst/>
          </a:prstGeom>
          <a:noFill/>
          <a:ln/>
        </p:spPr>
        <p:txBody>
          <a:bodyPr wrap="square" rtlCol="0" anchor="ctr"/>
          <a:lstStyle/>
          <a:p>
            <a:pPr marL="0" indent="0">
              <a:lnSpc>
                <a:spcPct val="120000"/>
              </a:lnSpc>
              <a:buNone/>
            </a:pPr>
            <a:r>
              <a:rPr lang="en-US" sz="3400" b="1" dirty="0">
                <a:solidFill>
                  <a:srgbClr val="FFFFFF"/>
                </a:solidFill>
              </a:rPr>
              <a:t>GCP Cloud Cost</a:t>
            </a:r>
            <a:endParaRPr lang="en-US" sz="3400" dirty="0"/>
          </a:p>
          <a:p>
            <a:pPr marL="0" indent="0">
              <a:lnSpc>
                <a:spcPct val="120000"/>
              </a:lnSpc>
              <a:buNone/>
            </a:pPr>
            <a:r>
              <a:rPr lang="en-US" sz="3400" b="1" dirty="0">
                <a:solidFill>
                  <a:srgbClr val="FFFFFF"/>
                </a:solidFill>
              </a:rPr>
              <a:t>Optimization Dashboard</a:t>
            </a:r>
            <a:endParaRPr lang="en-US" sz="3400" dirty="0"/>
          </a:p>
        </p:txBody>
      </p:sp>
      <p:sp>
        <p:nvSpPr>
          <p:cNvPr id="10" name="Text 8"/>
          <p:cNvSpPr/>
          <p:nvPr/>
        </p:nvSpPr>
        <p:spPr>
          <a:xfrm>
            <a:off x="548640" y="3246120"/>
            <a:ext cx="6400800" cy="320040"/>
          </a:xfrm>
          <a:prstGeom prst="rect">
            <a:avLst/>
          </a:prstGeom>
          <a:noFill/>
          <a:ln/>
        </p:spPr>
        <p:txBody>
          <a:bodyPr wrap="square" rtlCol="0" anchor="ctr"/>
          <a:lstStyle/>
          <a:p>
            <a:pPr marL="0" indent="0">
              <a:buNone/>
            </a:pPr>
            <a:r>
              <a:rPr lang="en-US" sz="1300" i="1" dirty="0">
                <a:solidFill>
                  <a:srgbClr val="CADCFC"/>
                </a:solidFill>
              </a:rPr>
              <a:t>End-to-End Power BI Analytics using Google BigQuery</a:t>
            </a:r>
            <a:endParaRPr lang="en-US" sz="1300" dirty="0"/>
          </a:p>
        </p:txBody>
      </p:sp>
      <p:sp>
        <p:nvSpPr>
          <p:cNvPr id="11" name="Shape 9"/>
          <p:cNvSpPr/>
          <p:nvPr/>
        </p:nvSpPr>
        <p:spPr>
          <a:xfrm>
            <a:off x="548640" y="3749040"/>
            <a:ext cx="1828800" cy="274320"/>
          </a:xfrm>
          <a:prstGeom prst="rect">
            <a:avLst/>
          </a:prstGeom>
          <a:solidFill>
            <a:srgbClr val="1A73E8">
              <a:alpha val="20000"/>
            </a:srgbClr>
          </a:solidFill>
          <a:ln w="12700">
            <a:solidFill>
              <a:srgbClr val="1A73E8">
                <a:alpha val="50000"/>
              </a:srgbClr>
            </a:solidFill>
            <a:prstDash val="solid"/>
          </a:ln>
        </p:spPr>
      </p:sp>
      <p:sp>
        <p:nvSpPr>
          <p:cNvPr id="12" name="Text 10"/>
          <p:cNvSpPr/>
          <p:nvPr/>
        </p:nvSpPr>
        <p:spPr>
          <a:xfrm>
            <a:off x="548640" y="3749040"/>
            <a:ext cx="1828800" cy="274320"/>
          </a:xfrm>
          <a:prstGeom prst="rect">
            <a:avLst/>
          </a:prstGeom>
          <a:noFill/>
          <a:ln/>
        </p:spPr>
        <p:txBody>
          <a:bodyPr wrap="square" rtlCol="0" anchor="ctr"/>
          <a:lstStyle/>
          <a:p>
            <a:pPr marL="0" indent="0" algn="ctr">
              <a:buNone/>
            </a:pPr>
            <a:r>
              <a:rPr lang="en-US" sz="850" dirty="0">
                <a:solidFill>
                  <a:srgbClr val="FFFFFF"/>
                </a:solidFill>
              </a:rPr>
              <a:t>Power BI Desktop</a:t>
            </a:r>
            <a:endParaRPr lang="en-US" sz="850" dirty="0"/>
          </a:p>
        </p:txBody>
      </p:sp>
      <p:sp>
        <p:nvSpPr>
          <p:cNvPr id="13" name="Shape 11"/>
          <p:cNvSpPr/>
          <p:nvPr/>
        </p:nvSpPr>
        <p:spPr>
          <a:xfrm>
            <a:off x="2560320" y="3749040"/>
            <a:ext cx="1828800" cy="274320"/>
          </a:xfrm>
          <a:prstGeom prst="rect">
            <a:avLst/>
          </a:prstGeom>
          <a:solidFill>
            <a:srgbClr val="34A853">
              <a:alpha val="20000"/>
            </a:srgbClr>
          </a:solidFill>
          <a:ln w="12700">
            <a:solidFill>
              <a:srgbClr val="34A853">
                <a:alpha val="50000"/>
              </a:srgbClr>
            </a:solidFill>
            <a:prstDash val="solid"/>
          </a:ln>
        </p:spPr>
      </p:sp>
      <p:sp>
        <p:nvSpPr>
          <p:cNvPr id="14" name="Text 12"/>
          <p:cNvSpPr/>
          <p:nvPr/>
        </p:nvSpPr>
        <p:spPr>
          <a:xfrm>
            <a:off x="2560320" y="3749040"/>
            <a:ext cx="1828800" cy="274320"/>
          </a:xfrm>
          <a:prstGeom prst="rect">
            <a:avLst/>
          </a:prstGeom>
          <a:noFill/>
          <a:ln/>
        </p:spPr>
        <p:txBody>
          <a:bodyPr wrap="square" rtlCol="0" anchor="ctr"/>
          <a:lstStyle/>
          <a:p>
            <a:pPr marL="0" indent="0" algn="ctr">
              <a:buNone/>
            </a:pPr>
            <a:r>
              <a:rPr lang="en-US" sz="850" dirty="0">
                <a:solidFill>
                  <a:srgbClr val="FFFFFF"/>
                </a:solidFill>
              </a:rPr>
              <a:t>Google BigQuery</a:t>
            </a:r>
            <a:endParaRPr lang="en-US" sz="850" dirty="0"/>
          </a:p>
        </p:txBody>
      </p:sp>
      <p:sp>
        <p:nvSpPr>
          <p:cNvPr id="15" name="Shape 13"/>
          <p:cNvSpPr/>
          <p:nvPr/>
        </p:nvSpPr>
        <p:spPr>
          <a:xfrm>
            <a:off x="4572000" y="3749040"/>
            <a:ext cx="1828800" cy="274320"/>
          </a:xfrm>
          <a:prstGeom prst="rect">
            <a:avLst/>
          </a:prstGeom>
          <a:solidFill>
            <a:srgbClr val="FBBC04">
              <a:alpha val="20000"/>
            </a:srgbClr>
          </a:solidFill>
          <a:ln w="12700">
            <a:solidFill>
              <a:srgbClr val="FBBC04">
                <a:alpha val="50000"/>
              </a:srgbClr>
            </a:solidFill>
            <a:prstDash val="solid"/>
          </a:ln>
        </p:spPr>
      </p:sp>
      <p:sp>
        <p:nvSpPr>
          <p:cNvPr id="16" name="Text 14"/>
          <p:cNvSpPr/>
          <p:nvPr/>
        </p:nvSpPr>
        <p:spPr>
          <a:xfrm>
            <a:off x="4572000" y="3749040"/>
            <a:ext cx="1828800" cy="274320"/>
          </a:xfrm>
          <a:prstGeom prst="rect">
            <a:avLst/>
          </a:prstGeom>
          <a:noFill/>
          <a:ln/>
        </p:spPr>
        <p:txBody>
          <a:bodyPr wrap="square" rtlCol="0" anchor="ctr"/>
          <a:lstStyle/>
          <a:p>
            <a:pPr marL="0" indent="0" algn="ctr">
              <a:buNone/>
            </a:pPr>
            <a:r>
              <a:rPr lang="en-US" sz="850" dirty="0">
                <a:solidFill>
                  <a:srgbClr val="FFFFFF"/>
                </a:solidFill>
              </a:rPr>
              <a:t>GCP FinOps</a:t>
            </a:r>
            <a:endParaRPr lang="en-US" sz="850" dirty="0"/>
          </a:p>
        </p:txBody>
      </p:sp>
      <p:sp>
        <p:nvSpPr>
          <p:cNvPr id="17" name="Shape 15"/>
          <p:cNvSpPr/>
          <p:nvPr/>
        </p:nvSpPr>
        <p:spPr>
          <a:xfrm>
            <a:off x="6583680" y="3749040"/>
            <a:ext cx="1828800" cy="274320"/>
          </a:xfrm>
          <a:prstGeom prst="rect">
            <a:avLst/>
          </a:prstGeom>
          <a:solidFill>
            <a:srgbClr val="EA4335">
              <a:alpha val="20000"/>
            </a:srgbClr>
          </a:solidFill>
          <a:ln w="12700">
            <a:solidFill>
              <a:srgbClr val="EA4335">
                <a:alpha val="50000"/>
              </a:srgbClr>
            </a:solidFill>
            <a:prstDash val="solid"/>
          </a:ln>
        </p:spPr>
      </p:sp>
      <p:sp>
        <p:nvSpPr>
          <p:cNvPr id="18" name="Text 16"/>
          <p:cNvSpPr/>
          <p:nvPr/>
        </p:nvSpPr>
        <p:spPr>
          <a:xfrm>
            <a:off x="6583680" y="3749040"/>
            <a:ext cx="1828800" cy="274320"/>
          </a:xfrm>
          <a:prstGeom prst="rect">
            <a:avLst/>
          </a:prstGeom>
          <a:noFill/>
          <a:ln/>
        </p:spPr>
        <p:txBody>
          <a:bodyPr wrap="square" rtlCol="0" anchor="ctr"/>
          <a:lstStyle/>
          <a:p>
            <a:pPr marL="0" indent="0" algn="ctr">
              <a:buNone/>
            </a:pPr>
            <a:r>
              <a:rPr lang="en-US" sz="850" dirty="0">
                <a:solidFill>
                  <a:srgbClr val="FFFFFF"/>
                </a:solidFill>
              </a:rPr>
              <a:t>103K+ Rows</a:t>
            </a:r>
            <a:endParaRPr lang="en-US" sz="850" dirty="0"/>
          </a:p>
        </p:txBody>
      </p:sp>
      <p:sp>
        <p:nvSpPr>
          <p:cNvPr id="19" name="Text 17"/>
          <p:cNvSpPr/>
          <p:nvPr/>
        </p:nvSpPr>
        <p:spPr>
          <a:xfrm>
            <a:off x="548640" y="4206240"/>
            <a:ext cx="7772400" cy="228600"/>
          </a:xfrm>
          <a:prstGeom prst="rect">
            <a:avLst/>
          </a:prstGeom>
          <a:noFill/>
          <a:ln/>
        </p:spPr>
        <p:txBody>
          <a:bodyPr wrap="square" rtlCol="0" anchor="ctr"/>
          <a:lstStyle/>
          <a:p>
            <a:pPr marL="0" indent="0">
              <a:buNone/>
            </a:pPr>
            <a:r>
              <a:rPr lang="en-US" sz="800" dirty="0">
                <a:solidFill>
                  <a:srgbClr val="8AB4F8"/>
                </a:solidFill>
              </a:rPr>
              <a:t>Jan 2025 – May 2026  |  17 Months  |  6 Dashboard Pages  |  asia-south1</a:t>
            </a:r>
            <a:endParaRPr lang="en-US" sz="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8FBFF"/>
        </a:solidFill>
        <a:effectLst/>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1A73E8"/>
          </a:solidFill>
          <a:ln w="12700">
            <a:solidFill>
              <a:srgbClr val="1A73E8"/>
            </a:solidFill>
            <a:prstDash val="solid"/>
          </a:ln>
        </p:spPr>
      </p:sp>
      <p:sp>
        <p:nvSpPr>
          <p:cNvPr id="3" name="Shape 1"/>
          <p:cNvSpPr/>
          <p:nvPr/>
        </p:nvSpPr>
        <p:spPr>
          <a:xfrm>
            <a:off x="0" y="0"/>
            <a:ext cx="685800" cy="685800"/>
          </a:xfrm>
          <a:prstGeom prst="rect">
            <a:avLst/>
          </a:prstGeom>
          <a:solidFill>
            <a:srgbClr val="0D47A1"/>
          </a:solidFill>
          <a:ln w="12700">
            <a:solidFill>
              <a:srgbClr val="0D47A1"/>
            </a:solidFill>
            <a:prstDash val="solid"/>
          </a:ln>
        </p:spPr>
      </p:sp>
      <p:sp>
        <p:nvSpPr>
          <p:cNvPr id="4" name="Text 2"/>
          <p:cNvSpPr/>
          <p:nvPr/>
        </p:nvSpPr>
        <p:spPr>
          <a:xfrm>
            <a:off x="0" y="0"/>
            <a:ext cx="685800" cy="685800"/>
          </a:xfrm>
          <a:prstGeom prst="rect">
            <a:avLst/>
          </a:prstGeom>
          <a:noFill/>
          <a:ln/>
        </p:spPr>
        <p:txBody>
          <a:bodyPr wrap="square" rtlCol="0" anchor="ctr"/>
          <a:lstStyle/>
          <a:p>
            <a:pPr marL="0" indent="0" algn="ctr">
              <a:buNone/>
            </a:pPr>
            <a:r>
              <a:rPr lang="en-US" sz="2000" b="1" dirty="0">
                <a:solidFill>
                  <a:srgbClr val="FFFFFF"/>
                </a:solidFill>
              </a:rPr>
              <a:t>G</a:t>
            </a:r>
            <a:endParaRPr lang="en-US" sz="2000" dirty="0"/>
          </a:p>
        </p:txBody>
      </p:sp>
      <p:sp>
        <p:nvSpPr>
          <p:cNvPr id="5" name="Text 3"/>
          <p:cNvSpPr/>
          <p:nvPr/>
        </p:nvSpPr>
        <p:spPr>
          <a:xfrm>
            <a:off x="777240" y="73152"/>
            <a:ext cx="6858000" cy="320040"/>
          </a:xfrm>
          <a:prstGeom prst="rect">
            <a:avLst/>
          </a:prstGeom>
          <a:noFill/>
          <a:ln/>
        </p:spPr>
        <p:txBody>
          <a:bodyPr wrap="square" rtlCol="0" anchor="ctr"/>
          <a:lstStyle/>
          <a:p>
            <a:pPr marL="0" indent="0">
              <a:buNone/>
            </a:pPr>
            <a:r>
              <a:rPr lang="en-US" sz="1400" b="1" dirty="0">
                <a:solidFill>
                  <a:srgbClr val="FFFFFF"/>
                </a:solidFill>
              </a:rPr>
              <a:t>Agenda</a:t>
            </a:r>
            <a:endParaRPr lang="en-US" sz="1400" dirty="0"/>
          </a:p>
        </p:txBody>
      </p:sp>
      <p:sp>
        <p:nvSpPr>
          <p:cNvPr id="6" name="Text 4"/>
          <p:cNvSpPr/>
          <p:nvPr/>
        </p:nvSpPr>
        <p:spPr>
          <a:xfrm>
            <a:off x="777240" y="384048"/>
            <a:ext cx="6858000" cy="228600"/>
          </a:xfrm>
          <a:prstGeom prst="rect">
            <a:avLst/>
          </a:prstGeom>
          <a:noFill/>
          <a:ln/>
        </p:spPr>
        <p:txBody>
          <a:bodyPr wrap="square" rtlCol="0" anchor="ctr"/>
          <a:lstStyle/>
          <a:p>
            <a:pPr marL="0" indent="0">
              <a:buNone/>
            </a:pPr>
            <a:r>
              <a:rPr lang="en-US" sz="900" dirty="0">
                <a:solidFill>
                  <a:srgbClr val="FFFFFF"/>
                </a:solidFill>
              </a:rPr>
              <a:t>What we cover in this presentation</a:t>
            </a:r>
            <a:endParaRPr lang="en-US" sz="900" dirty="0"/>
          </a:p>
        </p:txBody>
      </p:sp>
      <p:sp>
        <p:nvSpPr>
          <p:cNvPr id="7" name="Shape 5"/>
          <p:cNvSpPr/>
          <p:nvPr/>
        </p:nvSpPr>
        <p:spPr>
          <a:xfrm>
            <a:off x="365760" y="868680"/>
            <a:ext cx="4114800" cy="777240"/>
          </a:xfrm>
          <a:prstGeom prst="rect">
            <a:avLst/>
          </a:prstGeom>
          <a:solidFill>
            <a:srgbClr val="FFFFFF"/>
          </a:solidFill>
          <a:ln w="6350">
            <a:solidFill>
              <a:srgbClr val="DADDE1"/>
            </a:solidFill>
            <a:prstDash val="solid"/>
          </a:ln>
          <a:effectLst>
            <a:outerShdw blurRad="50800" dist="25400" dir="8100000" algn="bl" rotWithShape="0">
              <a:srgbClr val="000000">
                <a:alpha val="8000"/>
              </a:srgbClr>
            </a:outerShdw>
          </a:effectLst>
        </p:spPr>
      </p:sp>
      <p:sp>
        <p:nvSpPr>
          <p:cNvPr id="8" name="Shape 6"/>
          <p:cNvSpPr/>
          <p:nvPr/>
        </p:nvSpPr>
        <p:spPr>
          <a:xfrm>
            <a:off x="365760" y="868680"/>
            <a:ext cx="64008" cy="777240"/>
          </a:xfrm>
          <a:prstGeom prst="rect">
            <a:avLst/>
          </a:prstGeom>
          <a:solidFill>
            <a:srgbClr val="1A73E8"/>
          </a:solidFill>
          <a:ln w="12700">
            <a:solidFill>
              <a:srgbClr val="1A73E8"/>
            </a:solidFill>
            <a:prstDash val="solid"/>
          </a:ln>
        </p:spPr>
      </p:sp>
      <p:sp>
        <p:nvSpPr>
          <p:cNvPr id="9" name="Text 7"/>
          <p:cNvSpPr/>
          <p:nvPr/>
        </p:nvSpPr>
        <p:spPr>
          <a:xfrm>
            <a:off x="530352" y="941832"/>
            <a:ext cx="411480" cy="411480"/>
          </a:xfrm>
          <a:prstGeom prst="rect">
            <a:avLst/>
          </a:prstGeom>
          <a:noFill/>
          <a:ln/>
        </p:spPr>
        <p:txBody>
          <a:bodyPr wrap="square" rtlCol="0" anchor="ctr"/>
          <a:lstStyle/>
          <a:p>
            <a:pPr marL="0" indent="0" algn="ctr">
              <a:buNone/>
            </a:pPr>
            <a:r>
              <a:rPr lang="en-US" sz="1600" b="1" dirty="0">
                <a:solidFill>
                  <a:srgbClr val="1A73E8"/>
                </a:solidFill>
              </a:rPr>
              <a:t>01</a:t>
            </a:r>
            <a:endParaRPr lang="en-US" sz="1600" dirty="0"/>
          </a:p>
        </p:txBody>
      </p:sp>
      <p:sp>
        <p:nvSpPr>
          <p:cNvPr id="10" name="Text 8"/>
          <p:cNvSpPr/>
          <p:nvPr/>
        </p:nvSpPr>
        <p:spPr>
          <a:xfrm>
            <a:off x="1005840" y="960120"/>
            <a:ext cx="3291840" cy="256032"/>
          </a:xfrm>
          <a:prstGeom prst="rect">
            <a:avLst/>
          </a:prstGeom>
          <a:noFill/>
          <a:ln/>
        </p:spPr>
        <p:txBody>
          <a:bodyPr wrap="square" rtlCol="0" anchor="ctr"/>
          <a:lstStyle/>
          <a:p>
            <a:pPr marL="0" indent="0">
              <a:buNone/>
            </a:pPr>
            <a:r>
              <a:rPr lang="en-US" sz="1100" b="1" dirty="0">
                <a:solidFill>
                  <a:srgbClr val="202124"/>
                </a:solidFill>
              </a:rPr>
              <a:t>Executive Summary</a:t>
            </a:r>
            <a:endParaRPr lang="en-US" sz="1100" dirty="0"/>
          </a:p>
        </p:txBody>
      </p:sp>
      <p:sp>
        <p:nvSpPr>
          <p:cNvPr id="11" name="Text 9"/>
          <p:cNvSpPr/>
          <p:nvPr/>
        </p:nvSpPr>
        <p:spPr>
          <a:xfrm>
            <a:off x="1005840" y="1252728"/>
            <a:ext cx="3291840" cy="228600"/>
          </a:xfrm>
          <a:prstGeom prst="rect">
            <a:avLst/>
          </a:prstGeom>
          <a:noFill/>
          <a:ln/>
        </p:spPr>
        <p:txBody>
          <a:bodyPr wrap="square" rtlCol="0" anchor="ctr"/>
          <a:lstStyle/>
          <a:p>
            <a:pPr marL="0" indent="0">
              <a:buNone/>
            </a:pPr>
            <a:r>
              <a:rPr lang="en-US" sz="850" dirty="0">
                <a:solidFill>
                  <a:srgbClr val="5F6368"/>
                </a:solidFill>
              </a:rPr>
              <a:t>Project overview, dataset, tools and architecture</a:t>
            </a:r>
            <a:endParaRPr lang="en-US" sz="850" dirty="0"/>
          </a:p>
        </p:txBody>
      </p:sp>
      <p:sp>
        <p:nvSpPr>
          <p:cNvPr id="12" name="Shape 10"/>
          <p:cNvSpPr/>
          <p:nvPr/>
        </p:nvSpPr>
        <p:spPr>
          <a:xfrm>
            <a:off x="365760" y="1874520"/>
            <a:ext cx="4114800" cy="777240"/>
          </a:xfrm>
          <a:prstGeom prst="rect">
            <a:avLst/>
          </a:prstGeom>
          <a:solidFill>
            <a:srgbClr val="FFFFFF"/>
          </a:solidFill>
          <a:ln w="6350">
            <a:solidFill>
              <a:srgbClr val="DADDE1"/>
            </a:solidFill>
            <a:prstDash val="solid"/>
          </a:ln>
          <a:effectLst>
            <a:outerShdw blurRad="50800" dist="25400" dir="8100000" algn="bl" rotWithShape="0">
              <a:srgbClr val="000000">
                <a:alpha val="8000"/>
              </a:srgbClr>
            </a:outerShdw>
          </a:effectLst>
        </p:spPr>
      </p:sp>
      <p:sp>
        <p:nvSpPr>
          <p:cNvPr id="13" name="Shape 11"/>
          <p:cNvSpPr/>
          <p:nvPr/>
        </p:nvSpPr>
        <p:spPr>
          <a:xfrm>
            <a:off x="365760" y="1874520"/>
            <a:ext cx="64008" cy="777240"/>
          </a:xfrm>
          <a:prstGeom prst="rect">
            <a:avLst/>
          </a:prstGeom>
          <a:solidFill>
            <a:srgbClr val="34A853"/>
          </a:solidFill>
          <a:ln w="12700">
            <a:solidFill>
              <a:srgbClr val="34A853"/>
            </a:solidFill>
            <a:prstDash val="solid"/>
          </a:ln>
        </p:spPr>
      </p:sp>
      <p:sp>
        <p:nvSpPr>
          <p:cNvPr id="14" name="Text 12"/>
          <p:cNvSpPr/>
          <p:nvPr/>
        </p:nvSpPr>
        <p:spPr>
          <a:xfrm>
            <a:off x="530352" y="1947672"/>
            <a:ext cx="411480" cy="411480"/>
          </a:xfrm>
          <a:prstGeom prst="rect">
            <a:avLst/>
          </a:prstGeom>
          <a:noFill/>
          <a:ln/>
        </p:spPr>
        <p:txBody>
          <a:bodyPr wrap="square" rtlCol="0" anchor="ctr"/>
          <a:lstStyle/>
          <a:p>
            <a:pPr marL="0" indent="0" algn="ctr">
              <a:buNone/>
            </a:pPr>
            <a:r>
              <a:rPr lang="en-US" sz="1600" b="1" dirty="0">
                <a:solidFill>
                  <a:srgbClr val="34A853"/>
                </a:solidFill>
              </a:rPr>
              <a:t>02</a:t>
            </a:r>
            <a:endParaRPr lang="en-US" sz="1600" dirty="0"/>
          </a:p>
        </p:txBody>
      </p:sp>
      <p:sp>
        <p:nvSpPr>
          <p:cNvPr id="15" name="Text 13"/>
          <p:cNvSpPr/>
          <p:nvPr/>
        </p:nvSpPr>
        <p:spPr>
          <a:xfrm>
            <a:off x="1005840" y="1965960"/>
            <a:ext cx="3291840" cy="256032"/>
          </a:xfrm>
          <a:prstGeom prst="rect">
            <a:avLst/>
          </a:prstGeom>
          <a:noFill/>
          <a:ln/>
        </p:spPr>
        <p:txBody>
          <a:bodyPr wrap="square" rtlCol="0" anchor="ctr"/>
          <a:lstStyle/>
          <a:p>
            <a:pPr marL="0" indent="0">
              <a:buNone/>
            </a:pPr>
            <a:r>
              <a:rPr lang="en-US" sz="1100" b="1" dirty="0">
                <a:solidFill>
                  <a:srgbClr val="202124"/>
                </a:solidFill>
              </a:rPr>
              <a:t>Problem Statement</a:t>
            </a:r>
            <a:endParaRPr lang="en-US" sz="1100" dirty="0"/>
          </a:p>
        </p:txBody>
      </p:sp>
      <p:sp>
        <p:nvSpPr>
          <p:cNvPr id="16" name="Text 14"/>
          <p:cNvSpPr/>
          <p:nvPr/>
        </p:nvSpPr>
        <p:spPr>
          <a:xfrm>
            <a:off x="1005840" y="2258568"/>
            <a:ext cx="3291840" cy="228600"/>
          </a:xfrm>
          <a:prstGeom prst="rect">
            <a:avLst/>
          </a:prstGeom>
          <a:noFill/>
          <a:ln/>
        </p:spPr>
        <p:txBody>
          <a:bodyPr wrap="square" rtlCol="0" anchor="ctr"/>
          <a:lstStyle/>
          <a:p>
            <a:pPr marL="0" indent="0">
              <a:buNone/>
            </a:pPr>
            <a:r>
              <a:rPr lang="en-US" sz="850" dirty="0">
                <a:solidFill>
                  <a:srgbClr val="5F6368"/>
                </a:solidFill>
              </a:rPr>
              <a:t>Why GCP cloud costs spiral out of control</a:t>
            </a:r>
            <a:endParaRPr lang="en-US" sz="850" dirty="0"/>
          </a:p>
        </p:txBody>
      </p:sp>
      <p:sp>
        <p:nvSpPr>
          <p:cNvPr id="17" name="Shape 15"/>
          <p:cNvSpPr/>
          <p:nvPr/>
        </p:nvSpPr>
        <p:spPr>
          <a:xfrm>
            <a:off x="365760" y="2880360"/>
            <a:ext cx="4114800" cy="777240"/>
          </a:xfrm>
          <a:prstGeom prst="rect">
            <a:avLst/>
          </a:prstGeom>
          <a:solidFill>
            <a:srgbClr val="FFFFFF"/>
          </a:solidFill>
          <a:ln w="6350">
            <a:solidFill>
              <a:srgbClr val="DADDE1"/>
            </a:solidFill>
            <a:prstDash val="solid"/>
          </a:ln>
          <a:effectLst>
            <a:outerShdw blurRad="50800" dist="25400" dir="8100000" algn="bl" rotWithShape="0">
              <a:srgbClr val="000000">
                <a:alpha val="8000"/>
              </a:srgbClr>
            </a:outerShdw>
          </a:effectLst>
        </p:spPr>
      </p:sp>
      <p:sp>
        <p:nvSpPr>
          <p:cNvPr id="18" name="Shape 16"/>
          <p:cNvSpPr/>
          <p:nvPr/>
        </p:nvSpPr>
        <p:spPr>
          <a:xfrm>
            <a:off x="365760" y="2880360"/>
            <a:ext cx="64008" cy="777240"/>
          </a:xfrm>
          <a:prstGeom prst="rect">
            <a:avLst/>
          </a:prstGeom>
          <a:solidFill>
            <a:srgbClr val="FBBC04"/>
          </a:solidFill>
          <a:ln w="12700">
            <a:solidFill>
              <a:srgbClr val="FBBC04"/>
            </a:solidFill>
            <a:prstDash val="solid"/>
          </a:ln>
        </p:spPr>
      </p:sp>
      <p:sp>
        <p:nvSpPr>
          <p:cNvPr id="19" name="Text 17"/>
          <p:cNvSpPr/>
          <p:nvPr/>
        </p:nvSpPr>
        <p:spPr>
          <a:xfrm>
            <a:off x="530352" y="2953512"/>
            <a:ext cx="411480" cy="411480"/>
          </a:xfrm>
          <a:prstGeom prst="rect">
            <a:avLst/>
          </a:prstGeom>
          <a:noFill/>
          <a:ln/>
        </p:spPr>
        <p:txBody>
          <a:bodyPr wrap="square" rtlCol="0" anchor="ctr"/>
          <a:lstStyle/>
          <a:p>
            <a:pPr marL="0" indent="0" algn="ctr">
              <a:buNone/>
            </a:pPr>
            <a:r>
              <a:rPr lang="en-US" sz="1600" b="1" dirty="0">
                <a:solidFill>
                  <a:srgbClr val="FBBC04"/>
                </a:solidFill>
              </a:rPr>
              <a:t>03</a:t>
            </a:r>
            <a:endParaRPr lang="en-US" sz="1600" dirty="0"/>
          </a:p>
        </p:txBody>
      </p:sp>
      <p:sp>
        <p:nvSpPr>
          <p:cNvPr id="20" name="Text 18"/>
          <p:cNvSpPr/>
          <p:nvPr/>
        </p:nvSpPr>
        <p:spPr>
          <a:xfrm>
            <a:off x="1005840" y="2971800"/>
            <a:ext cx="3291840" cy="256032"/>
          </a:xfrm>
          <a:prstGeom prst="rect">
            <a:avLst/>
          </a:prstGeom>
          <a:noFill/>
          <a:ln/>
        </p:spPr>
        <p:txBody>
          <a:bodyPr wrap="square" rtlCol="0" anchor="ctr"/>
          <a:lstStyle/>
          <a:p>
            <a:pPr marL="0" indent="0">
              <a:buNone/>
            </a:pPr>
            <a:r>
              <a:rPr lang="en-US" sz="1100" b="1" dirty="0">
                <a:solidFill>
                  <a:srgbClr val="202124"/>
                </a:solidFill>
              </a:rPr>
              <a:t>Root Cause Analysis</a:t>
            </a:r>
            <a:endParaRPr lang="en-US" sz="1100" dirty="0"/>
          </a:p>
        </p:txBody>
      </p:sp>
      <p:sp>
        <p:nvSpPr>
          <p:cNvPr id="21" name="Text 19"/>
          <p:cNvSpPr/>
          <p:nvPr/>
        </p:nvSpPr>
        <p:spPr>
          <a:xfrm>
            <a:off x="1005840" y="3264408"/>
            <a:ext cx="3291840" cy="228600"/>
          </a:xfrm>
          <a:prstGeom prst="rect">
            <a:avLst/>
          </a:prstGeom>
          <a:noFill/>
          <a:ln/>
        </p:spPr>
        <p:txBody>
          <a:bodyPr wrap="square" rtlCol="0" anchor="ctr"/>
          <a:lstStyle/>
          <a:p>
            <a:pPr marL="0" indent="0">
              <a:buNone/>
            </a:pPr>
            <a:r>
              <a:rPr lang="en-US" sz="850" dirty="0">
                <a:solidFill>
                  <a:srgbClr val="5F6368"/>
                </a:solidFill>
              </a:rPr>
              <a:t>6 specific reasons behind cost inefficiency</a:t>
            </a:r>
            <a:endParaRPr lang="en-US" sz="850" dirty="0"/>
          </a:p>
        </p:txBody>
      </p:sp>
      <p:sp>
        <p:nvSpPr>
          <p:cNvPr id="22" name="Shape 20"/>
          <p:cNvSpPr/>
          <p:nvPr/>
        </p:nvSpPr>
        <p:spPr>
          <a:xfrm>
            <a:off x="365760" y="3886200"/>
            <a:ext cx="4114800" cy="777240"/>
          </a:xfrm>
          <a:prstGeom prst="rect">
            <a:avLst/>
          </a:prstGeom>
          <a:solidFill>
            <a:srgbClr val="FFFFFF"/>
          </a:solidFill>
          <a:ln w="6350">
            <a:solidFill>
              <a:srgbClr val="DADDE1"/>
            </a:solidFill>
            <a:prstDash val="solid"/>
          </a:ln>
          <a:effectLst>
            <a:outerShdw blurRad="50800" dist="25400" dir="8100000" algn="bl" rotWithShape="0">
              <a:srgbClr val="000000">
                <a:alpha val="8000"/>
              </a:srgbClr>
            </a:outerShdw>
          </a:effectLst>
        </p:spPr>
      </p:sp>
      <p:sp>
        <p:nvSpPr>
          <p:cNvPr id="23" name="Shape 21"/>
          <p:cNvSpPr/>
          <p:nvPr/>
        </p:nvSpPr>
        <p:spPr>
          <a:xfrm>
            <a:off x="365760" y="3886200"/>
            <a:ext cx="64008" cy="777240"/>
          </a:xfrm>
          <a:prstGeom prst="rect">
            <a:avLst/>
          </a:prstGeom>
          <a:solidFill>
            <a:srgbClr val="EA4335"/>
          </a:solidFill>
          <a:ln w="12700">
            <a:solidFill>
              <a:srgbClr val="EA4335"/>
            </a:solidFill>
            <a:prstDash val="solid"/>
          </a:ln>
        </p:spPr>
      </p:sp>
      <p:sp>
        <p:nvSpPr>
          <p:cNvPr id="24" name="Text 22"/>
          <p:cNvSpPr/>
          <p:nvPr/>
        </p:nvSpPr>
        <p:spPr>
          <a:xfrm>
            <a:off x="530352" y="3959352"/>
            <a:ext cx="411480" cy="411480"/>
          </a:xfrm>
          <a:prstGeom prst="rect">
            <a:avLst/>
          </a:prstGeom>
          <a:noFill/>
          <a:ln/>
        </p:spPr>
        <p:txBody>
          <a:bodyPr wrap="square" rtlCol="0" anchor="ctr"/>
          <a:lstStyle/>
          <a:p>
            <a:pPr marL="0" indent="0" algn="ctr">
              <a:buNone/>
            </a:pPr>
            <a:r>
              <a:rPr lang="en-US" sz="1600" b="1" dirty="0">
                <a:solidFill>
                  <a:srgbClr val="EA4335"/>
                </a:solidFill>
              </a:rPr>
              <a:t>04</a:t>
            </a:r>
            <a:endParaRPr lang="en-US" sz="1600" dirty="0"/>
          </a:p>
        </p:txBody>
      </p:sp>
      <p:sp>
        <p:nvSpPr>
          <p:cNvPr id="25" name="Text 23"/>
          <p:cNvSpPr/>
          <p:nvPr/>
        </p:nvSpPr>
        <p:spPr>
          <a:xfrm>
            <a:off x="1005840" y="3977640"/>
            <a:ext cx="3291840" cy="256032"/>
          </a:xfrm>
          <a:prstGeom prst="rect">
            <a:avLst/>
          </a:prstGeom>
          <a:noFill/>
          <a:ln/>
        </p:spPr>
        <p:txBody>
          <a:bodyPr wrap="square" rtlCol="0" anchor="ctr"/>
          <a:lstStyle/>
          <a:p>
            <a:pPr marL="0" indent="0">
              <a:buNone/>
            </a:pPr>
            <a:r>
              <a:rPr lang="en-US" sz="1100" b="1" dirty="0">
                <a:solidFill>
                  <a:srgbClr val="202124"/>
                </a:solidFill>
              </a:rPr>
              <a:t>Proposed Solutions</a:t>
            </a:r>
            <a:endParaRPr lang="en-US" sz="1100" dirty="0"/>
          </a:p>
        </p:txBody>
      </p:sp>
      <p:sp>
        <p:nvSpPr>
          <p:cNvPr id="26" name="Text 24"/>
          <p:cNvSpPr/>
          <p:nvPr/>
        </p:nvSpPr>
        <p:spPr>
          <a:xfrm>
            <a:off x="1005840" y="4270248"/>
            <a:ext cx="3291840" cy="228600"/>
          </a:xfrm>
          <a:prstGeom prst="rect">
            <a:avLst/>
          </a:prstGeom>
          <a:noFill/>
          <a:ln/>
        </p:spPr>
        <p:txBody>
          <a:bodyPr wrap="square" rtlCol="0" anchor="ctr"/>
          <a:lstStyle/>
          <a:p>
            <a:pPr marL="0" indent="0">
              <a:buNone/>
            </a:pPr>
            <a:r>
              <a:rPr lang="en-US" sz="850" dirty="0">
                <a:solidFill>
                  <a:srgbClr val="5F6368"/>
                </a:solidFill>
              </a:rPr>
              <a:t>FinOps framework and actionable recommendations</a:t>
            </a:r>
            <a:endParaRPr lang="en-US" sz="850" dirty="0"/>
          </a:p>
        </p:txBody>
      </p:sp>
      <p:sp>
        <p:nvSpPr>
          <p:cNvPr id="27" name="Shape 25"/>
          <p:cNvSpPr/>
          <p:nvPr/>
        </p:nvSpPr>
        <p:spPr>
          <a:xfrm>
            <a:off x="4846320" y="868680"/>
            <a:ext cx="4114800" cy="777240"/>
          </a:xfrm>
          <a:prstGeom prst="rect">
            <a:avLst/>
          </a:prstGeom>
          <a:solidFill>
            <a:srgbClr val="FFFFFF"/>
          </a:solidFill>
          <a:ln w="6350">
            <a:solidFill>
              <a:srgbClr val="DADDE1"/>
            </a:solidFill>
            <a:prstDash val="solid"/>
          </a:ln>
          <a:effectLst>
            <a:outerShdw blurRad="50800" dist="25400" dir="8100000" algn="bl" rotWithShape="0">
              <a:srgbClr val="000000">
                <a:alpha val="8000"/>
              </a:srgbClr>
            </a:outerShdw>
          </a:effectLst>
        </p:spPr>
      </p:sp>
      <p:sp>
        <p:nvSpPr>
          <p:cNvPr id="28" name="Shape 26"/>
          <p:cNvSpPr/>
          <p:nvPr/>
        </p:nvSpPr>
        <p:spPr>
          <a:xfrm>
            <a:off x="4846320" y="868680"/>
            <a:ext cx="64008" cy="777240"/>
          </a:xfrm>
          <a:prstGeom prst="rect">
            <a:avLst/>
          </a:prstGeom>
          <a:solidFill>
            <a:srgbClr val="4285F4"/>
          </a:solidFill>
          <a:ln w="12700">
            <a:solidFill>
              <a:srgbClr val="4285F4"/>
            </a:solidFill>
            <a:prstDash val="solid"/>
          </a:ln>
        </p:spPr>
      </p:sp>
      <p:sp>
        <p:nvSpPr>
          <p:cNvPr id="29" name="Text 27"/>
          <p:cNvSpPr/>
          <p:nvPr/>
        </p:nvSpPr>
        <p:spPr>
          <a:xfrm>
            <a:off x="5010912" y="941832"/>
            <a:ext cx="411480" cy="411480"/>
          </a:xfrm>
          <a:prstGeom prst="rect">
            <a:avLst/>
          </a:prstGeom>
          <a:noFill/>
          <a:ln/>
        </p:spPr>
        <p:txBody>
          <a:bodyPr wrap="square" rtlCol="0" anchor="ctr"/>
          <a:lstStyle/>
          <a:p>
            <a:pPr marL="0" indent="0" algn="ctr">
              <a:buNone/>
            </a:pPr>
            <a:r>
              <a:rPr lang="en-US" sz="1600" b="1" dirty="0">
                <a:solidFill>
                  <a:srgbClr val="4285F4"/>
                </a:solidFill>
              </a:rPr>
              <a:t>05</a:t>
            </a:r>
            <a:endParaRPr lang="en-US" sz="1600" dirty="0"/>
          </a:p>
        </p:txBody>
      </p:sp>
      <p:sp>
        <p:nvSpPr>
          <p:cNvPr id="30" name="Text 28"/>
          <p:cNvSpPr/>
          <p:nvPr/>
        </p:nvSpPr>
        <p:spPr>
          <a:xfrm>
            <a:off x="5486400" y="960120"/>
            <a:ext cx="3291840" cy="256032"/>
          </a:xfrm>
          <a:prstGeom prst="rect">
            <a:avLst/>
          </a:prstGeom>
          <a:noFill/>
          <a:ln/>
        </p:spPr>
        <p:txBody>
          <a:bodyPr wrap="square" rtlCol="0" anchor="ctr"/>
          <a:lstStyle/>
          <a:p>
            <a:pPr marL="0" indent="0">
              <a:buNone/>
            </a:pPr>
            <a:r>
              <a:rPr lang="en-US" sz="1100" b="1" dirty="0">
                <a:solidFill>
                  <a:srgbClr val="202124"/>
                </a:solidFill>
              </a:rPr>
              <a:t>Data Pipeline &amp; Model</a:t>
            </a:r>
            <a:endParaRPr lang="en-US" sz="1100" dirty="0"/>
          </a:p>
        </p:txBody>
      </p:sp>
      <p:sp>
        <p:nvSpPr>
          <p:cNvPr id="31" name="Text 29"/>
          <p:cNvSpPr/>
          <p:nvPr/>
        </p:nvSpPr>
        <p:spPr>
          <a:xfrm>
            <a:off x="5486400" y="1252728"/>
            <a:ext cx="3291840" cy="228600"/>
          </a:xfrm>
          <a:prstGeom prst="rect">
            <a:avLst/>
          </a:prstGeom>
          <a:noFill/>
          <a:ln/>
        </p:spPr>
        <p:txBody>
          <a:bodyPr wrap="square" rtlCol="0" anchor="ctr"/>
          <a:lstStyle/>
          <a:p>
            <a:pPr marL="0" indent="0">
              <a:buNone/>
            </a:pPr>
            <a:r>
              <a:rPr lang="en-US" sz="850" dirty="0">
                <a:solidFill>
                  <a:srgbClr val="5F6368"/>
                </a:solidFill>
              </a:rPr>
              <a:t>BigQuery views, star schema, Power Query</a:t>
            </a:r>
            <a:endParaRPr lang="en-US" sz="850" dirty="0"/>
          </a:p>
        </p:txBody>
      </p:sp>
      <p:sp>
        <p:nvSpPr>
          <p:cNvPr id="32" name="Shape 30"/>
          <p:cNvSpPr/>
          <p:nvPr/>
        </p:nvSpPr>
        <p:spPr>
          <a:xfrm>
            <a:off x="4846320" y="1874520"/>
            <a:ext cx="4114800" cy="777240"/>
          </a:xfrm>
          <a:prstGeom prst="rect">
            <a:avLst/>
          </a:prstGeom>
          <a:solidFill>
            <a:srgbClr val="FFFFFF"/>
          </a:solidFill>
          <a:ln w="6350">
            <a:solidFill>
              <a:srgbClr val="DADDE1"/>
            </a:solidFill>
            <a:prstDash val="solid"/>
          </a:ln>
          <a:effectLst>
            <a:outerShdw blurRad="50800" dist="25400" dir="8100000" algn="bl" rotWithShape="0">
              <a:srgbClr val="000000">
                <a:alpha val="8000"/>
              </a:srgbClr>
            </a:outerShdw>
          </a:effectLst>
        </p:spPr>
      </p:sp>
      <p:sp>
        <p:nvSpPr>
          <p:cNvPr id="33" name="Shape 31"/>
          <p:cNvSpPr/>
          <p:nvPr/>
        </p:nvSpPr>
        <p:spPr>
          <a:xfrm>
            <a:off x="4846320" y="1874520"/>
            <a:ext cx="64008" cy="777240"/>
          </a:xfrm>
          <a:prstGeom prst="rect">
            <a:avLst/>
          </a:prstGeom>
          <a:solidFill>
            <a:srgbClr val="1A73E8"/>
          </a:solidFill>
          <a:ln w="12700">
            <a:solidFill>
              <a:srgbClr val="1A73E8"/>
            </a:solidFill>
            <a:prstDash val="solid"/>
          </a:ln>
        </p:spPr>
      </p:sp>
      <p:sp>
        <p:nvSpPr>
          <p:cNvPr id="34" name="Text 32"/>
          <p:cNvSpPr/>
          <p:nvPr/>
        </p:nvSpPr>
        <p:spPr>
          <a:xfrm>
            <a:off x="5010912" y="1947672"/>
            <a:ext cx="411480" cy="411480"/>
          </a:xfrm>
          <a:prstGeom prst="rect">
            <a:avLst/>
          </a:prstGeom>
          <a:noFill/>
          <a:ln/>
        </p:spPr>
        <p:txBody>
          <a:bodyPr wrap="square" rtlCol="0" anchor="ctr"/>
          <a:lstStyle/>
          <a:p>
            <a:pPr marL="0" indent="0" algn="ctr">
              <a:buNone/>
            </a:pPr>
            <a:r>
              <a:rPr lang="en-US" sz="1600" b="1" dirty="0">
                <a:solidFill>
                  <a:srgbClr val="1A73E8"/>
                </a:solidFill>
              </a:rPr>
              <a:t>06</a:t>
            </a:r>
            <a:endParaRPr lang="en-US" sz="1600" dirty="0"/>
          </a:p>
        </p:txBody>
      </p:sp>
      <p:sp>
        <p:nvSpPr>
          <p:cNvPr id="35" name="Text 33"/>
          <p:cNvSpPr/>
          <p:nvPr/>
        </p:nvSpPr>
        <p:spPr>
          <a:xfrm>
            <a:off x="5486400" y="1965960"/>
            <a:ext cx="3291840" cy="256032"/>
          </a:xfrm>
          <a:prstGeom prst="rect">
            <a:avLst/>
          </a:prstGeom>
          <a:noFill/>
          <a:ln/>
        </p:spPr>
        <p:txBody>
          <a:bodyPr wrap="square" rtlCol="0" anchor="ctr"/>
          <a:lstStyle/>
          <a:p>
            <a:pPr marL="0" indent="0">
              <a:buNone/>
            </a:pPr>
            <a:r>
              <a:rPr lang="en-US" sz="1100" b="1" dirty="0">
                <a:solidFill>
                  <a:srgbClr val="202124"/>
                </a:solidFill>
              </a:rPr>
              <a:t>Dashboard Walkthrough</a:t>
            </a:r>
            <a:endParaRPr lang="en-US" sz="1100" dirty="0"/>
          </a:p>
        </p:txBody>
      </p:sp>
      <p:sp>
        <p:nvSpPr>
          <p:cNvPr id="36" name="Text 34"/>
          <p:cNvSpPr/>
          <p:nvPr/>
        </p:nvSpPr>
        <p:spPr>
          <a:xfrm>
            <a:off x="5486400" y="2258568"/>
            <a:ext cx="3291840" cy="228600"/>
          </a:xfrm>
          <a:prstGeom prst="rect">
            <a:avLst/>
          </a:prstGeom>
          <a:noFill/>
          <a:ln/>
        </p:spPr>
        <p:txBody>
          <a:bodyPr wrap="square" rtlCol="0" anchor="ctr"/>
          <a:lstStyle/>
          <a:p>
            <a:pPr marL="0" indent="0">
              <a:buNone/>
            </a:pPr>
            <a:r>
              <a:rPr lang="en-US" sz="850" dirty="0">
                <a:solidFill>
                  <a:srgbClr val="5F6368"/>
                </a:solidFill>
              </a:rPr>
              <a:t>All 6 report pages with key insights</a:t>
            </a:r>
            <a:endParaRPr lang="en-US" sz="850" dirty="0"/>
          </a:p>
        </p:txBody>
      </p:sp>
      <p:sp>
        <p:nvSpPr>
          <p:cNvPr id="37" name="Shape 35"/>
          <p:cNvSpPr/>
          <p:nvPr/>
        </p:nvSpPr>
        <p:spPr>
          <a:xfrm>
            <a:off x="4846320" y="2880360"/>
            <a:ext cx="4114800" cy="777240"/>
          </a:xfrm>
          <a:prstGeom prst="rect">
            <a:avLst/>
          </a:prstGeom>
          <a:solidFill>
            <a:srgbClr val="FFFFFF"/>
          </a:solidFill>
          <a:ln w="6350">
            <a:solidFill>
              <a:srgbClr val="DADDE1"/>
            </a:solidFill>
            <a:prstDash val="solid"/>
          </a:ln>
          <a:effectLst>
            <a:outerShdw blurRad="50800" dist="25400" dir="8100000" algn="bl" rotWithShape="0">
              <a:srgbClr val="000000">
                <a:alpha val="8000"/>
              </a:srgbClr>
            </a:outerShdw>
          </a:effectLst>
        </p:spPr>
      </p:sp>
      <p:sp>
        <p:nvSpPr>
          <p:cNvPr id="38" name="Shape 36"/>
          <p:cNvSpPr/>
          <p:nvPr/>
        </p:nvSpPr>
        <p:spPr>
          <a:xfrm>
            <a:off x="4846320" y="2880360"/>
            <a:ext cx="64008" cy="777240"/>
          </a:xfrm>
          <a:prstGeom prst="rect">
            <a:avLst/>
          </a:prstGeom>
          <a:solidFill>
            <a:srgbClr val="34A853"/>
          </a:solidFill>
          <a:ln w="12700">
            <a:solidFill>
              <a:srgbClr val="34A853"/>
            </a:solidFill>
            <a:prstDash val="solid"/>
          </a:ln>
        </p:spPr>
      </p:sp>
      <p:sp>
        <p:nvSpPr>
          <p:cNvPr id="39" name="Text 37"/>
          <p:cNvSpPr/>
          <p:nvPr/>
        </p:nvSpPr>
        <p:spPr>
          <a:xfrm>
            <a:off x="5010912" y="2953512"/>
            <a:ext cx="411480" cy="411480"/>
          </a:xfrm>
          <a:prstGeom prst="rect">
            <a:avLst/>
          </a:prstGeom>
          <a:noFill/>
          <a:ln/>
        </p:spPr>
        <p:txBody>
          <a:bodyPr wrap="square" rtlCol="0" anchor="ctr"/>
          <a:lstStyle/>
          <a:p>
            <a:pPr marL="0" indent="0" algn="ctr">
              <a:buNone/>
            </a:pPr>
            <a:r>
              <a:rPr lang="en-US" sz="1600" b="1" dirty="0">
                <a:solidFill>
                  <a:srgbClr val="34A853"/>
                </a:solidFill>
              </a:rPr>
              <a:t>07</a:t>
            </a:r>
            <a:endParaRPr lang="en-US" sz="1600" dirty="0"/>
          </a:p>
        </p:txBody>
      </p:sp>
      <p:sp>
        <p:nvSpPr>
          <p:cNvPr id="40" name="Text 38"/>
          <p:cNvSpPr/>
          <p:nvPr/>
        </p:nvSpPr>
        <p:spPr>
          <a:xfrm>
            <a:off x="5486400" y="2971800"/>
            <a:ext cx="3291840" cy="256032"/>
          </a:xfrm>
          <a:prstGeom prst="rect">
            <a:avLst/>
          </a:prstGeom>
          <a:noFill/>
          <a:ln/>
        </p:spPr>
        <p:txBody>
          <a:bodyPr wrap="square" rtlCol="0" anchor="ctr"/>
          <a:lstStyle/>
          <a:p>
            <a:pPr marL="0" indent="0">
              <a:buNone/>
            </a:pPr>
            <a:r>
              <a:rPr lang="en-US" sz="1100" b="1" dirty="0">
                <a:solidFill>
                  <a:srgbClr val="202124"/>
                </a:solidFill>
              </a:rPr>
              <a:t>Key Findings</a:t>
            </a:r>
            <a:endParaRPr lang="en-US" sz="1100" dirty="0"/>
          </a:p>
        </p:txBody>
      </p:sp>
      <p:sp>
        <p:nvSpPr>
          <p:cNvPr id="41" name="Text 39"/>
          <p:cNvSpPr/>
          <p:nvPr/>
        </p:nvSpPr>
        <p:spPr>
          <a:xfrm>
            <a:off x="5486400" y="3264408"/>
            <a:ext cx="3291840" cy="228600"/>
          </a:xfrm>
          <a:prstGeom prst="rect">
            <a:avLst/>
          </a:prstGeom>
          <a:noFill/>
          <a:ln/>
        </p:spPr>
        <p:txBody>
          <a:bodyPr wrap="square" rtlCol="0" anchor="ctr"/>
          <a:lstStyle/>
          <a:p>
            <a:pPr marL="0" indent="0">
              <a:buNone/>
            </a:pPr>
            <a:r>
              <a:rPr lang="en-US" sz="850" dirty="0">
                <a:solidFill>
                  <a:srgbClr val="5F6368"/>
                </a:solidFill>
              </a:rPr>
              <a:t>Real numbers from the 103K-row dataset</a:t>
            </a:r>
            <a:endParaRPr lang="en-US" sz="850" dirty="0"/>
          </a:p>
        </p:txBody>
      </p:sp>
      <p:sp>
        <p:nvSpPr>
          <p:cNvPr id="42" name="Shape 40"/>
          <p:cNvSpPr/>
          <p:nvPr/>
        </p:nvSpPr>
        <p:spPr>
          <a:xfrm>
            <a:off x="4846320" y="3886200"/>
            <a:ext cx="4114800" cy="777240"/>
          </a:xfrm>
          <a:prstGeom prst="rect">
            <a:avLst/>
          </a:prstGeom>
          <a:solidFill>
            <a:srgbClr val="FFFFFF"/>
          </a:solidFill>
          <a:ln w="6350">
            <a:solidFill>
              <a:srgbClr val="DADDE1"/>
            </a:solidFill>
            <a:prstDash val="solid"/>
          </a:ln>
          <a:effectLst>
            <a:outerShdw blurRad="50800" dist="25400" dir="8100000" algn="bl" rotWithShape="0">
              <a:srgbClr val="000000">
                <a:alpha val="8000"/>
              </a:srgbClr>
            </a:outerShdw>
          </a:effectLst>
        </p:spPr>
      </p:sp>
      <p:sp>
        <p:nvSpPr>
          <p:cNvPr id="43" name="Shape 41"/>
          <p:cNvSpPr/>
          <p:nvPr/>
        </p:nvSpPr>
        <p:spPr>
          <a:xfrm>
            <a:off x="4846320" y="3886200"/>
            <a:ext cx="64008" cy="777240"/>
          </a:xfrm>
          <a:prstGeom prst="rect">
            <a:avLst/>
          </a:prstGeom>
          <a:solidFill>
            <a:srgbClr val="EA4335"/>
          </a:solidFill>
          <a:ln w="12700">
            <a:solidFill>
              <a:srgbClr val="EA4335"/>
            </a:solidFill>
            <a:prstDash val="solid"/>
          </a:ln>
        </p:spPr>
      </p:sp>
      <p:sp>
        <p:nvSpPr>
          <p:cNvPr id="44" name="Text 42"/>
          <p:cNvSpPr/>
          <p:nvPr/>
        </p:nvSpPr>
        <p:spPr>
          <a:xfrm>
            <a:off x="5010912" y="3959352"/>
            <a:ext cx="411480" cy="411480"/>
          </a:xfrm>
          <a:prstGeom prst="rect">
            <a:avLst/>
          </a:prstGeom>
          <a:noFill/>
          <a:ln/>
        </p:spPr>
        <p:txBody>
          <a:bodyPr wrap="square" rtlCol="0" anchor="ctr"/>
          <a:lstStyle/>
          <a:p>
            <a:pPr marL="0" indent="0" algn="ctr">
              <a:buNone/>
            </a:pPr>
            <a:r>
              <a:rPr lang="en-US" sz="1600" b="1" dirty="0">
                <a:solidFill>
                  <a:srgbClr val="EA4335"/>
                </a:solidFill>
              </a:rPr>
              <a:t>08</a:t>
            </a:r>
            <a:endParaRPr lang="en-US" sz="1600" dirty="0"/>
          </a:p>
        </p:txBody>
      </p:sp>
      <p:sp>
        <p:nvSpPr>
          <p:cNvPr id="45" name="Text 43"/>
          <p:cNvSpPr/>
          <p:nvPr/>
        </p:nvSpPr>
        <p:spPr>
          <a:xfrm>
            <a:off x="5486400" y="3977640"/>
            <a:ext cx="3291840" cy="256032"/>
          </a:xfrm>
          <a:prstGeom prst="rect">
            <a:avLst/>
          </a:prstGeom>
          <a:noFill/>
          <a:ln/>
        </p:spPr>
        <p:txBody>
          <a:bodyPr wrap="square" rtlCol="0" anchor="ctr"/>
          <a:lstStyle/>
          <a:p>
            <a:pPr marL="0" indent="0">
              <a:buNone/>
            </a:pPr>
            <a:r>
              <a:rPr lang="en-US" sz="1100" b="1" dirty="0">
                <a:solidFill>
                  <a:srgbClr val="202124"/>
                </a:solidFill>
              </a:rPr>
              <a:t>Business Impact</a:t>
            </a:r>
            <a:endParaRPr lang="en-US" sz="1100" dirty="0"/>
          </a:p>
        </p:txBody>
      </p:sp>
      <p:sp>
        <p:nvSpPr>
          <p:cNvPr id="46" name="Text 44"/>
          <p:cNvSpPr/>
          <p:nvPr/>
        </p:nvSpPr>
        <p:spPr>
          <a:xfrm>
            <a:off x="5486400" y="4270248"/>
            <a:ext cx="3291840" cy="228600"/>
          </a:xfrm>
          <a:prstGeom prst="rect">
            <a:avLst/>
          </a:prstGeom>
          <a:noFill/>
          <a:ln/>
        </p:spPr>
        <p:txBody>
          <a:bodyPr wrap="square" rtlCol="0" anchor="ctr"/>
          <a:lstStyle/>
          <a:p>
            <a:pPr marL="0" indent="0">
              <a:buNone/>
            </a:pPr>
            <a:r>
              <a:rPr lang="en-US" sz="850" dirty="0">
                <a:solidFill>
                  <a:srgbClr val="5F6368"/>
                </a:solidFill>
              </a:rPr>
              <a:t>Cost savings, ROI, and next steps</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8FBFF"/>
        </a:solidFill>
        <a:effectLst/>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1A73E8"/>
          </a:solidFill>
          <a:ln w="12700">
            <a:solidFill>
              <a:srgbClr val="1A73E8"/>
            </a:solidFill>
            <a:prstDash val="solid"/>
          </a:ln>
        </p:spPr>
      </p:sp>
      <p:sp>
        <p:nvSpPr>
          <p:cNvPr id="3" name="Shape 1"/>
          <p:cNvSpPr/>
          <p:nvPr/>
        </p:nvSpPr>
        <p:spPr>
          <a:xfrm>
            <a:off x="0" y="0"/>
            <a:ext cx="685800" cy="685800"/>
          </a:xfrm>
          <a:prstGeom prst="rect">
            <a:avLst/>
          </a:prstGeom>
          <a:solidFill>
            <a:srgbClr val="0D47A1"/>
          </a:solidFill>
          <a:ln w="12700">
            <a:solidFill>
              <a:srgbClr val="0D47A1"/>
            </a:solidFill>
            <a:prstDash val="solid"/>
          </a:ln>
        </p:spPr>
      </p:sp>
      <p:sp>
        <p:nvSpPr>
          <p:cNvPr id="4" name="Text 2"/>
          <p:cNvSpPr/>
          <p:nvPr/>
        </p:nvSpPr>
        <p:spPr>
          <a:xfrm>
            <a:off x="0" y="0"/>
            <a:ext cx="685800" cy="685800"/>
          </a:xfrm>
          <a:prstGeom prst="rect">
            <a:avLst/>
          </a:prstGeom>
          <a:noFill/>
          <a:ln/>
        </p:spPr>
        <p:txBody>
          <a:bodyPr wrap="square" rtlCol="0" anchor="ctr"/>
          <a:lstStyle/>
          <a:p>
            <a:pPr marL="0" indent="0" algn="ctr">
              <a:buNone/>
            </a:pPr>
            <a:r>
              <a:rPr lang="en-US" sz="2000" b="1" dirty="0">
                <a:solidFill>
                  <a:srgbClr val="FFFFFF"/>
                </a:solidFill>
              </a:rPr>
              <a:t>G</a:t>
            </a:r>
            <a:endParaRPr lang="en-US" sz="2000" dirty="0"/>
          </a:p>
        </p:txBody>
      </p:sp>
      <p:sp>
        <p:nvSpPr>
          <p:cNvPr id="5" name="Text 3"/>
          <p:cNvSpPr/>
          <p:nvPr/>
        </p:nvSpPr>
        <p:spPr>
          <a:xfrm>
            <a:off x="777240" y="73152"/>
            <a:ext cx="6858000" cy="320040"/>
          </a:xfrm>
          <a:prstGeom prst="rect">
            <a:avLst/>
          </a:prstGeom>
          <a:noFill/>
          <a:ln/>
        </p:spPr>
        <p:txBody>
          <a:bodyPr wrap="square" rtlCol="0" anchor="ctr"/>
          <a:lstStyle/>
          <a:p>
            <a:pPr marL="0" indent="0">
              <a:buNone/>
            </a:pPr>
            <a:r>
              <a:rPr lang="en-US" sz="1400" b="1" dirty="0">
                <a:solidFill>
                  <a:srgbClr val="FFFFFF"/>
                </a:solidFill>
              </a:rPr>
              <a:t>Executive Summary</a:t>
            </a:r>
            <a:endParaRPr lang="en-US" sz="1400" dirty="0"/>
          </a:p>
        </p:txBody>
      </p:sp>
      <p:sp>
        <p:nvSpPr>
          <p:cNvPr id="6" name="Text 4"/>
          <p:cNvSpPr/>
          <p:nvPr/>
        </p:nvSpPr>
        <p:spPr>
          <a:xfrm>
            <a:off x="777240" y="384048"/>
            <a:ext cx="6858000" cy="228600"/>
          </a:xfrm>
          <a:prstGeom prst="rect">
            <a:avLst/>
          </a:prstGeom>
          <a:noFill/>
          <a:ln/>
        </p:spPr>
        <p:txBody>
          <a:bodyPr wrap="square" rtlCol="0" anchor="ctr"/>
          <a:lstStyle/>
          <a:p>
            <a:pPr marL="0" indent="0">
              <a:buNone/>
            </a:pPr>
            <a:r>
              <a:rPr lang="en-US" sz="900" dirty="0">
                <a:solidFill>
                  <a:srgbClr val="FFFFFF"/>
                </a:solidFill>
              </a:rPr>
              <a:t>Project overview at a glance</a:t>
            </a:r>
            <a:endParaRPr lang="en-US" sz="900" dirty="0"/>
          </a:p>
        </p:txBody>
      </p:sp>
      <p:sp>
        <p:nvSpPr>
          <p:cNvPr id="7" name="Shape 5"/>
          <p:cNvSpPr/>
          <p:nvPr/>
        </p:nvSpPr>
        <p:spPr>
          <a:xfrm>
            <a:off x="274320" y="822960"/>
            <a:ext cx="5120640" cy="1554480"/>
          </a:xfrm>
          <a:prstGeom prst="rect">
            <a:avLst/>
          </a:prstGeom>
          <a:solidFill>
            <a:srgbClr val="FFFFFF"/>
          </a:solidFill>
          <a:ln w="6350">
            <a:solidFill>
              <a:srgbClr val="DADDE1"/>
            </a:solidFill>
            <a:prstDash val="solid"/>
          </a:ln>
          <a:effectLst>
            <a:outerShdw blurRad="50800" dist="25400" dir="8100000" algn="bl" rotWithShape="0">
              <a:srgbClr val="000000">
                <a:alpha val="8000"/>
              </a:srgbClr>
            </a:outerShdw>
          </a:effectLst>
        </p:spPr>
      </p:sp>
      <p:sp>
        <p:nvSpPr>
          <p:cNvPr id="8" name="Shape 6"/>
          <p:cNvSpPr/>
          <p:nvPr/>
        </p:nvSpPr>
        <p:spPr>
          <a:xfrm>
            <a:off x="411480" y="868680"/>
            <a:ext cx="45720" cy="201168"/>
          </a:xfrm>
          <a:prstGeom prst="rect">
            <a:avLst/>
          </a:prstGeom>
          <a:solidFill>
            <a:srgbClr val="1A73E8"/>
          </a:solidFill>
          <a:ln w="12700">
            <a:solidFill>
              <a:srgbClr val="1A73E8"/>
            </a:solidFill>
            <a:prstDash val="solid"/>
          </a:ln>
        </p:spPr>
      </p:sp>
      <p:sp>
        <p:nvSpPr>
          <p:cNvPr id="9" name="Text 7"/>
          <p:cNvSpPr/>
          <p:nvPr/>
        </p:nvSpPr>
        <p:spPr>
          <a:xfrm>
            <a:off x="502920" y="868680"/>
            <a:ext cx="3657600" cy="201168"/>
          </a:xfrm>
          <a:prstGeom prst="rect">
            <a:avLst/>
          </a:prstGeom>
          <a:noFill/>
          <a:ln/>
        </p:spPr>
        <p:txBody>
          <a:bodyPr wrap="square" rtlCol="0" anchor="ctr"/>
          <a:lstStyle/>
          <a:p>
            <a:pPr marL="0" indent="0">
              <a:buNone/>
            </a:pPr>
            <a:r>
              <a:rPr lang="en-US" sz="1000" b="1" dirty="0">
                <a:solidFill>
                  <a:srgbClr val="202124"/>
                </a:solidFill>
              </a:rPr>
              <a:t>About this project</a:t>
            </a:r>
            <a:endParaRPr lang="en-US" sz="1000" dirty="0"/>
          </a:p>
        </p:txBody>
      </p:sp>
      <p:sp>
        <p:nvSpPr>
          <p:cNvPr id="10" name="Text 8"/>
          <p:cNvSpPr/>
          <p:nvPr/>
        </p:nvSpPr>
        <p:spPr>
          <a:xfrm>
            <a:off x="457200" y="1115568"/>
            <a:ext cx="4846320" cy="1097280"/>
          </a:xfrm>
          <a:prstGeom prst="rect">
            <a:avLst/>
          </a:prstGeom>
          <a:noFill/>
          <a:ln/>
        </p:spPr>
        <p:txBody>
          <a:bodyPr wrap="square" rtlCol="0" anchor="ctr"/>
          <a:lstStyle/>
          <a:p>
            <a:pPr marL="0" indent="0">
              <a:lnSpc>
                <a:spcPct val="140000"/>
              </a:lnSpc>
              <a:buNone/>
            </a:pPr>
            <a:r>
              <a:rPr lang="en-US" sz="950" dirty="0">
                <a:solidFill>
                  <a:srgbClr val="202124"/>
                </a:solidFill>
              </a:rPr>
              <a:t>This end-to-end Business Intelligence project analyzes and optimizes cloud infrastructure spending on Google Cloud Platform. The dashboard connects live to Google BigQuery via Power BI Desktop's native connector and delivers six interactive report pages covering cost visibility, team chargeback, idle resource detection, budget tracking, and anomaly detection.</a:t>
            </a:r>
            <a:endParaRPr lang="en-US" sz="950" dirty="0"/>
          </a:p>
        </p:txBody>
      </p:sp>
      <p:sp>
        <p:nvSpPr>
          <p:cNvPr id="11" name="Shape 9"/>
          <p:cNvSpPr/>
          <p:nvPr/>
        </p:nvSpPr>
        <p:spPr>
          <a:xfrm>
            <a:off x="5623560" y="822960"/>
            <a:ext cx="1463040" cy="868680"/>
          </a:xfrm>
          <a:prstGeom prst="rect">
            <a:avLst/>
          </a:prstGeom>
          <a:solidFill>
            <a:srgbClr val="FFFFFF"/>
          </a:solidFill>
          <a:ln w="6350">
            <a:solidFill>
              <a:srgbClr val="DADDE1"/>
            </a:solidFill>
            <a:prstDash val="solid"/>
          </a:ln>
          <a:effectLst>
            <a:outerShdw blurRad="50800" dist="25400" dir="8100000" algn="bl" rotWithShape="0">
              <a:srgbClr val="000000">
                <a:alpha val="8000"/>
              </a:srgbClr>
            </a:outerShdw>
          </a:effectLst>
        </p:spPr>
      </p:sp>
      <p:sp>
        <p:nvSpPr>
          <p:cNvPr id="12" name="Shape 10"/>
          <p:cNvSpPr/>
          <p:nvPr/>
        </p:nvSpPr>
        <p:spPr>
          <a:xfrm>
            <a:off x="5623560" y="822960"/>
            <a:ext cx="1463040" cy="45720"/>
          </a:xfrm>
          <a:prstGeom prst="rect">
            <a:avLst/>
          </a:prstGeom>
          <a:solidFill>
            <a:srgbClr val="1A73E8"/>
          </a:solidFill>
          <a:ln w="12700">
            <a:solidFill>
              <a:srgbClr val="1A73E8"/>
            </a:solidFill>
            <a:prstDash val="solid"/>
          </a:ln>
        </p:spPr>
      </p:sp>
      <p:sp>
        <p:nvSpPr>
          <p:cNvPr id="13" name="Text 11"/>
          <p:cNvSpPr/>
          <p:nvPr/>
        </p:nvSpPr>
        <p:spPr>
          <a:xfrm>
            <a:off x="5669280" y="914400"/>
            <a:ext cx="1371600" cy="384048"/>
          </a:xfrm>
          <a:prstGeom prst="rect">
            <a:avLst/>
          </a:prstGeom>
          <a:noFill/>
          <a:ln/>
        </p:spPr>
        <p:txBody>
          <a:bodyPr wrap="square" rtlCol="0" anchor="ctr"/>
          <a:lstStyle/>
          <a:p>
            <a:pPr marL="0" indent="0" algn="ctr">
              <a:buNone/>
            </a:pPr>
            <a:r>
              <a:rPr lang="en-US" sz="2000" b="1" dirty="0">
                <a:solidFill>
                  <a:srgbClr val="1A73E8"/>
                </a:solidFill>
              </a:rPr>
              <a:t>103K+</a:t>
            </a:r>
            <a:endParaRPr lang="en-US" sz="2000" dirty="0"/>
          </a:p>
        </p:txBody>
      </p:sp>
      <p:sp>
        <p:nvSpPr>
          <p:cNvPr id="14" name="Text 12"/>
          <p:cNvSpPr/>
          <p:nvPr/>
        </p:nvSpPr>
        <p:spPr>
          <a:xfrm>
            <a:off x="5669280" y="1325880"/>
            <a:ext cx="1371600" cy="256032"/>
          </a:xfrm>
          <a:prstGeom prst="rect">
            <a:avLst/>
          </a:prstGeom>
          <a:noFill/>
          <a:ln/>
        </p:spPr>
        <p:txBody>
          <a:bodyPr wrap="square" rtlCol="0" anchor="ctr"/>
          <a:lstStyle/>
          <a:p>
            <a:pPr marL="0" indent="0" algn="ctr">
              <a:buNone/>
            </a:pPr>
            <a:r>
              <a:rPr lang="en-US" sz="800" dirty="0">
                <a:solidFill>
                  <a:srgbClr val="5F6368"/>
                </a:solidFill>
              </a:rPr>
              <a:t>Dataset rows</a:t>
            </a:r>
            <a:endParaRPr lang="en-US" sz="800" dirty="0"/>
          </a:p>
        </p:txBody>
      </p:sp>
      <p:sp>
        <p:nvSpPr>
          <p:cNvPr id="15" name="Shape 13"/>
          <p:cNvSpPr/>
          <p:nvPr/>
        </p:nvSpPr>
        <p:spPr>
          <a:xfrm>
            <a:off x="7269480" y="822960"/>
            <a:ext cx="1463040" cy="868680"/>
          </a:xfrm>
          <a:prstGeom prst="rect">
            <a:avLst/>
          </a:prstGeom>
          <a:solidFill>
            <a:srgbClr val="FFFFFF"/>
          </a:solidFill>
          <a:ln w="6350">
            <a:solidFill>
              <a:srgbClr val="DADDE1"/>
            </a:solidFill>
            <a:prstDash val="solid"/>
          </a:ln>
          <a:effectLst>
            <a:outerShdw blurRad="50800" dist="25400" dir="8100000" algn="bl" rotWithShape="0">
              <a:srgbClr val="000000">
                <a:alpha val="8000"/>
              </a:srgbClr>
            </a:outerShdw>
          </a:effectLst>
        </p:spPr>
      </p:sp>
      <p:sp>
        <p:nvSpPr>
          <p:cNvPr id="16" name="Shape 14"/>
          <p:cNvSpPr/>
          <p:nvPr/>
        </p:nvSpPr>
        <p:spPr>
          <a:xfrm>
            <a:off x="7269480" y="822960"/>
            <a:ext cx="1463040" cy="45720"/>
          </a:xfrm>
          <a:prstGeom prst="rect">
            <a:avLst/>
          </a:prstGeom>
          <a:solidFill>
            <a:srgbClr val="34A853"/>
          </a:solidFill>
          <a:ln w="12700">
            <a:solidFill>
              <a:srgbClr val="34A853"/>
            </a:solidFill>
            <a:prstDash val="solid"/>
          </a:ln>
        </p:spPr>
      </p:sp>
      <p:sp>
        <p:nvSpPr>
          <p:cNvPr id="17" name="Text 15"/>
          <p:cNvSpPr/>
          <p:nvPr/>
        </p:nvSpPr>
        <p:spPr>
          <a:xfrm>
            <a:off x="7315200" y="914400"/>
            <a:ext cx="1371600" cy="384048"/>
          </a:xfrm>
          <a:prstGeom prst="rect">
            <a:avLst/>
          </a:prstGeom>
          <a:noFill/>
          <a:ln/>
        </p:spPr>
        <p:txBody>
          <a:bodyPr wrap="square" rtlCol="0" anchor="ctr"/>
          <a:lstStyle/>
          <a:p>
            <a:pPr marL="0" indent="0" algn="ctr">
              <a:buNone/>
            </a:pPr>
            <a:r>
              <a:rPr lang="en-US" sz="2000" b="1" dirty="0">
                <a:solidFill>
                  <a:srgbClr val="34A853"/>
                </a:solidFill>
              </a:rPr>
              <a:t>17</a:t>
            </a:r>
            <a:endParaRPr lang="en-US" sz="2000" dirty="0"/>
          </a:p>
        </p:txBody>
      </p:sp>
      <p:sp>
        <p:nvSpPr>
          <p:cNvPr id="18" name="Text 16"/>
          <p:cNvSpPr/>
          <p:nvPr/>
        </p:nvSpPr>
        <p:spPr>
          <a:xfrm>
            <a:off x="7315200" y="1325880"/>
            <a:ext cx="1371600" cy="256032"/>
          </a:xfrm>
          <a:prstGeom prst="rect">
            <a:avLst/>
          </a:prstGeom>
          <a:noFill/>
          <a:ln/>
        </p:spPr>
        <p:txBody>
          <a:bodyPr wrap="square" rtlCol="0" anchor="ctr"/>
          <a:lstStyle/>
          <a:p>
            <a:pPr marL="0" indent="0" algn="ctr">
              <a:buNone/>
            </a:pPr>
            <a:r>
              <a:rPr lang="en-US" sz="800" dirty="0">
                <a:solidFill>
                  <a:srgbClr val="5F6368"/>
                </a:solidFill>
              </a:rPr>
              <a:t>Months of data</a:t>
            </a:r>
            <a:endParaRPr lang="en-US" sz="800" dirty="0"/>
          </a:p>
        </p:txBody>
      </p:sp>
      <p:sp>
        <p:nvSpPr>
          <p:cNvPr id="19" name="Shape 17"/>
          <p:cNvSpPr/>
          <p:nvPr/>
        </p:nvSpPr>
        <p:spPr>
          <a:xfrm>
            <a:off x="5623560" y="1920240"/>
            <a:ext cx="1463040" cy="868680"/>
          </a:xfrm>
          <a:prstGeom prst="rect">
            <a:avLst/>
          </a:prstGeom>
          <a:solidFill>
            <a:srgbClr val="FFFFFF"/>
          </a:solidFill>
          <a:ln w="6350">
            <a:solidFill>
              <a:srgbClr val="DADDE1"/>
            </a:solidFill>
            <a:prstDash val="solid"/>
          </a:ln>
          <a:effectLst>
            <a:outerShdw blurRad="50800" dist="25400" dir="8100000" algn="bl" rotWithShape="0">
              <a:srgbClr val="000000">
                <a:alpha val="8000"/>
              </a:srgbClr>
            </a:outerShdw>
          </a:effectLst>
        </p:spPr>
      </p:sp>
      <p:sp>
        <p:nvSpPr>
          <p:cNvPr id="20" name="Shape 18"/>
          <p:cNvSpPr/>
          <p:nvPr/>
        </p:nvSpPr>
        <p:spPr>
          <a:xfrm>
            <a:off x="5623560" y="1920240"/>
            <a:ext cx="1463040" cy="45720"/>
          </a:xfrm>
          <a:prstGeom prst="rect">
            <a:avLst/>
          </a:prstGeom>
          <a:solidFill>
            <a:srgbClr val="EA4335"/>
          </a:solidFill>
          <a:ln w="12700">
            <a:solidFill>
              <a:srgbClr val="EA4335"/>
            </a:solidFill>
            <a:prstDash val="solid"/>
          </a:ln>
        </p:spPr>
      </p:sp>
      <p:sp>
        <p:nvSpPr>
          <p:cNvPr id="21" name="Text 19"/>
          <p:cNvSpPr/>
          <p:nvPr/>
        </p:nvSpPr>
        <p:spPr>
          <a:xfrm>
            <a:off x="5669280" y="2011680"/>
            <a:ext cx="1371600" cy="384048"/>
          </a:xfrm>
          <a:prstGeom prst="rect">
            <a:avLst/>
          </a:prstGeom>
          <a:noFill/>
          <a:ln/>
        </p:spPr>
        <p:txBody>
          <a:bodyPr wrap="square" rtlCol="0" anchor="ctr"/>
          <a:lstStyle/>
          <a:p>
            <a:pPr marL="0" indent="0" algn="ctr">
              <a:buNone/>
            </a:pPr>
            <a:r>
              <a:rPr lang="en-US" sz="2000" b="1" dirty="0">
                <a:solidFill>
                  <a:srgbClr val="EA4335"/>
                </a:solidFill>
              </a:rPr>
              <a:t>$74.3M</a:t>
            </a:r>
            <a:endParaRPr lang="en-US" sz="2000" dirty="0"/>
          </a:p>
        </p:txBody>
      </p:sp>
      <p:sp>
        <p:nvSpPr>
          <p:cNvPr id="22" name="Text 20"/>
          <p:cNvSpPr/>
          <p:nvPr/>
        </p:nvSpPr>
        <p:spPr>
          <a:xfrm>
            <a:off x="5669280" y="2423160"/>
            <a:ext cx="1371600" cy="256032"/>
          </a:xfrm>
          <a:prstGeom prst="rect">
            <a:avLst/>
          </a:prstGeom>
          <a:noFill/>
          <a:ln/>
        </p:spPr>
        <p:txBody>
          <a:bodyPr wrap="square" rtlCol="0" anchor="ctr"/>
          <a:lstStyle/>
          <a:p>
            <a:pPr marL="0" indent="0" algn="ctr">
              <a:buNone/>
            </a:pPr>
            <a:r>
              <a:rPr lang="en-US" sz="800" dirty="0">
                <a:solidFill>
                  <a:srgbClr val="5F6368"/>
                </a:solidFill>
              </a:rPr>
              <a:t>Total net cost analyzed</a:t>
            </a:r>
            <a:endParaRPr lang="en-US" sz="800" dirty="0"/>
          </a:p>
        </p:txBody>
      </p:sp>
      <p:sp>
        <p:nvSpPr>
          <p:cNvPr id="23" name="Shape 21"/>
          <p:cNvSpPr/>
          <p:nvPr/>
        </p:nvSpPr>
        <p:spPr>
          <a:xfrm>
            <a:off x="7269480" y="1920240"/>
            <a:ext cx="1463040" cy="868680"/>
          </a:xfrm>
          <a:prstGeom prst="rect">
            <a:avLst/>
          </a:prstGeom>
          <a:solidFill>
            <a:srgbClr val="FFFFFF"/>
          </a:solidFill>
          <a:ln w="6350">
            <a:solidFill>
              <a:srgbClr val="DADDE1"/>
            </a:solidFill>
            <a:prstDash val="solid"/>
          </a:ln>
          <a:effectLst>
            <a:outerShdw blurRad="50800" dist="25400" dir="8100000" algn="bl" rotWithShape="0">
              <a:srgbClr val="000000">
                <a:alpha val="8000"/>
              </a:srgbClr>
            </a:outerShdw>
          </a:effectLst>
        </p:spPr>
      </p:sp>
      <p:sp>
        <p:nvSpPr>
          <p:cNvPr id="24" name="Shape 22"/>
          <p:cNvSpPr/>
          <p:nvPr/>
        </p:nvSpPr>
        <p:spPr>
          <a:xfrm>
            <a:off x="7269480" y="1920240"/>
            <a:ext cx="1463040" cy="45720"/>
          </a:xfrm>
          <a:prstGeom prst="rect">
            <a:avLst/>
          </a:prstGeom>
          <a:solidFill>
            <a:srgbClr val="FBBC04"/>
          </a:solidFill>
          <a:ln w="12700">
            <a:solidFill>
              <a:srgbClr val="FBBC04"/>
            </a:solidFill>
            <a:prstDash val="solid"/>
          </a:ln>
        </p:spPr>
      </p:sp>
      <p:sp>
        <p:nvSpPr>
          <p:cNvPr id="25" name="Text 23"/>
          <p:cNvSpPr/>
          <p:nvPr/>
        </p:nvSpPr>
        <p:spPr>
          <a:xfrm>
            <a:off x="7315200" y="2011680"/>
            <a:ext cx="1371600" cy="384048"/>
          </a:xfrm>
          <a:prstGeom prst="rect">
            <a:avLst/>
          </a:prstGeom>
          <a:noFill/>
          <a:ln/>
        </p:spPr>
        <p:txBody>
          <a:bodyPr wrap="square" rtlCol="0" anchor="ctr"/>
          <a:lstStyle/>
          <a:p>
            <a:pPr marL="0" indent="0" algn="ctr">
              <a:buNone/>
            </a:pPr>
            <a:r>
              <a:rPr lang="en-US" sz="2000" b="1" dirty="0">
                <a:solidFill>
                  <a:srgbClr val="FBBC04"/>
                </a:solidFill>
              </a:rPr>
              <a:t>6</a:t>
            </a:r>
            <a:endParaRPr lang="en-US" sz="2000" dirty="0"/>
          </a:p>
        </p:txBody>
      </p:sp>
      <p:sp>
        <p:nvSpPr>
          <p:cNvPr id="26" name="Text 24"/>
          <p:cNvSpPr/>
          <p:nvPr/>
        </p:nvSpPr>
        <p:spPr>
          <a:xfrm>
            <a:off x="7315200" y="2423160"/>
            <a:ext cx="1371600" cy="256032"/>
          </a:xfrm>
          <a:prstGeom prst="rect">
            <a:avLst/>
          </a:prstGeom>
          <a:noFill/>
          <a:ln/>
        </p:spPr>
        <p:txBody>
          <a:bodyPr wrap="square" rtlCol="0" anchor="ctr"/>
          <a:lstStyle/>
          <a:p>
            <a:pPr marL="0" indent="0" algn="ctr">
              <a:buNone/>
            </a:pPr>
            <a:r>
              <a:rPr lang="en-US" sz="800" dirty="0">
                <a:solidFill>
                  <a:srgbClr val="5F6368"/>
                </a:solidFill>
              </a:rPr>
              <a:t>Dashboard pages</a:t>
            </a:r>
            <a:endParaRPr lang="en-US" sz="800" dirty="0"/>
          </a:p>
        </p:txBody>
      </p:sp>
      <p:sp>
        <p:nvSpPr>
          <p:cNvPr id="27" name="Shape 25"/>
          <p:cNvSpPr/>
          <p:nvPr/>
        </p:nvSpPr>
        <p:spPr>
          <a:xfrm>
            <a:off x="274320" y="2487168"/>
            <a:ext cx="8595360" cy="1115568"/>
          </a:xfrm>
          <a:prstGeom prst="rect">
            <a:avLst/>
          </a:prstGeom>
          <a:solidFill>
            <a:srgbClr val="FFFFFF"/>
          </a:solidFill>
          <a:ln w="6350">
            <a:solidFill>
              <a:srgbClr val="DADDE1"/>
            </a:solidFill>
            <a:prstDash val="solid"/>
          </a:ln>
          <a:effectLst>
            <a:outerShdw blurRad="50800" dist="25400" dir="8100000" algn="bl" rotWithShape="0">
              <a:srgbClr val="000000">
                <a:alpha val="8000"/>
              </a:srgbClr>
            </a:outerShdw>
          </a:effectLst>
        </p:spPr>
      </p:sp>
      <p:sp>
        <p:nvSpPr>
          <p:cNvPr id="28" name="Shape 26"/>
          <p:cNvSpPr/>
          <p:nvPr/>
        </p:nvSpPr>
        <p:spPr>
          <a:xfrm>
            <a:off x="411480" y="2542032"/>
            <a:ext cx="45720" cy="201168"/>
          </a:xfrm>
          <a:prstGeom prst="rect">
            <a:avLst/>
          </a:prstGeom>
          <a:solidFill>
            <a:srgbClr val="1A73E8"/>
          </a:solidFill>
          <a:ln w="12700">
            <a:solidFill>
              <a:srgbClr val="1A73E8"/>
            </a:solidFill>
            <a:prstDash val="solid"/>
          </a:ln>
        </p:spPr>
      </p:sp>
      <p:sp>
        <p:nvSpPr>
          <p:cNvPr id="29" name="Text 27"/>
          <p:cNvSpPr/>
          <p:nvPr/>
        </p:nvSpPr>
        <p:spPr>
          <a:xfrm>
            <a:off x="502920" y="2542032"/>
            <a:ext cx="3657600" cy="201168"/>
          </a:xfrm>
          <a:prstGeom prst="rect">
            <a:avLst/>
          </a:prstGeom>
          <a:noFill/>
          <a:ln/>
        </p:spPr>
        <p:txBody>
          <a:bodyPr wrap="square" rtlCol="0" anchor="ctr"/>
          <a:lstStyle/>
          <a:p>
            <a:pPr marL="0" indent="0">
              <a:buNone/>
            </a:pPr>
            <a:r>
              <a:rPr lang="en-US" sz="1000" b="1" dirty="0">
                <a:solidFill>
                  <a:srgbClr val="202124"/>
                </a:solidFill>
              </a:rPr>
              <a:t>Technology stack &amp; architecture</a:t>
            </a:r>
            <a:endParaRPr lang="en-US" sz="1000" dirty="0"/>
          </a:p>
        </p:txBody>
      </p:sp>
      <p:sp>
        <p:nvSpPr>
          <p:cNvPr id="30" name="Shape 28"/>
          <p:cNvSpPr/>
          <p:nvPr/>
        </p:nvSpPr>
        <p:spPr>
          <a:xfrm>
            <a:off x="411480" y="2816352"/>
            <a:ext cx="1554480" cy="621792"/>
          </a:xfrm>
          <a:prstGeom prst="rect">
            <a:avLst/>
          </a:prstGeom>
          <a:solidFill>
            <a:srgbClr val="1A73E8">
              <a:alpha val="12000"/>
            </a:srgbClr>
          </a:solidFill>
          <a:ln w="12700">
            <a:solidFill>
              <a:srgbClr val="1A73E8">
                <a:alpha val="40000"/>
              </a:srgbClr>
            </a:solidFill>
            <a:prstDash val="solid"/>
          </a:ln>
        </p:spPr>
      </p:sp>
      <p:sp>
        <p:nvSpPr>
          <p:cNvPr id="31" name="Text 29"/>
          <p:cNvSpPr/>
          <p:nvPr/>
        </p:nvSpPr>
        <p:spPr>
          <a:xfrm>
            <a:off x="411480" y="2834640"/>
            <a:ext cx="1554480" cy="256032"/>
          </a:xfrm>
          <a:prstGeom prst="rect">
            <a:avLst/>
          </a:prstGeom>
          <a:noFill/>
          <a:ln/>
        </p:spPr>
        <p:txBody>
          <a:bodyPr wrap="square" rtlCol="0" anchor="ctr"/>
          <a:lstStyle/>
          <a:p>
            <a:pPr marL="0" indent="0" algn="ctr">
              <a:buNone/>
            </a:pPr>
            <a:r>
              <a:rPr lang="en-US" sz="850" b="1" dirty="0">
                <a:solidFill>
                  <a:srgbClr val="1A73E8"/>
                </a:solidFill>
              </a:rPr>
              <a:t>Power BI Desktop</a:t>
            </a:r>
            <a:endParaRPr lang="en-US" sz="850" dirty="0"/>
          </a:p>
        </p:txBody>
      </p:sp>
      <p:sp>
        <p:nvSpPr>
          <p:cNvPr id="32" name="Text 30"/>
          <p:cNvSpPr/>
          <p:nvPr/>
        </p:nvSpPr>
        <p:spPr>
          <a:xfrm>
            <a:off x="411480" y="3108960"/>
            <a:ext cx="1554480" cy="256032"/>
          </a:xfrm>
          <a:prstGeom prst="rect">
            <a:avLst/>
          </a:prstGeom>
          <a:noFill/>
          <a:ln/>
        </p:spPr>
        <p:txBody>
          <a:bodyPr wrap="square" rtlCol="0" anchor="ctr"/>
          <a:lstStyle/>
          <a:p>
            <a:pPr marL="0" indent="0" algn="ctr">
              <a:buNone/>
            </a:pPr>
            <a:r>
              <a:rPr lang="en-US" sz="750" dirty="0">
                <a:solidFill>
                  <a:srgbClr val="5F6368"/>
                </a:solidFill>
              </a:rPr>
              <a:t>Visualization &amp; DAX</a:t>
            </a:r>
            <a:endParaRPr lang="en-US" sz="750" dirty="0"/>
          </a:p>
        </p:txBody>
      </p:sp>
      <p:sp>
        <p:nvSpPr>
          <p:cNvPr id="33" name="Shape 31"/>
          <p:cNvSpPr/>
          <p:nvPr/>
        </p:nvSpPr>
        <p:spPr>
          <a:xfrm>
            <a:off x="2112264" y="2816352"/>
            <a:ext cx="1554480" cy="621792"/>
          </a:xfrm>
          <a:prstGeom prst="rect">
            <a:avLst/>
          </a:prstGeom>
          <a:solidFill>
            <a:srgbClr val="34A853">
              <a:alpha val="12000"/>
            </a:srgbClr>
          </a:solidFill>
          <a:ln w="12700">
            <a:solidFill>
              <a:srgbClr val="34A853">
                <a:alpha val="40000"/>
              </a:srgbClr>
            </a:solidFill>
            <a:prstDash val="solid"/>
          </a:ln>
        </p:spPr>
      </p:sp>
      <p:sp>
        <p:nvSpPr>
          <p:cNvPr id="34" name="Text 32"/>
          <p:cNvSpPr/>
          <p:nvPr/>
        </p:nvSpPr>
        <p:spPr>
          <a:xfrm>
            <a:off x="2112264" y="2834640"/>
            <a:ext cx="1554480" cy="256032"/>
          </a:xfrm>
          <a:prstGeom prst="rect">
            <a:avLst/>
          </a:prstGeom>
          <a:noFill/>
          <a:ln/>
        </p:spPr>
        <p:txBody>
          <a:bodyPr wrap="square" rtlCol="0" anchor="ctr"/>
          <a:lstStyle/>
          <a:p>
            <a:pPr marL="0" indent="0" algn="ctr">
              <a:buNone/>
            </a:pPr>
            <a:r>
              <a:rPr lang="en-US" sz="850" b="1" dirty="0">
                <a:solidFill>
                  <a:srgbClr val="34A853"/>
                </a:solidFill>
              </a:rPr>
              <a:t>Google BigQuery</a:t>
            </a:r>
            <a:endParaRPr lang="en-US" sz="850" dirty="0"/>
          </a:p>
        </p:txBody>
      </p:sp>
      <p:sp>
        <p:nvSpPr>
          <p:cNvPr id="35" name="Text 33"/>
          <p:cNvSpPr/>
          <p:nvPr/>
        </p:nvSpPr>
        <p:spPr>
          <a:xfrm>
            <a:off x="2112264" y="3108960"/>
            <a:ext cx="1554480" cy="256032"/>
          </a:xfrm>
          <a:prstGeom prst="rect">
            <a:avLst/>
          </a:prstGeom>
          <a:noFill/>
          <a:ln/>
        </p:spPr>
        <p:txBody>
          <a:bodyPr wrap="square" rtlCol="0" anchor="ctr"/>
          <a:lstStyle/>
          <a:p>
            <a:pPr marL="0" indent="0" algn="ctr">
              <a:buNone/>
            </a:pPr>
            <a:r>
              <a:rPr lang="en-US" sz="750" dirty="0">
                <a:solidFill>
                  <a:srgbClr val="5F6368"/>
                </a:solidFill>
              </a:rPr>
              <a:t>Data warehouse &amp; SQL views</a:t>
            </a:r>
            <a:endParaRPr lang="en-US" sz="750" dirty="0"/>
          </a:p>
        </p:txBody>
      </p:sp>
      <p:sp>
        <p:nvSpPr>
          <p:cNvPr id="36" name="Shape 34"/>
          <p:cNvSpPr/>
          <p:nvPr/>
        </p:nvSpPr>
        <p:spPr>
          <a:xfrm>
            <a:off x="3813048" y="2816352"/>
            <a:ext cx="1554480" cy="621792"/>
          </a:xfrm>
          <a:prstGeom prst="rect">
            <a:avLst/>
          </a:prstGeom>
          <a:solidFill>
            <a:srgbClr val="FBBC04">
              <a:alpha val="12000"/>
            </a:srgbClr>
          </a:solidFill>
          <a:ln w="12700">
            <a:solidFill>
              <a:srgbClr val="FBBC04">
                <a:alpha val="40000"/>
              </a:srgbClr>
            </a:solidFill>
            <a:prstDash val="solid"/>
          </a:ln>
        </p:spPr>
      </p:sp>
      <p:sp>
        <p:nvSpPr>
          <p:cNvPr id="37" name="Text 35"/>
          <p:cNvSpPr/>
          <p:nvPr/>
        </p:nvSpPr>
        <p:spPr>
          <a:xfrm>
            <a:off x="3813048" y="2834640"/>
            <a:ext cx="1554480" cy="256032"/>
          </a:xfrm>
          <a:prstGeom prst="rect">
            <a:avLst/>
          </a:prstGeom>
          <a:noFill/>
          <a:ln/>
        </p:spPr>
        <p:txBody>
          <a:bodyPr wrap="square" rtlCol="0" anchor="ctr"/>
          <a:lstStyle/>
          <a:p>
            <a:pPr marL="0" indent="0" algn="ctr">
              <a:buNone/>
            </a:pPr>
            <a:r>
              <a:rPr lang="en-US" sz="850" b="1" dirty="0">
                <a:solidFill>
                  <a:srgbClr val="FBBC04"/>
                </a:solidFill>
              </a:rPr>
              <a:t>Power Query (M)</a:t>
            </a:r>
            <a:endParaRPr lang="en-US" sz="850" dirty="0"/>
          </a:p>
        </p:txBody>
      </p:sp>
      <p:sp>
        <p:nvSpPr>
          <p:cNvPr id="38" name="Text 36"/>
          <p:cNvSpPr/>
          <p:nvPr/>
        </p:nvSpPr>
        <p:spPr>
          <a:xfrm>
            <a:off x="3813048" y="3108960"/>
            <a:ext cx="1554480" cy="256032"/>
          </a:xfrm>
          <a:prstGeom prst="rect">
            <a:avLst/>
          </a:prstGeom>
          <a:noFill/>
          <a:ln/>
        </p:spPr>
        <p:txBody>
          <a:bodyPr wrap="square" rtlCol="0" anchor="ctr"/>
          <a:lstStyle/>
          <a:p>
            <a:pPr marL="0" indent="0" algn="ctr">
              <a:buNone/>
            </a:pPr>
            <a:r>
              <a:rPr lang="en-US" sz="750" dirty="0">
                <a:solidFill>
                  <a:srgbClr val="5F6368"/>
                </a:solidFill>
              </a:rPr>
              <a:t>ETL &amp; data cleaning</a:t>
            </a:r>
            <a:endParaRPr lang="en-US" sz="750" dirty="0"/>
          </a:p>
        </p:txBody>
      </p:sp>
      <p:sp>
        <p:nvSpPr>
          <p:cNvPr id="39" name="Shape 37"/>
          <p:cNvSpPr/>
          <p:nvPr/>
        </p:nvSpPr>
        <p:spPr>
          <a:xfrm>
            <a:off x="5513832" y="2816352"/>
            <a:ext cx="1554480" cy="621792"/>
          </a:xfrm>
          <a:prstGeom prst="rect">
            <a:avLst/>
          </a:prstGeom>
          <a:solidFill>
            <a:srgbClr val="EA4335">
              <a:alpha val="12000"/>
            </a:srgbClr>
          </a:solidFill>
          <a:ln w="12700">
            <a:solidFill>
              <a:srgbClr val="EA4335">
                <a:alpha val="40000"/>
              </a:srgbClr>
            </a:solidFill>
            <a:prstDash val="solid"/>
          </a:ln>
        </p:spPr>
      </p:sp>
      <p:sp>
        <p:nvSpPr>
          <p:cNvPr id="40" name="Text 38"/>
          <p:cNvSpPr/>
          <p:nvPr/>
        </p:nvSpPr>
        <p:spPr>
          <a:xfrm>
            <a:off x="5513832" y="2834640"/>
            <a:ext cx="1554480" cy="256032"/>
          </a:xfrm>
          <a:prstGeom prst="rect">
            <a:avLst/>
          </a:prstGeom>
          <a:noFill/>
          <a:ln/>
        </p:spPr>
        <p:txBody>
          <a:bodyPr wrap="square" rtlCol="0" anchor="ctr"/>
          <a:lstStyle/>
          <a:p>
            <a:pPr marL="0" indent="0" algn="ctr">
              <a:buNone/>
            </a:pPr>
            <a:r>
              <a:rPr lang="en-US" sz="850" b="1" dirty="0">
                <a:solidFill>
                  <a:srgbClr val="EA4335"/>
                </a:solidFill>
              </a:rPr>
              <a:t>GCP Billing Export</a:t>
            </a:r>
            <a:endParaRPr lang="en-US" sz="850" dirty="0"/>
          </a:p>
        </p:txBody>
      </p:sp>
      <p:sp>
        <p:nvSpPr>
          <p:cNvPr id="41" name="Text 39"/>
          <p:cNvSpPr/>
          <p:nvPr/>
        </p:nvSpPr>
        <p:spPr>
          <a:xfrm>
            <a:off x="5513832" y="3108960"/>
            <a:ext cx="1554480" cy="256032"/>
          </a:xfrm>
          <a:prstGeom prst="rect">
            <a:avLst/>
          </a:prstGeom>
          <a:noFill/>
          <a:ln/>
        </p:spPr>
        <p:txBody>
          <a:bodyPr wrap="square" rtlCol="0" anchor="ctr"/>
          <a:lstStyle/>
          <a:p>
            <a:pPr marL="0" indent="0" algn="ctr">
              <a:buNone/>
            </a:pPr>
            <a:r>
              <a:rPr lang="en-US" sz="750" dirty="0">
                <a:solidFill>
                  <a:srgbClr val="5F6368"/>
                </a:solidFill>
              </a:rPr>
              <a:t>Source billing data</a:t>
            </a:r>
            <a:endParaRPr lang="en-US" sz="750" dirty="0"/>
          </a:p>
        </p:txBody>
      </p:sp>
      <p:sp>
        <p:nvSpPr>
          <p:cNvPr id="42" name="Shape 40"/>
          <p:cNvSpPr/>
          <p:nvPr/>
        </p:nvSpPr>
        <p:spPr>
          <a:xfrm>
            <a:off x="7214616" y="2816352"/>
            <a:ext cx="1554480" cy="621792"/>
          </a:xfrm>
          <a:prstGeom prst="rect">
            <a:avLst/>
          </a:prstGeom>
          <a:solidFill>
            <a:srgbClr val="4285F4">
              <a:alpha val="12000"/>
            </a:srgbClr>
          </a:solidFill>
          <a:ln w="12700">
            <a:solidFill>
              <a:srgbClr val="4285F4">
                <a:alpha val="40000"/>
              </a:srgbClr>
            </a:solidFill>
            <a:prstDash val="solid"/>
          </a:ln>
        </p:spPr>
      </p:sp>
      <p:sp>
        <p:nvSpPr>
          <p:cNvPr id="43" name="Text 41"/>
          <p:cNvSpPr/>
          <p:nvPr/>
        </p:nvSpPr>
        <p:spPr>
          <a:xfrm>
            <a:off x="7214616" y="2834640"/>
            <a:ext cx="1554480" cy="256032"/>
          </a:xfrm>
          <a:prstGeom prst="rect">
            <a:avLst/>
          </a:prstGeom>
          <a:noFill/>
          <a:ln/>
        </p:spPr>
        <p:txBody>
          <a:bodyPr wrap="square" rtlCol="0" anchor="ctr"/>
          <a:lstStyle/>
          <a:p>
            <a:pPr marL="0" indent="0" algn="ctr">
              <a:buNone/>
            </a:pPr>
            <a:r>
              <a:rPr lang="en-US" sz="850" b="1" dirty="0">
                <a:solidFill>
                  <a:srgbClr val="4285F4"/>
                </a:solidFill>
              </a:rPr>
              <a:t>Star Schema</a:t>
            </a:r>
            <a:endParaRPr lang="en-US" sz="850" dirty="0"/>
          </a:p>
        </p:txBody>
      </p:sp>
      <p:sp>
        <p:nvSpPr>
          <p:cNvPr id="44" name="Text 42"/>
          <p:cNvSpPr/>
          <p:nvPr/>
        </p:nvSpPr>
        <p:spPr>
          <a:xfrm>
            <a:off x="7214616" y="3108960"/>
            <a:ext cx="1554480" cy="256032"/>
          </a:xfrm>
          <a:prstGeom prst="rect">
            <a:avLst/>
          </a:prstGeom>
          <a:noFill/>
          <a:ln/>
        </p:spPr>
        <p:txBody>
          <a:bodyPr wrap="square" rtlCol="0" anchor="ctr"/>
          <a:lstStyle/>
          <a:p>
            <a:pPr marL="0" indent="0" algn="ctr">
              <a:buNone/>
            </a:pPr>
            <a:r>
              <a:rPr lang="en-US" sz="750" dirty="0">
                <a:solidFill>
                  <a:srgbClr val="5F6368"/>
                </a:solidFill>
              </a:rPr>
              <a:t>5-table data model</a:t>
            </a:r>
            <a:endParaRPr lang="en-US" sz="750" dirty="0"/>
          </a:p>
        </p:txBody>
      </p:sp>
      <p:sp>
        <p:nvSpPr>
          <p:cNvPr id="45" name="Shape 43"/>
          <p:cNvSpPr/>
          <p:nvPr/>
        </p:nvSpPr>
        <p:spPr>
          <a:xfrm>
            <a:off x="274320" y="3730752"/>
            <a:ext cx="8595360" cy="1188720"/>
          </a:xfrm>
          <a:prstGeom prst="rect">
            <a:avLst/>
          </a:prstGeom>
          <a:solidFill>
            <a:srgbClr val="FFFFFF"/>
          </a:solidFill>
          <a:ln w="6350">
            <a:solidFill>
              <a:srgbClr val="DADDE1"/>
            </a:solidFill>
            <a:prstDash val="solid"/>
          </a:ln>
          <a:effectLst>
            <a:outerShdw blurRad="50800" dist="25400" dir="8100000" algn="bl" rotWithShape="0">
              <a:srgbClr val="000000">
                <a:alpha val="8000"/>
              </a:srgbClr>
            </a:outerShdw>
          </a:effectLst>
        </p:spPr>
      </p:sp>
      <p:sp>
        <p:nvSpPr>
          <p:cNvPr id="46" name="Shape 44"/>
          <p:cNvSpPr/>
          <p:nvPr/>
        </p:nvSpPr>
        <p:spPr>
          <a:xfrm>
            <a:off x="411480" y="3785616"/>
            <a:ext cx="45720" cy="201168"/>
          </a:xfrm>
          <a:prstGeom prst="rect">
            <a:avLst/>
          </a:prstGeom>
          <a:solidFill>
            <a:srgbClr val="1A73E8"/>
          </a:solidFill>
          <a:ln w="12700">
            <a:solidFill>
              <a:srgbClr val="1A73E8"/>
            </a:solidFill>
            <a:prstDash val="solid"/>
          </a:ln>
        </p:spPr>
      </p:sp>
      <p:sp>
        <p:nvSpPr>
          <p:cNvPr id="47" name="Text 45"/>
          <p:cNvSpPr/>
          <p:nvPr/>
        </p:nvSpPr>
        <p:spPr>
          <a:xfrm>
            <a:off x="502920" y="3785616"/>
            <a:ext cx="3657600" cy="201168"/>
          </a:xfrm>
          <a:prstGeom prst="rect">
            <a:avLst/>
          </a:prstGeom>
          <a:noFill/>
          <a:ln/>
        </p:spPr>
        <p:txBody>
          <a:bodyPr wrap="square" rtlCol="0" anchor="ctr"/>
          <a:lstStyle/>
          <a:p>
            <a:pPr marL="0" indent="0">
              <a:buNone/>
            </a:pPr>
            <a:r>
              <a:rPr lang="en-US" sz="1000" b="1" dirty="0">
                <a:solidFill>
                  <a:srgbClr val="202124"/>
                </a:solidFill>
              </a:rPr>
              <a:t>Dataset — 5 tables, 103,000+ rows</a:t>
            </a:r>
            <a:endParaRPr lang="en-US" sz="1000" dirty="0"/>
          </a:p>
        </p:txBody>
      </p:sp>
      <p:sp>
        <p:nvSpPr>
          <p:cNvPr id="48" name="Text 46"/>
          <p:cNvSpPr/>
          <p:nvPr/>
        </p:nvSpPr>
        <p:spPr>
          <a:xfrm>
            <a:off x="411480" y="4041648"/>
            <a:ext cx="1554480" cy="201168"/>
          </a:xfrm>
          <a:prstGeom prst="rect">
            <a:avLst/>
          </a:prstGeom>
          <a:noFill/>
          <a:ln/>
        </p:spPr>
        <p:txBody>
          <a:bodyPr wrap="square" rtlCol="0" anchor="ctr"/>
          <a:lstStyle/>
          <a:p>
            <a:pPr marL="0" indent="0">
              <a:buNone/>
            </a:pPr>
            <a:r>
              <a:rPr lang="en-US" sz="850" b="1" dirty="0">
                <a:solidFill>
                  <a:srgbClr val="202124"/>
                </a:solidFill>
              </a:rPr>
              <a:t>Fact_Billing</a:t>
            </a:r>
            <a:endParaRPr lang="en-US" sz="850" dirty="0"/>
          </a:p>
        </p:txBody>
      </p:sp>
      <p:sp>
        <p:nvSpPr>
          <p:cNvPr id="49" name="Text 47"/>
          <p:cNvSpPr/>
          <p:nvPr/>
        </p:nvSpPr>
        <p:spPr>
          <a:xfrm>
            <a:off x="411480" y="4251960"/>
            <a:ext cx="1554480" cy="182880"/>
          </a:xfrm>
          <a:prstGeom prst="rect">
            <a:avLst/>
          </a:prstGeom>
          <a:noFill/>
          <a:ln/>
        </p:spPr>
        <p:txBody>
          <a:bodyPr wrap="square" rtlCol="0" anchor="ctr"/>
          <a:lstStyle/>
          <a:p>
            <a:pPr marL="0" indent="0">
              <a:buNone/>
            </a:pPr>
            <a:r>
              <a:rPr lang="en-US" sz="800" dirty="0">
                <a:solidFill>
                  <a:srgbClr val="5F6368"/>
                </a:solidFill>
              </a:rPr>
              <a:t>62,000 rows</a:t>
            </a:r>
            <a:endParaRPr lang="en-US" sz="800" dirty="0"/>
          </a:p>
        </p:txBody>
      </p:sp>
      <p:sp>
        <p:nvSpPr>
          <p:cNvPr id="50" name="Text 48"/>
          <p:cNvSpPr/>
          <p:nvPr/>
        </p:nvSpPr>
        <p:spPr>
          <a:xfrm>
            <a:off x="2112264" y="4041648"/>
            <a:ext cx="1554480" cy="201168"/>
          </a:xfrm>
          <a:prstGeom prst="rect">
            <a:avLst/>
          </a:prstGeom>
          <a:noFill/>
          <a:ln/>
        </p:spPr>
        <p:txBody>
          <a:bodyPr wrap="square" rtlCol="0" anchor="ctr"/>
          <a:lstStyle/>
          <a:p>
            <a:pPr marL="0" indent="0">
              <a:buNone/>
            </a:pPr>
            <a:r>
              <a:rPr lang="en-US" sz="850" b="1" dirty="0">
                <a:solidFill>
                  <a:srgbClr val="202124"/>
                </a:solidFill>
              </a:rPr>
              <a:t>Fact_Networking</a:t>
            </a:r>
            <a:endParaRPr lang="en-US" sz="850" dirty="0"/>
          </a:p>
        </p:txBody>
      </p:sp>
      <p:sp>
        <p:nvSpPr>
          <p:cNvPr id="51" name="Text 49"/>
          <p:cNvSpPr/>
          <p:nvPr/>
        </p:nvSpPr>
        <p:spPr>
          <a:xfrm>
            <a:off x="2112264" y="4251960"/>
            <a:ext cx="1554480" cy="182880"/>
          </a:xfrm>
          <a:prstGeom prst="rect">
            <a:avLst/>
          </a:prstGeom>
          <a:noFill/>
          <a:ln/>
        </p:spPr>
        <p:txBody>
          <a:bodyPr wrap="square" rtlCol="0" anchor="ctr"/>
          <a:lstStyle/>
          <a:p>
            <a:pPr marL="0" indent="0">
              <a:buNone/>
            </a:pPr>
            <a:r>
              <a:rPr lang="en-US" sz="800" dirty="0">
                <a:solidFill>
                  <a:srgbClr val="5F6368"/>
                </a:solidFill>
              </a:rPr>
              <a:t>41,000 rows</a:t>
            </a:r>
            <a:endParaRPr lang="en-US" sz="800" dirty="0"/>
          </a:p>
        </p:txBody>
      </p:sp>
      <p:sp>
        <p:nvSpPr>
          <p:cNvPr id="52" name="Text 50"/>
          <p:cNvSpPr/>
          <p:nvPr/>
        </p:nvSpPr>
        <p:spPr>
          <a:xfrm>
            <a:off x="3813048" y="4041648"/>
            <a:ext cx="1554480" cy="201168"/>
          </a:xfrm>
          <a:prstGeom prst="rect">
            <a:avLst/>
          </a:prstGeom>
          <a:noFill/>
          <a:ln/>
        </p:spPr>
        <p:txBody>
          <a:bodyPr wrap="square" rtlCol="0" anchor="ctr"/>
          <a:lstStyle/>
          <a:p>
            <a:pPr marL="0" indent="0">
              <a:buNone/>
            </a:pPr>
            <a:r>
              <a:rPr lang="en-US" sz="850" b="1" dirty="0">
                <a:solidFill>
                  <a:srgbClr val="202124"/>
                </a:solidFill>
              </a:rPr>
              <a:t>Dim_Projects</a:t>
            </a:r>
            <a:endParaRPr lang="en-US" sz="850" dirty="0"/>
          </a:p>
        </p:txBody>
      </p:sp>
      <p:sp>
        <p:nvSpPr>
          <p:cNvPr id="53" name="Text 51"/>
          <p:cNvSpPr/>
          <p:nvPr/>
        </p:nvSpPr>
        <p:spPr>
          <a:xfrm>
            <a:off x="3813048" y="4251960"/>
            <a:ext cx="1554480" cy="182880"/>
          </a:xfrm>
          <a:prstGeom prst="rect">
            <a:avLst/>
          </a:prstGeom>
          <a:noFill/>
          <a:ln/>
        </p:spPr>
        <p:txBody>
          <a:bodyPr wrap="square" rtlCol="0" anchor="ctr"/>
          <a:lstStyle/>
          <a:p>
            <a:pPr marL="0" indent="0">
              <a:buNone/>
            </a:pPr>
            <a:r>
              <a:rPr lang="en-US" sz="800" dirty="0">
                <a:solidFill>
                  <a:srgbClr val="5F6368"/>
                </a:solidFill>
              </a:rPr>
              <a:t>82 rows</a:t>
            </a:r>
            <a:endParaRPr lang="en-US" sz="800" dirty="0"/>
          </a:p>
        </p:txBody>
      </p:sp>
      <p:sp>
        <p:nvSpPr>
          <p:cNvPr id="54" name="Text 52"/>
          <p:cNvSpPr/>
          <p:nvPr/>
        </p:nvSpPr>
        <p:spPr>
          <a:xfrm>
            <a:off x="5513832" y="4041648"/>
            <a:ext cx="1554480" cy="201168"/>
          </a:xfrm>
          <a:prstGeom prst="rect">
            <a:avLst/>
          </a:prstGeom>
          <a:noFill/>
          <a:ln/>
        </p:spPr>
        <p:txBody>
          <a:bodyPr wrap="square" rtlCol="0" anchor="ctr"/>
          <a:lstStyle/>
          <a:p>
            <a:pPr marL="0" indent="0">
              <a:buNone/>
            </a:pPr>
            <a:r>
              <a:rPr lang="en-US" sz="850" b="1" dirty="0">
                <a:solidFill>
                  <a:srgbClr val="202124"/>
                </a:solidFill>
              </a:rPr>
              <a:t>Dim_SKU</a:t>
            </a:r>
            <a:endParaRPr lang="en-US" sz="850" dirty="0"/>
          </a:p>
        </p:txBody>
      </p:sp>
      <p:sp>
        <p:nvSpPr>
          <p:cNvPr id="55" name="Text 53"/>
          <p:cNvSpPr/>
          <p:nvPr/>
        </p:nvSpPr>
        <p:spPr>
          <a:xfrm>
            <a:off x="5513832" y="4251960"/>
            <a:ext cx="1554480" cy="182880"/>
          </a:xfrm>
          <a:prstGeom prst="rect">
            <a:avLst/>
          </a:prstGeom>
          <a:noFill/>
          <a:ln/>
        </p:spPr>
        <p:txBody>
          <a:bodyPr wrap="square" rtlCol="0" anchor="ctr"/>
          <a:lstStyle/>
          <a:p>
            <a:pPr marL="0" indent="0">
              <a:buNone/>
            </a:pPr>
            <a:r>
              <a:rPr lang="en-US" sz="800" dirty="0">
                <a:solidFill>
                  <a:srgbClr val="5F6368"/>
                </a:solidFill>
              </a:rPr>
              <a:t>31 rows</a:t>
            </a:r>
            <a:endParaRPr lang="en-US" sz="800" dirty="0"/>
          </a:p>
        </p:txBody>
      </p:sp>
      <p:sp>
        <p:nvSpPr>
          <p:cNvPr id="56" name="Text 54"/>
          <p:cNvSpPr/>
          <p:nvPr/>
        </p:nvSpPr>
        <p:spPr>
          <a:xfrm>
            <a:off x="7214616" y="4041648"/>
            <a:ext cx="1554480" cy="201168"/>
          </a:xfrm>
          <a:prstGeom prst="rect">
            <a:avLst/>
          </a:prstGeom>
          <a:noFill/>
          <a:ln/>
        </p:spPr>
        <p:txBody>
          <a:bodyPr wrap="square" rtlCol="0" anchor="ctr"/>
          <a:lstStyle/>
          <a:p>
            <a:pPr marL="0" indent="0">
              <a:buNone/>
            </a:pPr>
            <a:r>
              <a:rPr lang="en-US" sz="850" b="1" dirty="0">
                <a:solidFill>
                  <a:srgbClr val="202124"/>
                </a:solidFill>
              </a:rPr>
              <a:t>Dim_Date</a:t>
            </a:r>
            <a:endParaRPr lang="en-US" sz="850" dirty="0"/>
          </a:p>
        </p:txBody>
      </p:sp>
      <p:sp>
        <p:nvSpPr>
          <p:cNvPr id="57" name="Text 55"/>
          <p:cNvSpPr/>
          <p:nvPr/>
        </p:nvSpPr>
        <p:spPr>
          <a:xfrm>
            <a:off x="7214616" y="4251960"/>
            <a:ext cx="1554480" cy="182880"/>
          </a:xfrm>
          <a:prstGeom prst="rect">
            <a:avLst/>
          </a:prstGeom>
          <a:noFill/>
          <a:ln/>
        </p:spPr>
        <p:txBody>
          <a:bodyPr wrap="square" rtlCol="0" anchor="ctr"/>
          <a:lstStyle/>
          <a:p>
            <a:pPr marL="0" indent="0">
              <a:buNone/>
            </a:pPr>
            <a:r>
              <a:rPr lang="en-US" sz="800" dirty="0">
                <a:solidFill>
                  <a:srgbClr val="5F6368"/>
                </a:solidFill>
              </a:rPr>
              <a:t>500 rows</a:t>
            </a:r>
            <a:endParaRPr lang="en-US" sz="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8FBFF"/>
        </a:solidFill>
        <a:effectLst/>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EA4335"/>
          </a:solidFill>
          <a:ln w="12700">
            <a:solidFill>
              <a:srgbClr val="EA4335"/>
            </a:solidFill>
            <a:prstDash val="solid"/>
          </a:ln>
        </p:spPr>
      </p:sp>
      <p:sp>
        <p:nvSpPr>
          <p:cNvPr id="3" name="Shape 1"/>
          <p:cNvSpPr/>
          <p:nvPr/>
        </p:nvSpPr>
        <p:spPr>
          <a:xfrm>
            <a:off x="0" y="0"/>
            <a:ext cx="685800" cy="685800"/>
          </a:xfrm>
          <a:prstGeom prst="rect">
            <a:avLst/>
          </a:prstGeom>
          <a:solidFill>
            <a:srgbClr val="0D47A1"/>
          </a:solidFill>
          <a:ln w="12700">
            <a:solidFill>
              <a:srgbClr val="0D47A1"/>
            </a:solidFill>
            <a:prstDash val="solid"/>
          </a:ln>
        </p:spPr>
      </p:sp>
      <p:sp>
        <p:nvSpPr>
          <p:cNvPr id="4" name="Text 2"/>
          <p:cNvSpPr/>
          <p:nvPr/>
        </p:nvSpPr>
        <p:spPr>
          <a:xfrm>
            <a:off x="0" y="0"/>
            <a:ext cx="685800" cy="685800"/>
          </a:xfrm>
          <a:prstGeom prst="rect">
            <a:avLst/>
          </a:prstGeom>
          <a:noFill/>
          <a:ln/>
        </p:spPr>
        <p:txBody>
          <a:bodyPr wrap="square" rtlCol="0" anchor="ctr"/>
          <a:lstStyle/>
          <a:p>
            <a:pPr marL="0" indent="0" algn="ctr">
              <a:buNone/>
            </a:pPr>
            <a:r>
              <a:rPr lang="en-US" sz="2000" b="1" dirty="0">
                <a:solidFill>
                  <a:srgbClr val="FFFFFF"/>
                </a:solidFill>
              </a:rPr>
              <a:t>G</a:t>
            </a:r>
            <a:endParaRPr lang="en-US" sz="2000" dirty="0"/>
          </a:p>
        </p:txBody>
      </p:sp>
      <p:sp>
        <p:nvSpPr>
          <p:cNvPr id="5" name="Text 3"/>
          <p:cNvSpPr/>
          <p:nvPr/>
        </p:nvSpPr>
        <p:spPr>
          <a:xfrm>
            <a:off x="777240" y="73152"/>
            <a:ext cx="6858000" cy="320040"/>
          </a:xfrm>
          <a:prstGeom prst="rect">
            <a:avLst/>
          </a:prstGeom>
          <a:noFill/>
          <a:ln/>
        </p:spPr>
        <p:txBody>
          <a:bodyPr wrap="square" rtlCol="0" anchor="ctr"/>
          <a:lstStyle/>
          <a:p>
            <a:pPr marL="0" indent="0">
              <a:buNone/>
            </a:pPr>
            <a:r>
              <a:rPr lang="en-US" sz="1400" b="1" dirty="0">
                <a:solidFill>
                  <a:srgbClr val="FFFFFF"/>
                </a:solidFill>
              </a:rPr>
              <a:t>Problem Statement</a:t>
            </a:r>
            <a:endParaRPr lang="en-US" sz="1400" dirty="0"/>
          </a:p>
        </p:txBody>
      </p:sp>
      <p:sp>
        <p:nvSpPr>
          <p:cNvPr id="6" name="Text 4"/>
          <p:cNvSpPr/>
          <p:nvPr/>
        </p:nvSpPr>
        <p:spPr>
          <a:xfrm>
            <a:off x="777240" y="384048"/>
            <a:ext cx="6858000" cy="228600"/>
          </a:xfrm>
          <a:prstGeom prst="rect">
            <a:avLst/>
          </a:prstGeom>
          <a:noFill/>
          <a:ln/>
        </p:spPr>
        <p:txBody>
          <a:bodyPr wrap="square" rtlCol="0" anchor="ctr"/>
          <a:lstStyle/>
          <a:p>
            <a:pPr marL="0" indent="0">
              <a:buNone/>
            </a:pPr>
            <a:r>
              <a:rPr lang="en-US" sz="900" dirty="0">
                <a:solidFill>
                  <a:srgbClr val="FFFFFF"/>
                </a:solidFill>
              </a:rPr>
              <a:t>Why cloud cost optimization is a critical business challenge in 2026</a:t>
            </a:r>
            <a:endParaRPr lang="en-US" sz="900" dirty="0"/>
          </a:p>
        </p:txBody>
      </p:sp>
      <p:sp>
        <p:nvSpPr>
          <p:cNvPr id="7" name="Shape 5"/>
          <p:cNvSpPr/>
          <p:nvPr/>
        </p:nvSpPr>
        <p:spPr>
          <a:xfrm>
            <a:off x="274320" y="804672"/>
            <a:ext cx="8595360" cy="777240"/>
          </a:xfrm>
          <a:prstGeom prst="rect">
            <a:avLst/>
          </a:prstGeom>
          <a:solidFill>
            <a:srgbClr val="FFFFFF"/>
          </a:solidFill>
          <a:ln w="6350">
            <a:solidFill>
              <a:srgbClr val="DADDE1"/>
            </a:solidFill>
            <a:prstDash val="solid"/>
          </a:ln>
          <a:effectLst>
            <a:outerShdw blurRad="50800" dist="25400" dir="8100000" algn="bl" rotWithShape="0">
              <a:srgbClr val="000000">
                <a:alpha val="8000"/>
              </a:srgbClr>
            </a:outerShdw>
          </a:effectLst>
        </p:spPr>
      </p:sp>
      <p:sp>
        <p:nvSpPr>
          <p:cNvPr id="8" name="Shape 6"/>
          <p:cNvSpPr/>
          <p:nvPr/>
        </p:nvSpPr>
        <p:spPr>
          <a:xfrm>
            <a:off x="274320" y="804672"/>
            <a:ext cx="8595360" cy="45720"/>
          </a:xfrm>
          <a:prstGeom prst="rect">
            <a:avLst/>
          </a:prstGeom>
          <a:solidFill>
            <a:srgbClr val="EA4335"/>
          </a:solidFill>
          <a:ln w="12700">
            <a:solidFill>
              <a:srgbClr val="EA4335"/>
            </a:solidFill>
            <a:prstDash val="solid"/>
          </a:ln>
        </p:spPr>
      </p:sp>
      <p:sp>
        <p:nvSpPr>
          <p:cNvPr id="9" name="Text 7"/>
          <p:cNvSpPr/>
          <p:nvPr/>
        </p:nvSpPr>
        <p:spPr>
          <a:xfrm>
            <a:off x="457200" y="868680"/>
            <a:ext cx="8229600" cy="621792"/>
          </a:xfrm>
          <a:prstGeom prst="rect">
            <a:avLst/>
          </a:prstGeom>
          <a:noFill/>
          <a:ln/>
        </p:spPr>
        <p:txBody>
          <a:bodyPr wrap="square" rtlCol="0" anchor="ctr"/>
          <a:lstStyle/>
          <a:p>
            <a:pPr marL="0" indent="0">
              <a:lnSpc>
                <a:spcPct val="140000"/>
              </a:lnSpc>
              <a:buNone/>
            </a:pPr>
            <a:r>
              <a:rPr lang="en-US" sz="1000" i="1" dirty="0">
                <a:solidFill>
                  <a:srgbClr val="202124"/>
                </a:solidFill>
              </a:rPr>
              <a:t>Organizations worldwide waste an estimated 32% of their cloud budget on unused or underutilized resources. In 2026, as GCP adoption accelerates, the absence of a structured FinOps practice leads to runaway costs, missed savings, and zero financial accountability across engineering teams.</a:t>
            </a:r>
            <a:endParaRPr lang="en-US" sz="1000" dirty="0"/>
          </a:p>
        </p:txBody>
      </p:sp>
      <p:sp>
        <p:nvSpPr>
          <p:cNvPr id="10" name="Shape 8"/>
          <p:cNvSpPr/>
          <p:nvPr/>
        </p:nvSpPr>
        <p:spPr>
          <a:xfrm>
            <a:off x="274320" y="1719072"/>
            <a:ext cx="2697480" cy="2103120"/>
          </a:xfrm>
          <a:prstGeom prst="rect">
            <a:avLst/>
          </a:prstGeom>
          <a:solidFill>
            <a:srgbClr val="FFFFFF"/>
          </a:solidFill>
          <a:ln w="6350">
            <a:solidFill>
              <a:srgbClr val="DADDE1"/>
            </a:solidFill>
            <a:prstDash val="solid"/>
          </a:ln>
          <a:effectLst>
            <a:outerShdw blurRad="50800" dist="25400" dir="8100000" algn="bl" rotWithShape="0">
              <a:srgbClr val="000000">
                <a:alpha val="8000"/>
              </a:srgbClr>
            </a:outerShdw>
          </a:effectLst>
        </p:spPr>
      </p:sp>
      <p:sp>
        <p:nvSpPr>
          <p:cNvPr id="11" name="Shape 9"/>
          <p:cNvSpPr/>
          <p:nvPr/>
        </p:nvSpPr>
        <p:spPr>
          <a:xfrm>
            <a:off x="274320" y="1719072"/>
            <a:ext cx="64008" cy="2103120"/>
          </a:xfrm>
          <a:prstGeom prst="rect">
            <a:avLst/>
          </a:prstGeom>
          <a:solidFill>
            <a:srgbClr val="EA4335"/>
          </a:solidFill>
          <a:ln w="12700">
            <a:solidFill>
              <a:srgbClr val="EA4335"/>
            </a:solidFill>
            <a:prstDash val="solid"/>
          </a:ln>
        </p:spPr>
      </p:sp>
      <p:sp>
        <p:nvSpPr>
          <p:cNvPr id="12" name="Shape 10"/>
          <p:cNvSpPr/>
          <p:nvPr/>
        </p:nvSpPr>
        <p:spPr>
          <a:xfrm>
            <a:off x="438912" y="1874520"/>
            <a:ext cx="457200" cy="457200"/>
          </a:xfrm>
          <a:prstGeom prst="rect">
            <a:avLst/>
          </a:prstGeom>
          <a:solidFill>
            <a:srgbClr val="EA4335">
              <a:alpha val="15000"/>
            </a:srgbClr>
          </a:solidFill>
          <a:ln w="12700">
            <a:solidFill>
              <a:srgbClr val="EA4335">
                <a:alpha val="40000"/>
              </a:srgbClr>
            </a:solidFill>
            <a:prstDash val="solid"/>
          </a:ln>
        </p:spPr>
      </p:sp>
      <p:sp>
        <p:nvSpPr>
          <p:cNvPr id="13" name="Text 11"/>
          <p:cNvSpPr/>
          <p:nvPr/>
        </p:nvSpPr>
        <p:spPr>
          <a:xfrm>
            <a:off x="438912" y="1874520"/>
            <a:ext cx="457200" cy="457200"/>
          </a:xfrm>
          <a:prstGeom prst="rect">
            <a:avLst/>
          </a:prstGeom>
          <a:noFill/>
          <a:ln/>
        </p:spPr>
        <p:txBody>
          <a:bodyPr wrap="square" rtlCol="0" anchor="ctr"/>
          <a:lstStyle/>
          <a:p>
            <a:pPr marL="0" indent="0" algn="ctr">
              <a:buNone/>
            </a:pPr>
            <a:r>
              <a:rPr lang="en-US" sz="1400" b="1" dirty="0">
                <a:solidFill>
                  <a:srgbClr val="EA4335"/>
                </a:solidFill>
              </a:rPr>
              <a:t>01</a:t>
            </a:r>
            <a:endParaRPr lang="en-US" sz="1400" dirty="0"/>
          </a:p>
        </p:txBody>
      </p:sp>
      <p:sp>
        <p:nvSpPr>
          <p:cNvPr id="14" name="Text 12"/>
          <p:cNvSpPr/>
          <p:nvPr/>
        </p:nvSpPr>
        <p:spPr>
          <a:xfrm>
            <a:off x="438912" y="2423160"/>
            <a:ext cx="2423160" cy="256032"/>
          </a:xfrm>
          <a:prstGeom prst="rect">
            <a:avLst/>
          </a:prstGeom>
          <a:noFill/>
          <a:ln/>
        </p:spPr>
        <p:txBody>
          <a:bodyPr wrap="square" rtlCol="0" anchor="ctr"/>
          <a:lstStyle/>
          <a:p>
            <a:pPr marL="0" indent="0">
              <a:buNone/>
            </a:pPr>
            <a:r>
              <a:rPr lang="en-US" sz="1050" b="1" dirty="0">
                <a:solidFill>
                  <a:srgbClr val="202124"/>
                </a:solidFill>
              </a:rPr>
              <a:t>No Cost Visibility</a:t>
            </a:r>
            <a:endParaRPr lang="en-US" sz="1050" dirty="0"/>
          </a:p>
        </p:txBody>
      </p:sp>
      <p:sp>
        <p:nvSpPr>
          <p:cNvPr id="15" name="Text 13"/>
          <p:cNvSpPr/>
          <p:nvPr/>
        </p:nvSpPr>
        <p:spPr>
          <a:xfrm>
            <a:off x="438912" y="2743200"/>
            <a:ext cx="2423160" cy="960120"/>
          </a:xfrm>
          <a:prstGeom prst="rect">
            <a:avLst/>
          </a:prstGeom>
          <a:noFill/>
          <a:ln/>
        </p:spPr>
        <p:txBody>
          <a:bodyPr wrap="square" rtlCol="0" anchor="ctr"/>
          <a:lstStyle/>
          <a:p>
            <a:pPr marL="0" indent="0">
              <a:lnSpc>
                <a:spcPct val="140000"/>
              </a:lnSpc>
              <a:buNone/>
            </a:pPr>
            <a:r>
              <a:rPr lang="en-US" sz="850" dirty="0">
                <a:solidFill>
                  <a:srgbClr val="5F6368"/>
                </a:solidFill>
              </a:rPr>
              <a:t>Raw GCP billing data lives in unstructured logs. Finance teams cannot see where money is going without a dedicated BI layer on top of BigQuery.</a:t>
            </a:r>
            <a:endParaRPr lang="en-US" sz="850" dirty="0"/>
          </a:p>
        </p:txBody>
      </p:sp>
      <p:sp>
        <p:nvSpPr>
          <p:cNvPr id="16" name="Shape 14"/>
          <p:cNvSpPr/>
          <p:nvPr/>
        </p:nvSpPr>
        <p:spPr>
          <a:xfrm>
            <a:off x="3154680" y="1719072"/>
            <a:ext cx="2697480" cy="2103120"/>
          </a:xfrm>
          <a:prstGeom prst="rect">
            <a:avLst/>
          </a:prstGeom>
          <a:solidFill>
            <a:srgbClr val="FFFFFF"/>
          </a:solidFill>
          <a:ln w="6350">
            <a:solidFill>
              <a:srgbClr val="DADDE1"/>
            </a:solidFill>
            <a:prstDash val="solid"/>
          </a:ln>
          <a:effectLst>
            <a:outerShdw blurRad="50800" dist="25400" dir="8100000" algn="bl" rotWithShape="0">
              <a:srgbClr val="000000">
                <a:alpha val="8000"/>
              </a:srgbClr>
            </a:outerShdw>
          </a:effectLst>
        </p:spPr>
      </p:sp>
      <p:sp>
        <p:nvSpPr>
          <p:cNvPr id="17" name="Shape 15"/>
          <p:cNvSpPr/>
          <p:nvPr/>
        </p:nvSpPr>
        <p:spPr>
          <a:xfrm>
            <a:off x="3154680" y="1719072"/>
            <a:ext cx="64008" cy="2103120"/>
          </a:xfrm>
          <a:prstGeom prst="rect">
            <a:avLst/>
          </a:prstGeom>
          <a:solidFill>
            <a:srgbClr val="FBBC04"/>
          </a:solidFill>
          <a:ln w="12700">
            <a:solidFill>
              <a:srgbClr val="FBBC04"/>
            </a:solidFill>
            <a:prstDash val="solid"/>
          </a:ln>
        </p:spPr>
      </p:sp>
      <p:sp>
        <p:nvSpPr>
          <p:cNvPr id="18" name="Shape 16"/>
          <p:cNvSpPr/>
          <p:nvPr/>
        </p:nvSpPr>
        <p:spPr>
          <a:xfrm>
            <a:off x="3319272" y="1874520"/>
            <a:ext cx="457200" cy="457200"/>
          </a:xfrm>
          <a:prstGeom prst="rect">
            <a:avLst/>
          </a:prstGeom>
          <a:solidFill>
            <a:srgbClr val="FBBC04">
              <a:alpha val="15000"/>
            </a:srgbClr>
          </a:solidFill>
          <a:ln w="12700">
            <a:solidFill>
              <a:srgbClr val="FBBC04">
                <a:alpha val="40000"/>
              </a:srgbClr>
            </a:solidFill>
            <a:prstDash val="solid"/>
          </a:ln>
        </p:spPr>
      </p:sp>
      <p:sp>
        <p:nvSpPr>
          <p:cNvPr id="19" name="Text 17"/>
          <p:cNvSpPr/>
          <p:nvPr/>
        </p:nvSpPr>
        <p:spPr>
          <a:xfrm>
            <a:off x="3319272" y="1874520"/>
            <a:ext cx="457200" cy="457200"/>
          </a:xfrm>
          <a:prstGeom prst="rect">
            <a:avLst/>
          </a:prstGeom>
          <a:noFill/>
          <a:ln/>
        </p:spPr>
        <p:txBody>
          <a:bodyPr wrap="square" rtlCol="0" anchor="ctr"/>
          <a:lstStyle/>
          <a:p>
            <a:pPr marL="0" indent="0" algn="ctr">
              <a:buNone/>
            </a:pPr>
            <a:r>
              <a:rPr lang="en-US" sz="1400" b="1" dirty="0">
                <a:solidFill>
                  <a:srgbClr val="FBBC04"/>
                </a:solidFill>
              </a:rPr>
              <a:t>02</a:t>
            </a:r>
            <a:endParaRPr lang="en-US" sz="1400" dirty="0"/>
          </a:p>
        </p:txBody>
      </p:sp>
      <p:sp>
        <p:nvSpPr>
          <p:cNvPr id="20" name="Text 18"/>
          <p:cNvSpPr/>
          <p:nvPr/>
        </p:nvSpPr>
        <p:spPr>
          <a:xfrm>
            <a:off x="3319272" y="2423160"/>
            <a:ext cx="2423160" cy="256032"/>
          </a:xfrm>
          <a:prstGeom prst="rect">
            <a:avLst/>
          </a:prstGeom>
          <a:noFill/>
          <a:ln/>
        </p:spPr>
        <p:txBody>
          <a:bodyPr wrap="square" rtlCol="0" anchor="ctr"/>
          <a:lstStyle/>
          <a:p>
            <a:pPr marL="0" indent="0">
              <a:buNone/>
            </a:pPr>
            <a:r>
              <a:rPr lang="en-US" sz="1050" b="1" dirty="0">
                <a:solidFill>
                  <a:srgbClr val="202124"/>
                </a:solidFill>
              </a:rPr>
              <a:t>Zero Accountability</a:t>
            </a:r>
            <a:endParaRPr lang="en-US" sz="1050" dirty="0"/>
          </a:p>
        </p:txBody>
      </p:sp>
      <p:sp>
        <p:nvSpPr>
          <p:cNvPr id="21" name="Text 19"/>
          <p:cNvSpPr/>
          <p:nvPr/>
        </p:nvSpPr>
        <p:spPr>
          <a:xfrm>
            <a:off x="3319272" y="2743200"/>
            <a:ext cx="2423160" cy="960120"/>
          </a:xfrm>
          <a:prstGeom prst="rect">
            <a:avLst/>
          </a:prstGeom>
          <a:noFill/>
          <a:ln/>
        </p:spPr>
        <p:txBody>
          <a:bodyPr wrap="square" rtlCol="0" anchor="ctr"/>
          <a:lstStyle/>
          <a:p>
            <a:pPr marL="0" indent="0">
              <a:lnSpc>
                <a:spcPct val="140000"/>
              </a:lnSpc>
              <a:buNone/>
            </a:pPr>
            <a:r>
              <a:rPr lang="en-US" sz="850" dirty="0">
                <a:solidFill>
                  <a:srgbClr val="5F6368"/>
                </a:solidFill>
              </a:rPr>
              <a:t>1,029 billing rows (1.7%) in our dataset have no Project_ID tag. These costs cannot be attributed to any team, project, or department.</a:t>
            </a:r>
            <a:endParaRPr lang="en-US" sz="850" dirty="0"/>
          </a:p>
        </p:txBody>
      </p:sp>
      <p:sp>
        <p:nvSpPr>
          <p:cNvPr id="22" name="Shape 20"/>
          <p:cNvSpPr/>
          <p:nvPr/>
        </p:nvSpPr>
        <p:spPr>
          <a:xfrm>
            <a:off x="6035040" y="1719072"/>
            <a:ext cx="2697480" cy="2103120"/>
          </a:xfrm>
          <a:prstGeom prst="rect">
            <a:avLst/>
          </a:prstGeom>
          <a:solidFill>
            <a:srgbClr val="FFFFFF"/>
          </a:solidFill>
          <a:ln w="6350">
            <a:solidFill>
              <a:srgbClr val="DADDE1"/>
            </a:solidFill>
            <a:prstDash val="solid"/>
          </a:ln>
          <a:effectLst>
            <a:outerShdw blurRad="50800" dist="25400" dir="8100000" algn="bl" rotWithShape="0">
              <a:srgbClr val="000000">
                <a:alpha val="8000"/>
              </a:srgbClr>
            </a:outerShdw>
          </a:effectLst>
        </p:spPr>
      </p:sp>
      <p:sp>
        <p:nvSpPr>
          <p:cNvPr id="23" name="Shape 21"/>
          <p:cNvSpPr/>
          <p:nvPr/>
        </p:nvSpPr>
        <p:spPr>
          <a:xfrm>
            <a:off x="6035040" y="1719072"/>
            <a:ext cx="64008" cy="2103120"/>
          </a:xfrm>
          <a:prstGeom prst="rect">
            <a:avLst/>
          </a:prstGeom>
          <a:solidFill>
            <a:srgbClr val="1A73E8"/>
          </a:solidFill>
          <a:ln w="12700">
            <a:solidFill>
              <a:srgbClr val="1A73E8"/>
            </a:solidFill>
            <a:prstDash val="solid"/>
          </a:ln>
        </p:spPr>
      </p:sp>
      <p:sp>
        <p:nvSpPr>
          <p:cNvPr id="24" name="Shape 22"/>
          <p:cNvSpPr/>
          <p:nvPr/>
        </p:nvSpPr>
        <p:spPr>
          <a:xfrm>
            <a:off x="6199632" y="1874520"/>
            <a:ext cx="457200" cy="457200"/>
          </a:xfrm>
          <a:prstGeom prst="rect">
            <a:avLst/>
          </a:prstGeom>
          <a:solidFill>
            <a:srgbClr val="1A73E8">
              <a:alpha val="15000"/>
            </a:srgbClr>
          </a:solidFill>
          <a:ln w="12700">
            <a:solidFill>
              <a:srgbClr val="1A73E8">
                <a:alpha val="40000"/>
              </a:srgbClr>
            </a:solidFill>
            <a:prstDash val="solid"/>
          </a:ln>
        </p:spPr>
      </p:sp>
      <p:sp>
        <p:nvSpPr>
          <p:cNvPr id="25" name="Text 23"/>
          <p:cNvSpPr/>
          <p:nvPr/>
        </p:nvSpPr>
        <p:spPr>
          <a:xfrm>
            <a:off x="6199632" y="1874520"/>
            <a:ext cx="457200" cy="457200"/>
          </a:xfrm>
          <a:prstGeom prst="rect">
            <a:avLst/>
          </a:prstGeom>
          <a:noFill/>
          <a:ln/>
        </p:spPr>
        <p:txBody>
          <a:bodyPr wrap="square" rtlCol="0" anchor="ctr"/>
          <a:lstStyle/>
          <a:p>
            <a:pPr marL="0" indent="0" algn="ctr">
              <a:buNone/>
            </a:pPr>
            <a:r>
              <a:rPr lang="en-US" sz="1400" b="1" dirty="0">
                <a:solidFill>
                  <a:srgbClr val="1A73E8"/>
                </a:solidFill>
              </a:rPr>
              <a:t>03</a:t>
            </a:r>
            <a:endParaRPr lang="en-US" sz="1400" dirty="0"/>
          </a:p>
        </p:txBody>
      </p:sp>
      <p:sp>
        <p:nvSpPr>
          <p:cNvPr id="26" name="Text 24"/>
          <p:cNvSpPr/>
          <p:nvPr/>
        </p:nvSpPr>
        <p:spPr>
          <a:xfrm>
            <a:off x="6199632" y="2423160"/>
            <a:ext cx="2423160" cy="256032"/>
          </a:xfrm>
          <a:prstGeom prst="rect">
            <a:avLst/>
          </a:prstGeom>
          <a:noFill/>
          <a:ln/>
        </p:spPr>
        <p:txBody>
          <a:bodyPr wrap="square" rtlCol="0" anchor="ctr"/>
          <a:lstStyle/>
          <a:p>
            <a:pPr marL="0" indent="0">
              <a:buNone/>
            </a:pPr>
            <a:r>
              <a:rPr lang="en-US" sz="1050" b="1" dirty="0">
                <a:solidFill>
                  <a:srgbClr val="202124"/>
                </a:solidFill>
              </a:rPr>
              <a:t>Reactive Management</a:t>
            </a:r>
            <a:endParaRPr lang="en-US" sz="1050" dirty="0"/>
          </a:p>
        </p:txBody>
      </p:sp>
      <p:sp>
        <p:nvSpPr>
          <p:cNvPr id="27" name="Text 25"/>
          <p:cNvSpPr/>
          <p:nvPr/>
        </p:nvSpPr>
        <p:spPr>
          <a:xfrm>
            <a:off x="6199632" y="2743200"/>
            <a:ext cx="2423160" cy="960120"/>
          </a:xfrm>
          <a:prstGeom prst="rect">
            <a:avLst/>
          </a:prstGeom>
          <a:noFill/>
          <a:ln/>
        </p:spPr>
        <p:txBody>
          <a:bodyPr wrap="square" rtlCol="0" anchor="ctr"/>
          <a:lstStyle/>
          <a:p>
            <a:pPr marL="0" indent="0">
              <a:lnSpc>
                <a:spcPct val="140000"/>
              </a:lnSpc>
              <a:buNone/>
            </a:pPr>
            <a:r>
              <a:rPr lang="en-US" sz="850" dirty="0">
                <a:solidFill>
                  <a:srgbClr val="5F6368"/>
                </a:solidFill>
              </a:rPr>
              <a:t>Without anomaly detection or budget alerts, cost spikes (up to +71% above baseline) are discovered only at month-end invoice time — too late to act.</a:t>
            </a:r>
            <a:endParaRPr lang="en-US" sz="850" dirty="0"/>
          </a:p>
        </p:txBody>
      </p:sp>
      <p:sp>
        <p:nvSpPr>
          <p:cNvPr id="28" name="Shape 26"/>
          <p:cNvSpPr/>
          <p:nvPr/>
        </p:nvSpPr>
        <p:spPr>
          <a:xfrm>
            <a:off x="274320" y="3931920"/>
            <a:ext cx="8595360" cy="1005840"/>
          </a:xfrm>
          <a:prstGeom prst="rect">
            <a:avLst/>
          </a:prstGeom>
          <a:solidFill>
            <a:srgbClr val="FFFFFF"/>
          </a:solidFill>
          <a:ln w="6350">
            <a:solidFill>
              <a:srgbClr val="DADDE1"/>
            </a:solidFill>
            <a:prstDash val="solid"/>
          </a:ln>
          <a:effectLst>
            <a:outerShdw blurRad="50800" dist="25400" dir="8100000" algn="bl" rotWithShape="0">
              <a:srgbClr val="000000">
                <a:alpha val="8000"/>
              </a:srgbClr>
            </a:outerShdw>
          </a:effectLst>
        </p:spPr>
      </p:sp>
      <p:sp>
        <p:nvSpPr>
          <p:cNvPr id="29" name="Shape 27"/>
          <p:cNvSpPr/>
          <p:nvPr/>
        </p:nvSpPr>
        <p:spPr>
          <a:xfrm>
            <a:off x="411480" y="3986784"/>
            <a:ext cx="45720" cy="201168"/>
          </a:xfrm>
          <a:prstGeom prst="rect">
            <a:avLst/>
          </a:prstGeom>
          <a:solidFill>
            <a:srgbClr val="EA4335"/>
          </a:solidFill>
          <a:ln w="12700">
            <a:solidFill>
              <a:srgbClr val="EA4335"/>
            </a:solidFill>
            <a:prstDash val="solid"/>
          </a:ln>
        </p:spPr>
      </p:sp>
      <p:sp>
        <p:nvSpPr>
          <p:cNvPr id="30" name="Text 28"/>
          <p:cNvSpPr/>
          <p:nvPr/>
        </p:nvSpPr>
        <p:spPr>
          <a:xfrm>
            <a:off x="502920" y="3986784"/>
            <a:ext cx="3657600" cy="201168"/>
          </a:xfrm>
          <a:prstGeom prst="rect">
            <a:avLst/>
          </a:prstGeom>
          <a:noFill/>
          <a:ln/>
        </p:spPr>
        <p:txBody>
          <a:bodyPr wrap="square" rtlCol="0" anchor="ctr"/>
          <a:lstStyle/>
          <a:p>
            <a:pPr marL="0" indent="0">
              <a:buNone/>
            </a:pPr>
            <a:r>
              <a:rPr lang="en-US" sz="1000" b="1" dirty="0">
                <a:solidFill>
                  <a:srgbClr val="202124"/>
                </a:solidFill>
              </a:rPr>
              <a:t>Business impact without FinOps practice</a:t>
            </a:r>
            <a:endParaRPr lang="en-US" sz="1000" dirty="0"/>
          </a:p>
        </p:txBody>
      </p:sp>
      <p:sp>
        <p:nvSpPr>
          <p:cNvPr id="31" name="Shape 29"/>
          <p:cNvSpPr/>
          <p:nvPr/>
        </p:nvSpPr>
        <p:spPr>
          <a:xfrm>
            <a:off x="411480" y="4279392"/>
            <a:ext cx="128016" cy="128016"/>
          </a:xfrm>
          <a:prstGeom prst="ellipse">
            <a:avLst/>
          </a:prstGeom>
          <a:solidFill>
            <a:srgbClr val="EA4335"/>
          </a:solidFill>
          <a:ln w="12700">
            <a:solidFill>
              <a:srgbClr val="EA4335"/>
            </a:solidFill>
            <a:prstDash val="solid"/>
          </a:ln>
        </p:spPr>
      </p:sp>
      <p:sp>
        <p:nvSpPr>
          <p:cNvPr id="32" name="Text 30"/>
          <p:cNvSpPr/>
          <p:nvPr/>
        </p:nvSpPr>
        <p:spPr>
          <a:xfrm>
            <a:off x="594360" y="4242816"/>
            <a:ext cx="1463040" cy="320040"/>
          </a:xfrm>
          <a:prstGeom prst="rect">
            <a:avLst/>
          </a:prstGeom>
          <a:noFill/>
          <a:ln/>
        </p:spPr>
        <p:txBody>
          <a:bodyPr wrap="square" rtlCol="0" anchor="ctr"/>
          <a:lstStyle/>
          <a:p>
            <a:pPr marL="0" indent="0">
              <a:lnSpc>
                <a:spcPct val="130000"/>
              </a:lnSpc>
              <a:buNone/>
            </a:pPr>
            <a:r>
              <a:rPr lang="en-US" sz="800" dirty="0">
                <a:solidFill>
                  <a:srgbClr val="202124"/>
                </a:solidFill>
              </a:rPr>
              <a:t>Budget overruns discovered at month-end</a:t>
            </a:r>
            <a:endParaRPr lang="en-US" sz="800" dirty="0"/>
          </a:p>
        </p:txBody>
      </p:sp>
      <p:sp>
        <p:nvSpPr>
          <p:cNvPr id="33" name="Shape 31"/>
          <p:cNvSpPr/>
          <p:nvPr/>
        </p:nvSpPr>
        <p:spPr>
          <a:xfrm>
            <a:off x="2121408" y="4279392"/>
            <a:ext cx="128016" cy="128016"/>
          </a:xfrm>
          <a:prstGeom prst="ellipse">
            <a:avLst/>
          </a:prstGeom>
          <a:solidFill>
            <a:srgbClr val="EA4335"/>
          </a:solidFill>
          <a:ln w="12700">
            <a:solidFill>
              <a:srgbClr val="EA4335"/>
            </a:solidFill>
            <a:prstDash val="solid"/>
          </a:ln>
        </p:spPr>
      </p:sp>
      <p:sp>
        <p:nvSpPr>
          <p:cNvPr id="34" name="Text 32"/>
          <p:cNvSpPr/>
          <p:nvPr/>
        </p:nvSpPr>
        <p:spPr>
          <a:xfrm>
            <a:off x="2304288" y="4242816"/>
            <a:ext cx="1463040" cy="320040"/>
          </a:xfrm>
          <a:prstGeom prst="rect">
            <a:avLst/>
          </a:prstGeom>
          <a:noFill/>
          <a:ln/>
        </p:spPr>
        <p:txBody>
          <a:bodyPr wrap="square" rtlCol="0" anchor="ctr"/>
          <a:lstStyle/>
          <a:p>
            <a:pPr marL="0" indent="0">
              <a:lnSpc>
                <a:spcPct val="130000"/>
              </a:lnSpc>
              <a:buNone/>
            </a:pPr>
            <a:r>
              <a:rPr lang="en-US" sz="800" dirty="0">
                <a:solidFill>
                  <a:srgbClr val="202124"/>
                </a:solidFill>
              </a:rPr>
              <a:t>No team-level cost accountability</a:t>
            </a:r>
            <a:endParaRPr lang="en-US" sz="800" dirty="0"/>
          </a:p>
        </p:txBody>
      </p:sp>
      <p:sp>
        <p:nvSpPr>
          <p:cNvPr id="35" name="Shape 33"/>
          <p:cNvSpPr/>
          <p:nvPr/>
        </p:nvSpPr>
        <p:spPr>
          <a:xfrm>
            <a:off x="3831336" y="4279392"/>
            <a:ext cx="128016" cy="128016"/>
          </a:xfrm>
          <a:prstGeom prst="ellipse">
            <a:avLst/>
          </a:prstGeom>
          <a:solidFill>
            <a:srgbClr val="EA4335"/>
          </a:solidFill>
          <a:ln w="12700">
            <a:solidFill>
              <a:srgbClr val="EA4335"/>
            </a:solidFill>
            <a:prstDash val="solid"/>
          </a:ln>
        </p:spPr>
      </p:sp>
      <p:sp>
        <p:nvSpPr>
          <p:cNvPr id="36" name="Text 34"/>
          <p:cNvSpPr/>
          <p:nvPr/>
        </p:nvSpPr>
        <p:spPr>
          <a:xfrm>
            <a:off x="4014216" y="4242816"/>
            <a:ext cx="1463040" cy="320040"/>
          </a:xfrm>
          <a:prstGeom prst="rect">
            <a:avLst/>
          </a:prstGeom>
          <a:noFill/>
          <a:ln/>
        </p:spPr>
        <p:txBody>
          <a:bodyPr wrap="square" rtlCol="0" anchor="ctr"/>
          <a:lstStyle/>
          <a:p>
            <a:pPr marL="0" indent="0">
              <a:lnSpc>
                <a:spcPct val="130000"/>
              </a:lnSpc>
              <a:buNone/>
            </a:pPr>
            <a:r>
              <a:rPr lang="en-US" sz="800" dirty="0">
                <a:solidFill>
                  <a:srgbClr val="202124"/>
                </a:solidFill>
              </a:rPr>
              <a:t>Idle VMs &amp; databases wasting ~30% of cloud spend</a:t>
            </a:r>
            <a:endParaRPr lang="en-US" sz="800" dirty="0"/>
          </a:p>
        </p:txBody>
      </p:sp>
      <p:sp>
        <p:nvSpPr>
          <p:cNvPr id="37" name="Shape 35"/>
          <p:cNvSpPr/>
          <p:nvPr/>
        </p:nvSpPr>
        <p:spPr>
          <a:xfrm>
            <a:off x="5541264" y="4279392"/>
            <a:ext cx="128016" cy="128016"/>
          </a:xfrm>
          <a:prstGeom prst="ellipse">
            <a:avLst/>
          </a:prstGeom>
          <a:solidFill>
            <a:srgbClr val="EA4335"/>
          </a:solidFill>
          <a:ln w="12700">
            <a:solidFill>
              <a:srgbClr val="EA4335"/>
            </a:solidFill>
            <a:prstDash val="solid"/>
          </a:ln>
        </p:spPr>
      </p:sp>
      <p:sp>
        <p:nvSpPr>
          <p:cNvPr id="38" name="Text 36"/>
          <p:cNvSpPr/>
          <p:nvPr/>
        </p:nvSpPr>
        <p:spPr>
          <a:xfrm>
            <a:off x="5724144" y="4242816"/>
            <a:ext cx="1463040" cy="320040"/>
          </a:xfrm>
          <a:prstGeom prst="rect">
            <a:avLst/>
          </a:prstGeom>
          <a:noFill/>
          <a:ln/>
        </p:spPr>
        <p:txBody>
          <a:bodyPr wrap="square" rtlCol="0" anchor="ctr"/>
          <a:lstStyle/>
          <a:p>
            <a:pPr marL="0" indent="0">
              <a:lnSpc>
                <a:spcPct val="130000"/>
              </a:lnSpc>
              <a:buNone/>
            </a:pPr>
            <a:r>
              <a:rPr lang="en-US" sz="800" dirty="0">
                <a:solidFill>
                  <a:srgbClr val="202124"/>
                </a:solidFill>
              </a:rPr>
              <a:t>Duplicate resources across environments</a:t>
            </a:r>
            <a:endParaRPr lang="en-US" sz="800" dirty="0"/>
          </a:p>
        </p:txBody>
      </p:sp>
      <p:sp>
        <p:nvSpPr>
          <p:cNvPr id="39" name="Shape 37"/>
          <p:cNvSpPr/>
          <p:nvPr/>
        </p:nvSpPr>
        <p:spPr>
          <a:xfrm>
            <a:off x="7251192" y="4279392"/>
            <a:ext cx="128016" cy="128016"/>
          </a:xfrm>
          <a:prstGeom prst="ellipse">
            <a:avLst/>
          </a:prstGeom>
          <a:solidFill>
            <a:srgbClr val="EA4335"/>
          </a:solidFill>
          <a:ln w="12700">
            <a:solidFill>
              <a:srgbClr val="EA4335"/>
            </a:solidFill>
            <a:prstDash val="solid"/>
          </a:ln>
        </p:spPr>
      </p:sp>
      <p:sp>
        <p:nvSpPr>
          <p:cNvPr id="40" name="Text 38"/>
          <p:cNvSpPr/>
          <p:nvPr/>
        </p:nvSpPr>
        <p:spPr>
          <a:xfrm>
            <a:off x="7434072" y="4242816"/>
            <a:ext cx="1463040" cy="320040"/>
          </a:xfrm>
          <a:prstGeom prst="rect">
            <a:avLst/>
          </a:prstGeom>
          <a:noFill/>
          <a:ln/>
        </p:spPr>
        <p:txBody>
          <a:bodyPr wrap="square" rtlCol="0" anchor="ctr"/>
          <a:lstStyle/>
          <a:p>
            <a:pPr marL="0" indent="0">
              <a:lnSpc>
                <a:spcPct val="130000"/>
              </a:lnSpc>
              <a:buNone/>
            </a:pPr>
            <a:r>
              <a:rPr lang="en-US" sz="800" dirty="0">
                <a:solidFill>
                  <a:srgbClr val="202124"/>
                </a:solidFill>
              </a:rPr>
              <a:t>No forecasting — spend is unpredictable</a:t>
            </a:r>
            <a:endParaRPr lang="en-US" sz="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8FBFF"/>
        </a:solidFill>
        <a:effectLst/>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EA4335"/>
          </a:solidFill>
          <a:ln w="12700">
            <a:solidFill>
              <a:srgbClr val="EA4335"/>
            </a:solidFill>
            <a:prstDash val="solid"/>
          </a:ln>
        </p:spPr>
      </p:sp>
      <p:sp>
        <p:nvSpPr>
          <p:cNvPr id="3" name="Shape 1"/>
          <p:cNvSpPr/>
          <p:nvPr/>
        </p:nvSpPr>
        <p:spPr>
          <a:xfrm>
            <a:off x="0" y="0"/>
            <a:ext cx="685800" cy="685800"/>
          </a:xfrm>
          <a:prstGeom prst="rect">
            <a:avLst/>
          </a:prstGeom>
          <a:solidFill>
            <a:srgbClr val="0D47A1"/>
          </a:solidFill>
          <a:ln w="12700">
            <a:solidFill>
              <a:srgbClr val="0D47A1"/>
            </a:solidFill>
            <a:prstDash val="solid"/>
          </a:ln>
        </p:spPr>
      </p:sp>
      <p:sp>
        <p:nvSpPr>
          <p:cNvPr id="4" name="Text 2"/>
          <p:cNvSpPr/>
          <p:nvPr/>
        </p:nvSpPr>
        <p:spPr>
          <a:xfrm>
            <a:off x="0" y="0"/>
            <a:ext cx="685800" cy="685800"/>
          </a:xfrm>
          <a:prstGeom prst="rect">
            <a:avLst/>
          </a:prstGeom>
          <a:noFill/>
          <a:ln/>
        </p:spPr>
        <p:txBody>
          <a:bodyPr wrap="square" rtlCol="0" anchor="ctr"/>
          <a:lstStyle/>
          <a:p>
            <a:pPr marL="0" indent="0" algn="ctr">
              <a:buNone/>
            </a:pPr>
            <a:r>
              <a:rPr lang="en-US" sz="2000" b="1" dirty="0">
                <a:solidFill>
                  <a:srgbClr val="FFFFFF"/>
                </a:solidFill>
              </a:rPr>
              <a:t>G</a:t>
            </a:r>
            <a:endParaRPr lang="en-US" sz="2000" dirty="0"/>
          </a:p>
        </p:txBody>
      </p:sp>
      <p:sp>
        <p:nvSpPr>
          <p:cNvPr id="5" name="Text 3"/>
          <p:cNvSpPr/>
          <p:nvPr/>
        </p:nvSpPr>
        <p:spPr>
          <a:xfrm>
            <a:off x="777240" y="73152"/>
            <a:ext cx="6858000" cy="320040"/>
          </a:xfrm>
          <a:prstGeom prst="rect">
            <a:avLst/>
          </a:prstGeom>
          <a:noFill/>
          <a:ln/>
        </p:spPr>
        <p:txBody>
          <a:bodyPr wrap="square" rtlCol="0" anchor="ctr"/>
          <a:lstStyle/>
          <a:p>
            <a:pPr marL="0" indent="0">
              <a:buNone/>
            </a:pPr>
            <a:r>
              <a:rPr lang="en-US" sz="1400" b="1" dirty="0">
                <a:solidFill>
                  <a:srgbClr val="FFFFFF"/>
                </a:solidFill>
              </a:rPr>
              <a:t>Root Cause Analysis</a:t>
            </a:r>
            <a:endParaRPr lang="en-US" sz="1400" dirty="0"/>
          </a:p>
        </p:txBody>
      </p:sp>
      <p:sp>
        <p:nvSpPr>
          <p:cNvPr id="6" name="Text 4"/>
          <p:cNvSpPr/>
          <p:nvPr/>
        </p:nvSpPr>
        <p:spPr>
          <a:xfrm>
            <a:off x="777240" y="384048"/>
            <a:ext cx="6858000" cy="228600"/>
          </a:xfrm>
          <a:prstGeom prst="rect">
            <a:avLst/>
          </a:prstGeom>
          <a:noFill/>
          <a:ln/>
        </p:spPr>
        <p:txBody>
          <a:bodyPr wrap="square" rtlCol="0" anchor="ctr"/>
          <a:lstStyle/>
          <a:p>
            <a:pPr marL="0" indent="0">
              <a:buNone/>
            </a:pPr>
            <a:r>
              <a:rPr lang="en-US" sz="900" dirty="0">
                <a:solidFill>
                  <a:srgbClr val="FFFFFF"/>
                </a:solidFill>
              </a:rPr>
              <a:t>8 specific reasons why GCP cloud costs are not optimized</a:t>
            </a:r>
            <a:endParaRPr lang="en-US" sz="900" dirty="0"/>
          </a:p>
        </p:txBody>
      </p:sp>
      <p:sp>
        <p:nvSpPr>
          <p:cNvPr id="7" name="Shape 5"/>
          <p:cNvSpPr/>
          <p:nvPr/>
        </p:nvSpPr>
        <p:spPr>
          <a:xfrm>
            <a:off x="274320" y="804672"/>
            <a:ext cx="4251960" cy="868680"/>
          </a:xfrm>
          <a:prstGeom prst="rect">
            <a:avLst/>
          </a:prstGeom>
          <a:solidFill>
            <a:srgbClr val="FFFFFF"/>
          </a:solidFill>
          <a:ln w="6350">
            <a:solidFill>
              <a:srgbClr val="DADDE1"/>
            </a:solidFill>
            <a:prstDash val="solid"/>
          </a:ln>
          <a:effectLst>
            <a:outerShdw blurRad="50800" dist="25400" dir="8100000" algn="bl" rotWithShape="0">
              <a:srgbClr val="000000">
                <a:alpha val="8000"/>
              </a:srgbClr>
            </a:outerShdw>
          </a:effectLst>
        </p:spPr>
      </p:sp>
      <p:sp>
        <p:nvSpPr>
          <p:cNvPr id="8" name="Shape 6"/>
          <p:cNvSpPr/>
          <p:nvPr/>
        </p:nvSpPr>
        <p:spPr>
          <a:xfrm>
            <a:off x="274320" y="804672"/>
            <a:ext cx="457200" cy="868680"/>
          </a:xfrm>
          <a:prstGeom prst="rect">
            <a:avLst/>
          </a:prstGeom>
          <a:solidFill>
            <a:srgbClr val="EA4335">
              <a:alpha val="15000"/>
            </a:srgbClr>
          </a:solidFill>
          <a:ln w="12700">
            <a:solidFill>
              <a:srgbClr val="EA4335"/>
            </a:solidFill>
            <a:prstDash val="solid"/>
          </a:ln>
        </p:spPr>
      </p:sp>
      <p:sp>
        <p:nvSpPr>
          <p:cNvPr id="9" name="Text 7"/>
          <p:cNvSpPr/>
          <p:nvPr/>
        </p:nvSpPr>
        <p:spPr>
          <a:xfrm>
            <a:off x="274320" y="804672"/>
            <a:ext cx="457200" cy="868680"/>
          </a:xfrm>
          <a:prstGeom prst="rect">
            <a:avLst/>
          </a:prstGeom>
          <a:noFill/>
          <a:ln/>
        </p:spPr>
        <p:txBody>
          <a:bodyPr wrap="square" rtlCol="0" anchor="ctr"/>
          <a:lstStyle/>
          <a:p>
            <a:pPr marL="0" indent="0" algn="ctr">
              <a:buNone/>
            </a:pPr>
            <a:r>
              <a:rPr lang="en-US" sz="1100" b="1" dirty="0">
                <a:solidFill>
                  <a:srgbClr val="EA4335"/>
                </a:solidFill>
              </a:rPr>
              <a:t>01</a:t>
            </a:r>
            <a:endParaRPr lang="en-US" sz="1100" dirty="0"/>
          </a:p>
        </p:txBody>
      </p:sp>
      <p:sp>
        <p:nvSpPr>
          <p:cNvPr id="10" name="Text 8"/>
          <p:cNvSpPr/>
          <p:nvPr/>
        </p:nvSpPr>
        <p:spPr>
          <a:xfrm>
            <a:off x="841248" y="877824"/>
            <a:ext cx="3154680" cy="228600"/>
          </a:xfrm>
          <a:prstGeom prst="rect">
            <a:avLst/>
          </a:prstGeom>
          <a:noFill/>
          <a:ln/>
        </p:spPr>
        <p:txBody>
          <a:bodyPr wrap="square" rtlCol="0" anchor="ctr"/>
          <a:lstStyle/>
          <a:p>
            <a:pPr marL="0" indent="0">
              <a:buNone/>
            </a:pPr>
            <a:r>
              <a:rPr lang="en-US" sz="1000" b="1" dirty="0">
                <a:solidFill>
                  <a:srgbClr val="202124"/>
                </a:solidFill>
              </a:rPr>
              <a:t>Untagged Resources</a:t>
            </a:r>
            <a:endParaRPr lang="en-US" sz="1000" dirty="0"/>
          </a:p>
        </p:txBody>
      </p:sp>
      <p:sp>
        <p:nvSpPr>
          <p:cNvPr id="11" name="Text 9"/>
          <p:cNvSpPr/>
          <p:nvPr/>
        </p:nvSpPr>
        <p:spPr>
          <a:xfrm>
            <a:off x="841248" y="1133856"/>
            <a:ext cx="2560320" cy="411480"/>
          </a:xfrm>
          <a:prstGeom prst="rect">
            <a:avLst/>
          </a:prstGeom>
          <a:noFill/>
          <a:ln/>
        </p:spPr>
        <p:txBody>
          <a:bodyPr wrap="square" rtlCol="0" anchor="ctr"/>
          <a:lstStyle/>
          <a:p>
            <a:pPr marL="0" indent="0">
              <a:lnSpc>
                <a:spcPct val="130000"/>
              </a:lnSpc>
              <a:buNone/>
            </a:pPr>
            <a:r>
              <a:rPr lang="en-US" sz="800" dirty="0">
                <a:solidFill>
                  <a:srgbClr val="5F6368"/>
                </a:solidFill>
              </a:rPr>
              <a:t>No Project_ID on 1,029 rows → costs invisible to any team</a:t>
            </a:r>
            <a:endParaRPr lang="en-US" sz="800" dirty="0"/>
          </a:p>
        </p:txBody>
      </p:sp>
      <p:sp>
        <p:nvSpPr>
          <p:cNvPr id="12" name="Shape 10"/>
          <p:cNvSpPr/>
          <p:nvPr/>
        </p:nvSpPr>
        <p:spPr>
          <a:xfrm>
            <a:off x="3474720" y="1133856"/>
            <a:ext cx="960120" cy="256032"/>
          </a:xfrm>
          <a:prstGeom prst="rect">
            <a:avLst/>
          </a:prstGeom>
          <a:solidFill>
            <a:srgbClr val="EA4335">
              <a:alpha val="18000"/>
            </a:srgbClr>
          </a:solidFill>
          <a:ln w="12700">
            <a:solidFill>
              <a:srgbClr val="EA4335">
                <a:alpha val="40000"/>
              </a:srgbClr>
            </a:solidFill>
            <a:prstDash val="solid"/>
          </a:ln>
        </p:spPr>
      </p:sp>
      <p:sp>
        <p:nvSpPr>
          <p:cNvPr id="13" name="Text 11"/>
          <p:cNvSpPr/>
          <p:nvPr/>
        </p:nvSpPr>
        <p:spPr>
          <a:xfrm>
            <a:off x="3474720" y="1133856"/>
            <a:ext cx="960120" cy="256032"/>
          </a:xfrm>
          <a:prstGeom prst="rect">
            <a:avLst/>
          </a:prstGeom>
          <a:noFill/>
          <a:ln/>
        </p:spPr>
        <p:txBody>
          <a:bodyPr wrap="square" rtlCol="0" anchor="ctr"/>
          <a:lstStyle/>
          <a:p>
            <a:pPr marL="0" indent="0" algn="ctr">
              <a:buNone/>
            </a:pPr>
            <a:r>
              <a:rPr lang="en-US" sz="700" b="1" dirty="0">
                <a:solidFill>
                  <a:srgbClr val="EA4335"/>
                </a:solidFill>
              </a:rPr>
              <a:t>~1.2% of spend</a:t>
            </a:r>
            <a:endParaRPr lang="en-US" sz="700" dirty="0"/>
          </a:p>
        </p:txBody>
      </p:sp>
      <p:sp>
        <p:nvSpPr>
          <p:cNvPr id="14" name="Shape 12"/>
          <p:cNvSpPr/>
          <p:nvPr/>
        </p:nvSpPr>
        <p:spPr>
          <a:xfrm>
            <a:off x="4709160" y="804672"/>
            <a:ext cx="4251960" cy="868680"/>
          </a:xfrm>
          <a:prstGeom prst="rect">
            <a:avLst/>
          </a:prstGeom>
          <a:solidFill>
            <a:srgbClr val="FFFFFF"/>
          </a:solidFill>
          <a:ln w="6350">
            <a:solidFill>
              <a:srgbClr val="DADDE1"/>
            </a:solidFill>
            <a:prstDash val="solid"/>
          </a:ln>
          <a:effectLst>
            <a:outerShdw blurRad="50800" dist="25400" dir="8100000" algn="bl" rotWithShape="0">
              <a:srgbClr val="000000">
                <a:alpha val="8000"/>
              </a:srgbClr>
            </a:outerShdw>
          </a:effectLst>
        </p:spPr>
      </p:sp>
      <p:sp>
        <p:nvSpPr>
          <p:cNvPr id="15" name="Shape 13"/>
          <p:cNvSpPr/>
          <p:nvPr/>
        </p:nvSpPr>
        <p:spPr>
          <a:xfrm>
            <a:off x="4709160" y="804672"/>
            <a:ext cx="457200" cy="868680"/>
          </a:xfrm>
          <a:prstGeom prst="rect">
            <a:avLst/>
          </a:prstGeom>
          <a:solidFill>
            <a:srgbClr val="EA4335">
              <a:alpha val="15000"/>
            </a:srgbClr>
          </a:solidFill>
          <a:ln w="12700">
            <a:solidFill>
              <a:srgbClr val="EA4335"/>
            </a:solidFill>
            <a:prstDash val="solid"/>
          </a:ln>
        </p:spPr>
      </p:sp>
      <p:sp>
        <p:nvSpPr>
          <p:cNvPr id="16" name="Text 14"/>
          <p:cNvSpPr/>
          <p:nvPr/>
        </p:nvSpPr>
        <p:spPr>
          <a:xfrm>
            <a:off x="4709160" y="804672"/>
            <a:ext cx="457200" cy="868680"/>
          </a:xfrm>
          <a:prstGeom prst="rect">
            <a:avLst/>
          </a:prstGeom>
          <a:noFill/>
          <a:ln/>
        </p:spPr>
        <p:txBody>
          <a:bodyPr wrap="square" rtlCol="0" anchor="ctr"/>
          <a:lstStyle/>
          <a:p>
            <a:pPr marL="0" indent="0" algn="ctr">
              <a:buNone/>
            </a:pPr>
            <a:r>
              <a:rPr lang="en-US" sz="1100" b="1" dirty="0">
                <a:solidFill>
                  <a:srgbClr val="EA4335"/>
                </a:solidFill>
              </a:rPr>
              <a:t>02</a:t>
            </a:r>
            <a:endParaRPr lang="en-US" sz="1100" dirty="0"/>
          </a:p>
        </p:txBody>
      </p:sp>
      <p:sp>
        <p:nvSpPr>
          <p:cNvPr id="17" name="Text 15"/>
          <p:cNvSpPr/>
          <p:nvPr/>
        </p:nvSpPr>
        <p:spPr>
          <a:xfrm>
            <a:off x="5276088" y="877824"/>
            <a:ext cx="3154680" cy="228600"/>
          </a:xfrm>
          <a:prstGeom prst="rect">
            <a:avLst/>
          </a:prstGeom>
          <a:noFill/>
          <a:ln/>
        </p:spPr>
        <p:txBody>
          <a:bodyPr wrap="square" rtlCol="0" anchor="ctr"/>
          <a:lstStyle/>
          <a:p>
            <a:pPr marL="0" indent="0">
              <a:buNone/>
            </a:pPr>
            <a:r>
              <a:rPr lang="en-US" sz="1000" b="1" dirty="0">
                <a:solidFill>
                  <a:srgbClr val="202124"/>
                </a:solidFill>
              </a:rPr>
              <a:t>Unknown SKUs</a:t>
            </a:r>
            <a:endParaRPr lang="en-US" sz="1000" dirty="0"/>
          </a:p>
        </p:txBody>
      </p:sp>
      <p:sp>
        <p:nvSpPr>
          <p:cNvPr id="18" name="Text 16"/>
          <p:cNvSpPr/>
          <p:nvPr/>
        </p:nvSpPr>
        <p:spPr>
          <a:xfrm>
            <a:off x="5276088" y="1133856"/>
            <a:ext cx="2560320" cy="411480"/>
          </a:xfrm>
          <a:prstGeom prst="rect">
            <a:avLst/>
          </a:prstGeom>
          <a:noFill/>
          <a:ln/>
        </p:spPr>
        <p:txBody>
          <a:bodyPr wrap="square" rtlCol="0" anchor="ctr"/>
          <a:lstStyle/>
          <a:p>
            <a:pPr marL="0" indent="0">
              <a:lnSpc>
                <a:spcPct val="130000"/>
              </a:lnSpc>
              <a:buNone/>
            </a:pPr>
            <a:r>
              <a:rPr lang="en-US" sz="800" dirty="0">
                <a:solidFill>
                  <a:srgbClr val="5F6368"/>
                </a:solidFill>
              </a:rPr>
              <a:t>2,008 rows have SKU_ID = 'NA' → cannot identify service</a:t>
            </a:r>
            <a:endParaRPr lang="en-US" sz="800" dirty="0"/>
          </a:p>
        </p:txBody>
      </p:sp>
      <p:sp>
        <p:nvSpPr>
          <p:cNvPr id="19" name="Shape 17"/>
          <p:cNvSpPr/>
          <p:nvPr/>
        </p:nvSpPr>
        <p:spPr>
          <a:xfrm>
            <a:off x="7909560" y="1133856"/>
            <a:ext cx="960120" cy="256032"/>
          </a:xfrm>
          <a:prstGeom prst="rect">
            <a:avLst/>
          </a:prstGeom>
          <a:solidFill>
            <a:srgbClr val="EA4335">
              <a:alpha val="18000"/>
            </a:srgbClr>
          </a:solidFill>
          <a:ln w="12700">
            <a:solidFill>
              <a:srgbClr val="EA4335">
                <a:alpha val="40000"/>
              </a:srgbClr>
            </a:solidFill>
            <a:prstDash val="solid"/>
          </a:ln>
        </p:spPr>
      </p:sp>
      <p:sp>
        <p:nvSpPr>
          <p:cNvPr id="20" name="Text 18"/>
          <p:cNvSpPr/>
          <p:nvPr/>
        </p:nvSpPr>
        <p:spPr>
          <a:xfrm>
            <a:off x="7909560" y="1133856"/>
            <a:ext cx="960120" cy="256032"/>
          </a:xfrm>
          <a:prstGeom prst="rect">
            <a:avLst/>
          </a:prstGeom>
          <a:noFill/>
          <a:ln/>
        </p:spPr>
        <p:txBody>
          <a:bodyPr wrap="square" rtlCol="0" anchor="ctr"/>
          <a:lstStyle/>
          <a:p>
            <a:pPr marL="0" indent="0" algn="ctr">
              <a:buNone/>
            </a:pPr>
            <a:r>
              <a:rPr lang="en-US" sz="700" b="1" dirty="0">
                <a:solidFill>
                  <a:srgbClr val="EA4335"/>
                </a:solidFill>
              </a:rPr>
              <a:t>~2.7K rows</a:t>
            </a:r>
            <a:endParaRPr lang="en-US" sz="700" dirty="0"/>
          </a:p>
        </p:txBody>
      </p:sp>
      <p:sp>
        <p:nvSpPr>
          <p:cNvPr id="21" name="Shape 19"/>
          <p:cNvSpPr/>
          <p:nvPr/>
        </p:nvSpPr>
        <p:spPr>
          <a:xfrm>
            <a:off x="274320" y="1828800"/>
            <a:ext cx="4251960" cy="868680"/>
          </a:xfrm>
          <a:prstGeom prst="rect">
            <a:avLst/>
          </a:prstGeom>
          <a:solidFill>
            <a:srgbClr val="FFFFFF"/>
          </a:solidFill>
          <a:ln w="6350">
            <a:solidFill>
              <a:srgbClr val="DADDE1"/>
            </a:solidFill>
            <a:prstDash val="solid"/>
          </a:ln>
          <a:effectLst>
            <a:outerShdw blurRad="50800" dist="25400" dir="8100000" algn="bl" rotWithShape="0">
              <a:srgbClr val="000000">
                <a:alpha val="8000"/>
              </a:srgbClr>
            </a:outerShdw>
          </a:effectLst>
        </p:spPr>
      </p:sp>
      <p:sp>
        <p:nvSpPr>
          <p:cNvPr id="22" name="Shape 20"/>
          <p:cNvSpPr/>
          <p:nvPr/>
        </p:nvSpPr>
        <p:spPr>
          <a:xfrm>
            <a:off x="274320" y="1828800"/>
            <a:ext cx="457200" cy="868680"/>
          </a:xfrm>
          <a:prstGeom prst="rect">
            <a:avLst/>
          </a:prstGeom>
          <a:solidFill>
            <a:srgbClr val="FBBC04">
              <a:alpha val="15000"/>
            </a:srgbClr>
          </a:solidFill>
          <a:ln w="12700">
            <a:solidFill>
              <a:srgbClr val="FBBC04"/>
            </a:solidFill>
            <a:prstDash val="solid"/>
          </a:ln>
        </p:spPr>
      </p:sp>
      <p:sp>
        <p:nvSpPr>
          <p:cNvPr id="23" name="Text 21"/>
          <p:cNvSpPr/>
          <p:nvPr/>
        </p:nvSpPr>
        <p:spPr>
          <a:xfrm>
            <a:off x="274320" y="1828800"/>
            <a:ext cx="457200" cy="868680"/>
          </a:xfrm>
          <a:prstGeom prst="rect">
            <a:avLst/>
          </a:prstGeom>
          <a:noFill/>
          <a:ln/>
        </p:spPr>
        <p:txBody>
          <a:bodyPr wrap="square" rtlCol="0" anchor="ctr"/>
          <a:lstStyle/>
          <a:p>
            <a:pPr marL="0" indent="0" algn="ctr">
              <a:buNone/>
            </a:pPr>
            <a:r>
              <a:rPr lang="en-US" sz="1100" b="1" dirty="0">
                <a:solidFill>
                  <a:srgbClr val="FBBC04"/>
                </a:solidFill>
              </a:rPr>
              <a:t>03</a:t>
            </a:r>
            <a:endParaRPr lang="en-US" sz="1100" dirty="0"/>
          </a:p>
        </p:txBody>
      </p:sp>
      <p:sp>
        <p:nvSpPr>
          <p:cNvPr id="24" name="Text 22"/>
          <p:cNvSpPr/>
          <p:nvPr/>
        </p:nvSpPr>
        <p:spPr>
          <a:xfrm>
            <a:off x="841248" y="1901952"/>
            <a:ext cx="3154680" cy="228600"/>
          </a:xfrm>
          <a:prstGeom prst="rect">
            <a:avLst/>
          </a:prstGeom>
          <a:noFill/>
          <a:ln/>
        </p:spPr>
        <p:txBody>
          <a:bodyPr wrap="square" rtlCol="0" anchor="ctr"/>
          <a:lstStyle/>
          <a:p>
            <a:pPr marL="0" indent="0">
              <a:buNone/>
            </a:pPr>
            <a:r>
              <a:rPr lang="en-US" sz="1000" b="1" dirty="0">
                <a:solidFill>
                  <a:srgbClr val="202124"/>
                </a:solidFill>
              </a:rPr>
              <a:t>Idle Compute Instances</a:t>
            </a:r>
            <a:endParaRPr lang="en-US" sz="1000" dirty="0"/>
          </a:p>
        </p:txBody>
      </p:sp>
      <p:sp>
        <p:nvSpPr>
          <p:cNvPr id="25" name="Text 23"/>
          <p:cNvSpPr/>
          <p:nvPr/>
        </p:nvSpPr>
        <p:spPr>
          <a:xfrm>
            <a:off x="841248" y="2157984"/>
            <a:ext cx="2560320" cy="411480"/>
          </a:xfrm>
          <a:prstGeom prst="rect">
            <a:avLst/>
          </a:prstGeom>
          <a:noFill/>
          <a:ln/>
        </p:spPr>
        <p:txBody>
          <a:bodyPr wrap="square" rtlCol="0" anchor="ctr"/>
          <a:lstStyle/>
          <a:p>
            <a:pPr marL="0" indent="0">
              <a:lnSpc>
                <a:spcPct val="130000"/>
              </a:lnSpc>
              <a:buNone/>
            </a:pPr>
            <a:r>
              <a:rPr lang="en-US" sz="800" dirty="0">
                <a:solidFill>
                  <a:srgbClr val="5F6368"/>
                </a:solidFill>
              </a:rPr>
              <a:t>High cost + low usage detected in 5+ projects via scatter analysis</a:t>
            </a:r>
            <a:endParaRPr lang="en-US" sz="800" dirty="0"/>
          </a:p>
        </p:txBody>
      </p:sp>
      <p:sp>
        <p:nvSpPr>
          <p:cNvPr id="26" name="Shape 24"/>
          <p:cNvSpPr/>
          <p:nvPr/>
        </p:nvSpPr>
        <p:spPr>
          <a:xfrm>
            <a:off x="3474720" y="2157984"/>
            <a:ext cx="960120" cy="256032"/>
          </a:xfrm>
          <a:prstGeom prst="rect">
            <a:avLst/>
          </a:prstGeom>
          <a:solidFill>
            <a:srgbClr val="FBBC04">
              <a:alpha val="18000"/>
            </a:srgbClr>
          </a:solidFill>
          <a:ln w="12700">
            <a:solidFill>
              <a:srgbClr val="FBBC04">
                <a:alpha val="40000"/>
              </a:srgbClr>
            </a:solidFill>
            <a:prstDash val="solid"/>
          </a:ln>
        </p:spPr>
      </p:sp>
      <p:sp>
        <p:nvSpPr>
          <p:cNvPr id="27" name="Text 25"/>
          <p:cNvSpPr/>
          <p:nvPr/>
        </p:nvSpPr>
        <p:spPr>
          <a:xfrm>
            <a:off x="3474720" y="2157984"/>
            <a:ext cx="960120" cy="256032"/>
          </a:xfrm>
          <a:prstGeom prst="rect">
            <a:avLst/>
          </a:prstGeom>
          <a:noFill/>
          <a:ln/>
        </p:spPr>
        <p:txBody>
          <a:bodyPr wrap="square" rtlCol="0" anchor="ctr"/>
          <a:lstStyle/>
          <a:p>
            <a:pPr marL="0" indent="0" algn="ctr">
              <a:buNone/>
            </a:pPr>
            <a:r>
              <a:rPr lang="en-US" sz="700" b="1" dirty="0">
                <a:solidFill>
                  <a:srgbClr val="FBBC04"/>
                </a:solidFill>
              </a:rPr>
              <a:t>Est. $377K/yr</a:t>
            </a:r>
            <a:endParaRPr lang="en-US" sz="700" dirty="0"/>
          </a:p>
        </p:txBody>
      </p:sp>
      <p:sp>
        <p:nvSpPr>
          <p:cNvPr id="35" name="Shape 33"/>
          <p:cNvSpPr/>
          <p:nvPr/>
        </p:nvSpPr>
        <p:spPr>
          <a:xfrm>
            <a:off x="274320" y="2852928"/>
            <a:ext cx="4251960" cy="868680"/>
          </a:xfrm>
          <a:prstGeom prst="rect">
            <a:avLst/>
          </a:prstGeom>
          <a:solidFill>
            <a:srgbClr val="FFFFFF"/>
          </a:solidFill>
          <a:ln w="6350">
            <a:solidFill>
              <a:srgbClr val="DADDE1"/>
            </a:solidFill>
            <a:prstDash val="solid"/>
          </a:ln>
          <a:effectLst>
            <a:outerShdw blurRad="50800" dist="25400" dir="8100000" algn="bl" rotWithShape="0">
              <a:srgbClr val="000000">
                <a:alpha val="8000"/>
              </a:srgbClr>
            </a:outerShdw>
          </a:effectLst>
        </p:spPr>
      </p:sp>
      <p:sp>
        <p:nvSpPr>
          <p:cNvPr id="36" name="Shape 34"/>
          <p:cNvSpPr/>
          <p:nvPr/>
        </p:nvSpPr>
        <p:spPr>
          <a:xfrm>
            <a:off x="274320" y="2852928"/>
            <a:ext cx="457200" cy="868680"/>
          </a:xfrm>
          <a:prstGeom prst="rect">
            <a:avLst/>
          </a:prstGeom>
          <a:solidFill>
            <a:srgbClr val="1A73E8">
              <a:alpha val="15000"/>
            </a:srgbClr>
          </a:solidFill>
          <a:ln w="12700">
            <a:solidFill>
              <a:srgbClr val="1A73E8"/>
            </a:solidFill>
            <a:prstDash val="solid"/>
          </a:ln>
        </p:spPr>
      </p:sp>
      <p:sp>
        <p:nvSpPr>
          <p:cNvPr id="37" name="Text 35"/>
          <p:cNvSpPr/>
          <p:nvPr/>
        </p:nvSpPr>
        <p:spPr>
          <a:xfrm>
            <a:off x="274320" y="2852928"/>
            <a:ext cx="457200" cy="868680"/>
          </a:xfrm>
          <a:prstGeom prst="rect">
            <a:avLst/>
          </a:prstGeom>
          <a:noFill/>
          <a:ln/>
        </p:spPr>
        <p:txBody>
          <a:bodyPr wrap="square" rtlCol="0" anchor="ctr"/>
          <a:lstStyle/>
          <a:p>
            <a:pPr marL="0" indent="0" algn="ctr">
              <a:buNone/>
            </a:pPr>
            <a:r>
              <a:rPr lang="en-US" sz="1100" b="1" dirty="0">
                <a:solidFill>
                  <a:srgbClr val="1A73E8"/>
                </a:solidFill>
              </a:rPr>
              <a:t>05</a:t>
            </a:r>
            <a:endParaRPr lang="en-US" sz="1100" dirty="0"/>
          </a:p>
        </p:txBody>
      </p:sp>
      <p:sp>
        <p:nvSpPr>
          <p:cNvPr id="38" name="Text 36"/>
          <p:cNvSpPr/>
          <p:nvPr/>
        </p:nvSpPr>
        <p:spPr>
          <a:xfrm>
            <a:off x="841248" y="2926080"/>
            <a:ext cx="3154680" cy="228600"/>
          </a:xfrm>
          <a:prstGeom prst="rect">
            <a:avLst/>
          </a:prstGeom>
          <a:noFill/>
          <a:ln/>
        </p:spPr>
        <p:txBody>
          <a:bodyPr wrap="square" rtlCol="0" anchor="ctr"/>
          <a:lstStyle/>
          <a:p>
            <a:pPr marL="0" indent="0">
              <a:buNone/>
            </a:pPr>
            <a:r>
              <a:rPr lang="en-US" sz="1000" b="1" dirty="0">
                <a:solidFill>
                  <a:srgbClr val="202124"/>
                </a:solidFill>
              </a:rPr>
              <a:t>Oversized Resources</a:t>
            </a:r>
            <a:endParaRPr lang="en-US" sz="1000" dirty="0"/>
          </a:p>
        </p:txBody>
      </p:sp>
      <p:sp>
        <p:nvSpPr>
          <p:cNvPr id="39" name="Text 37"/>
          <p:cNvSpPr/>
          <p:nvPr/>
        </p:nvSpPr>
        <p:spPr>
          <a:xfrm>
            <a:off x="841248" y="3182112"/>
            <a:ext cx="2560320" cy="411480"/>
          </a:xfrm>
          <a:prstGeom prst="rect">
            <a:avLst/>
          </a:prstGeom>
          <a:noFill/>
          <a:ln/>
        </p:spPr>
        <p:txBody>
          <a:bodyPr wrap="square" rtlCol="0" anchor="ctr"/>
          <a:lstStyle/>
          <a:p>
            <a:pPr marL="0" indent="0">
              <a:lnSpc>
                <a:spcPct val="130000"/>
              </a:lnSpc>
              <a:buNone/>
            </a:pPr>
            <a:r>
              <a:rPr lang="en-US" sz="800" dirty="0">
                <a:solidFill>
                  <a:srgbClr val="5F6368"/>
                </a:solidFill>
              </a:rPr>
              <a:t>VMs and DBs provisioned for peak load run 24/7 at full spec</a:t>
            </a:r>
            <a:endParaRPr lang="en-US" sz="800" dirty="0"/>
          </a:p>
        </p:txBody>
      </p:sp>
      <p:sp>
        <p:nvSpPr>
          <p:cNvPr id="40" name="Shape 38"/>
          <p:cNvSpPr/>
          <p:nvPr/>
        </p:nvSpPr>
        <p:spPr>
          <a:xfrm>
            <a:off x="3474720" y="3182112"/>
            <a:ext cx="960120" cy="256032"/>
          </a:xfrm>
          <a:prstGeom prst="rect">
            <a:avLst/>
          </a:prstGeom>
          <a:solidFill>
            <a:srgbClr val="1A73E8">
              <a:alpha val="18000"/>
            </a:srgbClr>
          </a:solidFill>
          <a:ln w="12700">
            <a:solidFill>
              <a:srgbClr val="1A73E8">
                <a:alpha val="40000"/>
              </a:srgbClr>
            </a:solidFill>
            <a:prstDash val="solid"/>
          </a:ln>
        </p:spPr>
      </p:sp>
      <p:sp>
        <p:nvSpPr>
          <p:cNvPr id="41" name="Text 39"/>
          <p:cNvSpPr/>
          <p:nvPr/>
        </p:nvSpPr>
        <p:spPr>
          <a:xfrm>
            <a:off x="3474720" y="3182112"/>
            <a:ext cx="960120" cy="256032"/>
          </a:xfrm>
          <a:prstGeom prst="rect">
            <a:avLst/>
          </a:prstGeom>
          <a:noFill/>
          <a:ln/>
        </p:spPr>
        <p:txBody>
          <a:bodyPr wrap="square" rtlCol="0" anchor="ctr"/>
          <a:lstStyle/>
          <a:p>
            <a:pPr marL="0" indent="0" algn="ctr">
              <a:buNone/>
            </a:pPr>
            <a:r>
              <a:rPr lang="en-US" sz="700" b="1" dirty="0">
                <a:solidFill>
                  <a:srgbClr val="1A73E8"/>
                </a:solidFill>
              </a:rPr>
              <a:t>20–35% wasted</a:t>
            </a:r>
            <a:endParaRPr lang="en-US" sz="700" dirty="0"/>
          </a:p>
        </p:txBody>
      </p:sp>
      <p:sp>
        <p:nvSpPr>
          <p:cNvPr id="42" name="Shape 40"/>
          <p:cNvSpPr/>
          <p:nvPr/>
        </p:nvSpPr>
        <p:spPr>
          <a:xfrm>
            <a:off x="4709160" y="2852928"/>
            <a:ext cx="4251960" cy="868680"/>
          </a:xfrm>
          <a:prstGeom prst="rect">
            <a:avLst/>
          </a:prstGeom>
          <a:solidFill>
            <a:srgbClr val="FFFFFF"/>
          </a:solidFill>
          <a:ln w="6350">
            <a:solidFill>
              <a:srgbClr val="DADDE1"/>
            </a:solidFill>
            <a:prstDash val="solid"/>
          </a:ln>
          <a:effectLst>
            <a:outerShdw blurRad="50800" dist="25400" dir="8100000" algn="bl" rotWithShape="0">
              <a:srgbClr val="000000">
                <a:alpha val="8000"/>
              </a:srgbClr>
            </a:outerShdw>
          </a:effectLst>
        </p:spPr>
      </p:sp>
      <p:sp>
        <p:nvSpPr>
          <p:cNvPr id="43" name="Shape 41"/>
          <p:cNvSpPr/>
          <p:nvPr/>
        </p:nvSpPr>
        <p:spPr>
          <a:xfrm>
            <a:off x="4709160" y="2852928"/>
            <a:ext cx="457200" cy="868680"/>
          </a:xfrm>
          <a:prstGeom prst="rect">
            <a:avLst/>
          </a:prstGeom>
          <a:solidFill>
            <a:srgbClr val="1A73E8">
              <a:alpha val="15000"/>
            </a:srgbClr>
          </a:solidFill>
          <a:ln w="12700">
            <a:solidFill>
              <a:srgbClr val="1A73E8"/>
            </a:solidFill>
            <a:prstDash val="solid"/>
          </a:ln>
        </p:spPr>
      </p:sp>
      <p:sp>
        <p:nvSpPr>
          <p:cNvPr id="44" name="Text 42"/>
          <p:cNvSpPr/>
          <p:nvPr/>
        </p:nvSpPr>
        <p:spPr>
          <a:xfrm>
            <a:off x="4709160" y="2852928"/>
            <a:ext cx="457200" cy="868680"/>
          </a:xfrm>
          <a:prstGeom prst="rect">
            <a:avLst/>
          </a:prstGeom>
          <a:noFill/>
          <a:ln/>
        </p:spPr>
        <p:txBody>
          <a:bodyPr wrap="square" rtlCol="0" anchor="ctr"/>
          <a:lstStyle/>
          <a:p>
            <a:pPr marL="0" indent="0" algn="ctr">
              <a:buNone/>
            </a:pPr>
            <a:r>
              <a:rPr lang="en-US" sz="1100" b="1" dirty="0">
                <a:solidFill>
                  <a:srgbClr val="1A73E8"/>
                </a:solidFill>
              </a:rPr>
              <a:t>06</a:t>
            </a:r>
            <a:endParaRPr lang="en-US" sz="1100" dirty="0"/>
          </a:p>
        </p:txBody>
      </p:sp>
      <p:sp>
        <p:nvSpPr>
          <p:cNvPr id="45" name="Text 43"/>
          <p:cNvSpPr/>
          <p:nvPr/>
        </p:nvSpPr>
        <p:spPr>
          <a:xfrm>
            <a:off x="5276088" y="2926080"/>
            <a:ext cx="3154680" cy="228600"/>
          </a:xfrm>
          <a:prstGeom prst="rect">
            <a:avLst/>
          </a:prstGeom>
          <a:noFill/>
          <a:ln/>
        </p:spPr>
        <p:txBody>
          <a:bodyPr wrap="square" rtlCol="0" anchor="ctr"/>
          <a:lstStyle/>
          <a:p>
            <a:pPr marL="0" indent="0">
              <a:buNone/>
            </a:pPr>
            <a:r>
              <a:rPr lang="en-US" sz="1000" b="1" dirty="0">
                <a:solidFill>
                  <a:srgbClr val="202124"/>
                </a:solidFill>
              </a:rPr>
              <a:t>Cross-Region Data Egress</a:t>
            </a:r>
            <a:endParaRPr lang="en-US" sz="1000" dirty="0"/>
          </a:p>
        </p:txBody>
      </p:sp>
      <p:sp>
        <p:nvSpPr>
          <p:cNvPr id="46" name="Text 44"/>
          <p:cNvSpPr/>
          <p:nvPr/>
        </p:nvSpPr>
        <p:spPr>
          <a:xfrm>
            <a:off x="5276088" y="3182112"/>
            <a:ext cx="2560320" cy="411480"/>
          </a:xfrm>
          <a:prstGeom prst="rect">
            <a:avLst/>
          </a:prstGeom>
          <a:noFill/>
          <a:ln/>
        </p:spPr>
        <p:txBody>
          <a:bodyPr wrap="square" rtlCol="0" anchor="ctr"/>
          <a:lstStyle/>
          <a:p>
            <a:pPr marL="0" indent="0">
              <a:lnSpc>
                <a:spcPct val="130000"/>
              </a:lnSpc>
              <a:buNone/>
            </a:pPr>
            <a:r>
              <a:rPr lang="en-US" sz="800" dirty="0">
                <a:solidFill>
                  <a:srgbClr val="5F6368"/>
                </a:solidFill>
              </a:rPr>
              <a:t>$406K in inter-region transfer — avoidable with architecture review</a:t>
            </a:r>
            <a:endParaRPr lang="en-US" sz="800" dirty="0"/>
          </a:p>
        </p:txBody>
      </p:sp>
      <p:sp>
        <p:nvSpPr>
          <p:cNvPr id="47" name="Shape 45"/>
          <p:cNvSpPr/>
          <p:nvPr/>
        </p:nvSpPr>
        <p:spPr>
          <a:xfrm>
            <a:off x="7909560" y="3182112"/>
            <a:ext cx="960120" cy="256032"/>
          </a:xfrm>
          <a:prstGeom prst="rect">
            <a:avLst/>
          </a:prstGeom>
          <a:solidFill>
            <a:srgbClr val="1A73E8">
              <a:alpha val="18000"/>
            </a:srgbClr>
          </a:solidFill>
          <a:ln w="12700">
            <a:solidFill>
              <a:srgbClr val="1A73E8">
                <a:alpha val="40000"/>
              </a:srgbClr>
            </a:solidFill>
            <a:prstDash val="solid"/>
          </a:ln>
        </p:spPr>
      </p:sp>
      <p:sp>
        <p:nvSpPr>
          <p:cNvPr id="48" name="Text 46"/>
          <p:cNvSpPr/>
          <p:nvPr/>
        </p:nvSpPr>
        <p:spPr>
          <a:xfrm>
            <a:off x="7909560" y="3182112"/>
            <a:ext cx="960120" cy="256032"/>
          </a:xfrm>
          <a:prstGeom prst="rect">
            <a:avLst/>
          </a:prstGeom>
          <a:noFill/>
          <a:ln/>
        </p:spPr>
        <p:txBody>
          <a:bodyPr wrap="square" rtlCol="0" anchor="ctr"/>
          <a:lstStyle/>
          <a:p>
            <a:pPr marL="0" indent="0" algn="ctr">
              <a:buNone/>
            </a:pPr>
            <a:r>
              <a:rPr lang="en-US" sz="700" b="1" dirty="0">
                <a:solidFill>
                  <a:srgbClr val="1A73E8"/>
                </a:solidFill>
              </a:rPr>
              <a:t>$406K/17mo</a:t>
            </a:r>
            <a:endParaRPr lang="en-US" sz="700" dirty="0"/>
          </a:p>
        </p:txBody>
      </p:sp>
      <p:sp>
        <p:nvSpPr>
          <p:cNvPr id="63" name="Shape 47"/>
          <p:cNvSpPr/>
          <p:nvPr/>
        </p:nvSpPr>
        <p:spPr>
          <a:xfrm>
            <a:off x="4709160" y="1792224"/>
            <a:ext cx="4251960" cy="868680"/>
          </a:xfrm>
          <a:prstGeom prst="rect">
            <a:avLst/>
          </a:prstGeom>
          <a:solidFill>
            <a:srgbClr val="FFFFFF"/>
          </a:solidFill>
          <a:ln w="6350">
            <a:solidFill>
              <a:srgbClr val="DADDE1"/>
            </a:solidFill>
            <a:prstDash val="solid"/>
          </a:ln>
          <a:effectLst>
            <a:outerShdw blurRad="50800" dist="25400" dir="8100000" algn="bl" rotWithShape="0">
              <a:srgbClr val="000000">
                <a:alpha val="8000"/>
              </a:srgbClr>
            </a:outerShdw>
          </a:effectLst>
        </p:spPr>
      </p:sp>
      <p:sp>
        <p:nvSpPr>
          <p:cNvPr id="64" name="Shape 48"/>
          <p:cNvSpPr/>
          <p:nvPr/>
        </p:nvSpPr>
        <p:spPr>
          <a:xfrm>
            <a:off x="4709160" y="1792224"/>
            <a:ext cx="457200" cy="868680"/>
          </a:xfrm>
          <a:prstGeom prst="rect">
            <a:avLst/>
          </a:prstGeom>
          <a:solidFill>
            <a:srgbClr val="4285F4">
              <a:alpha val="15000"/>
            </a:srgbClr>
          </a:solidFill>
          <a:ln w="12700">
            <a:solidFill>
              <a:srgbClr val="4285F4"/>
            </a:solidFill>
            <a:prstDash val="solid"/>
          </a:ln>
        </p:spPr>
      </p:sp>
      <p:sp>
        <p:nvSpPr>
          <p:cNvPr id="65" name="Text 49"/>
          <p:cNvSpPr/>
          <p:nvPr/>
        </p:nvSpPr>
        <p:spPr>
          <a:xfrm>
            <a:off x="4709160" y="1792224"/>
            <a:ext cx="457200" cy="868680"/>
          </a:xfrm>
          <a:prstGeom prst="rect">
            <a:avLst/>
          </a:prstGeom>
          <a:noFill/>
          <a:ln/>
        </p:spPr>
        <p:txBody>
          <a:bodyPr wrap="square" rtlCol="0" anchor="ctr"/>
          <a:lstStyle/>
          <a:p>
            <a:pPr marL="0" indent="0" algn="ctr">
              <a:buNone/>
            </a:pPr>
            <a:r>
              <a:rPr lang="en-US" sz="1100" b="1" dirty="0">
                <a:solidFill>
                  <a:srgbClr val="4285F4"/>
                </a:solidFill>
              </a:rPr>
              <a:t>06</a:t>
            </a:r>
            <a:endParaRPr lang="en-US" sz="1100" dirty="0"/>
          </a:p>
        </p:txBody>
      </p:sp>
      <p:sp>
        <p:nvSpPr>
          <p:cNvPr id="66" name="Text 50"/>
          <p:cNvSpPr/>
          <p:nvPr/>
        </p:nvSpPr>
        <p:spPr>
          <a:xfrm>
            <a:off x="5276088" y="1865376"/>
            <a:ext cx="3154680" cy="228600"/>
          </a:xfrm>
          <a:prstGeom prst="rect">
            <a:avLst/>
          </a:prstGeom>
          <a:noFill/>
          <a:ln/>
        </p:spPr>
        <p:txBody>
          <a:bodyPr wrap="square" rtlCol="0" anchor="ctr"/>
          <a:lstStyle/>
          <a:p>
            <a:pPr marL="0" indent="0">
              <a:buNone/>
            </a:pPr>
            <a:r>
              <a:rPr lang="en-US" sz="1000" b="1" dirty="0">
                <a:solidFill>
                  <a:srgbClr val="202124"/>
                </a:solidFill>
              </a:rPr>
              <a:t>Non-Prod Env Overrun</a:t>
            </a:r>
            <a:endParaRPr lang="en-US" sz="1000" dirty="0"/>
          </a:p>
        </p:txBody>
      </p:sp>
      <p:sp>
        <p:nvSpPr>
          <p:cNvPr id="67" name="Text 51"/>
          <p:cNvSpPr/>
          <p:nvPr/>
        </p:nvSpPr>
        <p:spPr>
          <a:xfrm>
            <a:off x="5276088" y="2121408"/>
            <a:ext cx="2560320" cy="411480"/>
          </a:xfrm>
          <a:prstGeom prst="rect">
            <a:avLst/>
          </a:prstGeom>
          <a:noFill/>
          <a:ln/>
        </p:spPr>
        <p:txBody>
          <a:bodyPr wrap="square" rtlCol="0" anchor="ctr"/>
          <a:lstStyle/>
          <a:p>
            <a:pPr marL="0" indent="0">
              <a:lnSpc>
                <a:spcPct val="130000"/>
              </a:lnSpc>
              <a:buNone/>
            </a:pPr>
            <a:r>
              <a:rPr lang="en-US" sz="800" dirty="0">
                <a:solidFill>
                  <a:srgbClr val="5F6368"/>
                </a:solidFill>
              </a:rPr>
              <a:t>Dev/Staging/Sandbox environments running at near-prod scale</a:t>
            </a:r>
            <a:endParaRPr lang="en-US" sz="800" dirty="0"/>
          </a:p>
        </p:txBody>
      </p:sp>
      <p:sp>
        <p:nvSpPr>
          <p:cNvPr id="68" name="Shape 52"/>
          <p:cNvSpPr/>
          <p:nvPr/>
        </p:nvSpPr>
        <p:spPr>
          <a:xfrm>
            <a:off x="7909560" y="2121408"/>
            <a:ext cx="960120" cy="256032"/>
          </a:xfrm>
          <a:prstGeom prst="rect">
            <a:avLst/>
          </a:prstGeom>
          <a:solidFill>
            <a:srgbClr val="4285F4">
              <a:alpha val="18000"/>
            </a:srgbClr>
          </a:solidFill>
          <a:ln w="12700">
            <a:solidFill>
              <a:srgbClr val="4285F4">
                <a:alpha val="40000"/>
              </a:srgbClr>
            </a:solidFill>
            <a:prstDash val="solid"/>
          </a:ln>
        </p:spPr>
      </p:sp>
      <p:sp>
        <p:nvSpPr>
          <p:cNvPr id="69" name="Text 53"/>
          <p:cNvSpPr/>
          <p:nvPr/>
        </p:nvSpPr>
        <p:spPr>
          <a:xfrm>
            <a:off x="7909560" y="2121408"/>
            <a:ext cx="960120" cy="256032"/>
          </a:xfrm>
          <a:prstGeom prst="rect">
            <a:avLst/>
          </a:prstGeom>
          <a:noFill/>
          <a:ln/>
        </p:spPr>
        <p:txBody>
          <a:bodyPr wrap="square" rtlCol="0" anchor="ctr"/>
          <a:lstStyle/>
          <a:p>
            <a:pPr marL="0" indent="0" algn="ctr">
              <a:buNone/>
            </a:pPr>
            <a:r>
              <a:rPr lang="en-US" sz="700" b="1" dirty="0">
                <a:solidFill>
                  <a:srgbClr val="4285F4"/>
                </a:solidFill>
              </a:rPr>
              <a:t>~30% of spend</a:t>
            </a:r>
            <a:endParaRPr lang="en-US" sz="7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8FBFF"/>
        </a:solidFill>
        <a:effectLst/>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34A853"/>
          </a:solidFill>
          <a:ln w="12700">
            <a:solidFill>
              <a:srgbClr val="34A853"/>
            </a:solidFill>
            <a:prstDash val="solid"/>
          </a:ln>
        </p:spPr>
      </p:sp>
      <p:sp>
        <p:nvSpPr>
          <p:cNvPr id="3" name="Shape 1"/>
          <p:cNvSpPr/>
          <p:nvPr/>
        </p:nvSpPr>
        <p:spPr>
          <a:xfrm>
            <a:off x="0" y="0"/>
            <a:ext cx="685800" cy="685800"/>
          </a:xfrm>
          <a:prstGeom prst="rect">
            <a:avLst/>
          </a:prstGeom>
          <a:solidFill>
            <a:srgbClr val="0D47A1"/>
          </a:solidFill>
          <a:ln w="12700">
            <a:solidFill>
              <a:srgbClr val="0D47A1"/>
            </a:solidFill>
            <a:prstDash val="solid"/>
          </a:ln>
        </p:spPr>
      </p:sp>
      <p:sp>
        <p:nvSpPr>
          <p:cNvPr id="4" name="Text 2"/>
          <p:cNvSpPr/>
          <p:nvPr/>
        </p:nvSpPr>
        <p:spPr>
          <a:xfrm>
            <a:off x="0" y="0"/>
            <a:ext cx="685800" cy="685800"/>
          </a:xfrm>
          <a:prstGeom prst="rect">
            <a:avLst/>
          </a:prstGeom>
          <a:noFill/>
          <a:ln/>
        </p:spPr>
        <p:txBody>
          <a:bodyPr wrap="square" rtlCol="0" anchor="ctr"/>
          <a:lstStyle/>
          <a:p>
            <a:pPr marL="0" indent="0" algn="ctr">
              <a:buNone/>
            </a:pPr>
            <a:r>
              <a:rPr lang="en-US" sz="2000" b="1" dirty="0">
                <a:solidFill>
                  <a:srgbClr val="FFFFFF"/>
                </a:solidFill>
              </a:rPr>
              <a:t>G</a:t>
            </a:r>
            <a:endParaRPr lang="en-US" sz="2000" dirty="0"/>
          </a:p>
        </p:txBody>
      </p:sp>
      <p:sp>
        <p:nvSpPr>
          <p:cNvPr id="5" name="Text 3"/>
          <p:cNvSpPr/>
          <p:nvPr/>
        </p:nvSpPr>
        <p:spPr>
          <a:xfrm>
            <a:off x="777240" y="73152"/>
            <a:ext cx="6858000" cy="320040"/>
          </a:xfrm>
          <a:prstGeom prst="rect">
            <a:avLst/>
          </a:prstGeom>
          <a:noFill/>
          <a:ln/>
        </p:spPr>
        <p:txBody>
          <a:bodyPr wrap="square" rtlCol="0" anchor="ctr"/>
          <a:lstStyle/>
          <a:p>
            <a:pPr marL="0" indent="0">
              <a:buNone/>
            </a:pPr>
            <a:r>
              <a:rPr lang="en-US" sz="1400" b="1" dirty="0">
                <a:solidFill>
                  <a:srgbClr val="FFFFFF"/>
                </a:solidFill>
              </a:rPr>
              <a:t>Proposed Solutions</a:t>
            </a:r>
            <a:endParaRPr lang="en-US" sz="1400" dirty="0"/>
          </a:p>
        </p:txBody>
      </p:sp>
      <p:sp>
        <p:nvSpPr>
          <p:cNvPr id="6" name="Text 4"/>
          <p:cNvSpPr/>
          <p:nvPr/>
        </p:nvSpPr>
        <p:spPr>
          <a:xfrm>
            <a:off x="777240" y="384048"/>
            <a:ext cx="6858000" cy="228600"/>
          </a:xfrm>
          <a:prstGeom prst="rect">
            <a:avLst/>
          </a:prstGeom>
          <a:noFill/>
          <a:ln/>
        </p:spPr>
        <p:txBody>
          <a:bodyPr wrap="square" rtlCol="0" anchor="ctr"/>
          <a:lstStyle/>
          <a:p>
            <a:pPr marL="0" indent="0">
              <a:buNone/>
            </a:pPr>
            <a:r>
              <a:rPr lang="en-US" sz="900" dirty="0">
                <a:solidFill>
                  <a:srgbClr val="FFFFFF"/>
                </a:solidFill>
              </a:rPr>
              <a:t>FinOps framework and actionable recommendations for GCP cost optimization</a:t>
            </a:r>
            <a:endParaRPr lang="en-US" sz="900" dirty="0"/>
          </a:p>
        </p:txBody>
      </p:sp>
      <p:sp>
        <p:nvSpPr>
          <p:cNvPr id="7" name="Shape 5"/>
          <p:cNvSpPr/>
          <p:nvPr/>
        </p:nvSpPr>
        <p:spPr>
          <a:xfrm>
            <a:off x="274320" y="804672"/>
            <a:ext cx="2697480" cy="1828800"/>
          </a:xfrm>
          <a:prstGeom prst="rect">
            <a:avLst/>
          </a:prstGeom>
          <a:solidFill>
            <a:srgbClr val="FFFFFF"/>
          </a:solidFill>
          <a:ln w="6350">
            <a:solidFill>
              <a:srgbClr val="DADDE1"/>
            </a:solidFill>
            <a:prstDash val="solid"/>
          </a:ln>
          <a:effectLst>
            <a:outerShdw blurRad="50800" dist="25400" dir="8100000" algn="bl" rotWithShape="0">
              <a:srgbClr val="000000">
                <a:alpha val="8000"/>
              </a:srgbClr>
            </a:outerShdw>
          </a:effectLst>
        </p:spPr>
      </p:sp>
      <p:sp>
        <p:nvSpPr>
          <p:cNvPr id="8" name="Shape 6"/>
          <p:cNvSpPr/>
          <p:nvPr/>
        </p:nvSpPr>
        <p:spPr>
          <a:xfrm>
            <a:off x="274320" y="804672"/>
            <a:ext cx="54864" cy="1828800"/>
          </a:xfrm>
          <a:prstGeom prst="rect">
            <a:avLst/>
          </a:prstGeom>
          <a:solidFill>
            <a:srgbClr val="34A853"/>
          </a:solidFill>
          <a:ln w="12700">
            <a:solidFill>
              <a:srgbClr val="34A853"/>
            </a:solidFill>
            <a:prstDash val="solid"/>
          </a:ln>
        </p:spPr>
      </p:sp>
      <p:sp>
        <p:nvSpPr>
          <p:cNvPr id="9" name="Shape 7"/>
          <p:cNvSpPr/>
          <p:nvPr/>
        </p:nvSpPr>
        <p:spPr>
          <a:xfrm>
            <a:off x="438912" y="914400"/>
            <a:ext cx="384048" cy="384048"/>
          </a:xfrm>
          <a:prstGeom prst="rect">
            <a:avLst/>
          </a:prstGeom>
          <a:solidFill>
            <a:srgbClr val="34A853">
              <a:alpha val="15000"/>
            </a:srgbClr>
          </a:solidFill>
          <a:ln w="12700">
            <a:solidFill>
              <a:srgbClr val="34A853">
                <a:alpha val="40000"/>
              </a:srgbClr>
            </a:solidFill>
            <a:prstDash val="solid"/>
          </a:ln>
        </p:spPr>
      </p:sp>
      <p:sp>
        <p:nvSpPr>
          <p:cNvPr id="10" name="Text 8"/>
          <p:cNvSpPr/>
          <p:nvPr/>
        </p:nvSpPr>
        <p:spPr>
          <a:xfrm>
            <a:off x="438912" y="914400"/>
            <a:ext cx="384048" cy="384048"/>
          </a:xfrm>
          <a:prstGeom prst="rect">
            <a:avLst/>
          </a:prstGeom>
          <a:noFill/>
          <a:ln/>
        </p:spPr>
        <p:txBody>
          <a:bodyPr wrap="square" rtlCol="0" anchor="ctr"/>
          <a:lstStyle/>
          <a:p>
            <a:pPr marL="0" indent="0" algn="ctr">
              <a:buNone/>
            </a:pPr>
            <a:r>
              <a:rPr lang="en-US" sz="1300" b="1" dirty="0">
                <a:solidFill>
                  <a:srgbClr val="34A853"/>
                </a:solidFill>
              </a:rPr>
              <a:t>✓</a:t>
            </a:r>
            <a:endParaRPr lang="en-US" sz="1300" dirty="0"/>
          </a:p>
        </p:txBody>
      </p:sp>
      <p:sp>
        <p:nvSpPr>
          <p:cNvPr id="11" name="Text 9"/>
          <p:cNvSpPr/>
          <p:nvPr/>
        </p:nvSpPr>
        <p:spPr>
          <a:xfrm>
            <a:off x="438912" y="1371600"/>
            <a:ext cx="2423160" cy="274320"/>
          </a:xfrm>
          <a:prstGeom prst="rect">
            <a:avLst/>
          </a:prstGeom>
          <a:noFill/>
          <a:ln/>
        </p:spPr>
        <p:txBody>
          <a:bodyPr wrap="square" rtlCol="0" anchor="ctr"/>
          <a:lstStyle/>
          <a:p>
            <a:pPr marL="0" indent="0">
              <a:buNone/>
            </a:pPr>
            <a:r>
              <a:rPr lang="en-US" sz="950" b="1" dirty="0">
                <a:solidFill>
                  <a:srgbClr val="202124"/>
                </a:solidFill>
              </a:rPr>
              <a:t>Enforce Resource Tagging</a:t>
            </a:r>
            <a:endParaRPr lang="en-US" sz="950" dirty="0"/>
          </a:p>
        </p:txBody>
      </p:sp>
      <p:sp>
        <p:nvSpPr>
          <p:cNvPr id="12" name="Text 10"/>
          <p:cNvSpPr/>
          <p:nvPr/>
        </p:nvSpPr>
        <p:spPr>
          <a:xfrm>
            <a:off x="438912" y="1700784"/>
            <a:ext cx="2423160" cy="658368"/>
          </a:xfrm>
          <a:prstGeom prst="rect">
            <a:avLst/>
          </a:prstGeom>
          <a:noFill/>
          <a:ln/>
        </p:spPr>
        <p:txBody>
          <a:bodyPr wrap="square" rtlCol="0" anchor="ctr"/>
          <a:lstStyle/>
          <a:p>
            <a:pPr marL="0" indent="0">
              <a:lnSpc>
                <a:spcPct val="135000"/>
              </a:lnSpc>
              <a:buNone/>
            </a:pPr>
            <a:r>
              <a:rPr lang="en-US" sz="800" dirty="0">
                <a:solidFill>
                  <a:srgbClr val="5F6368"/>
                </a:solidFill>
              </a:rPr>
              <a:t>Mandate Project_ID labels on all GCP resources via org-level policy. Untagged resources automatically flagged in dashboard — enables team chargeback.</a:t>
            </a:r>
            <a:endParaRPr lang="en-US" sz="800" dirty="0"/>
          </a:p>
        </p:txBody>
      </p:sp>
      <p:sp>
        <p:nvSpPr>
          <p:cNvPr id="13" name="Shape 11"/>
          <p:cNvSpPr/>
          <p:nvPr/>
        </p:nvSpPr>
        <p:spPr>
          <a:xfrm>
            <a:off x="438912" y="2395728"/>
            <a:ext cx="2423160" cy="201168"/>
          </a:xfrm>
          <a:prstGeom prst="rect">
            <a:avLst/>
          </a:prstGeom>
          <a:solidFill>
            <a:srgbClr val="34A853">
              <a:alpha val="15000"/>
            </a:srgbClr>
          </a:solidFill>
          <a:ln w="12700">
            <a:solidFill>
              <a:srgbClr val="34A853">
                <a:alpha val="40000"/>
              </a:srgbClr>
            </a:solidFill>
            <a:prstDash val="solid"/>
          </a:ln>
        </p:spPr>
      </p:sp>
      <p:sp>
        <p:nvSpPr>
          <p:cNvPr id="14" name="Text 12"/>
          <p:cNvSpPr/>
          <p:nvPr/>
        </p:nvSpPr>
        <p:spPr>
          <a:xfrm>
            <a:off x="438912" y="2395728"/>
            <a:ext cx="2423160" cy="201168"/>
          </a:xfrm>
          <a:prstGeom prst="rect">
            <a:avLst/>
          </a:prstGeom>
          <a:noFill/>
          <a:ln/>
        </p:spPr>
        <p:txBody>
          <a:bodyPr wrap="square" rtlCol="0" anchor="ctr"/>
          <a:lstStyle/>
          <a:p>
            <a:pPr marL="0" indent="0" algn="ctr">
              <a:buNone/>
            </a:pPr>
            <a:r>
              <a:rPr lang="en-US" sz="800" b="1" dirty="0">
                <a:solidFill>
                  <a:srgbClr val="34A853"/>
                </a:solidFill>
              </a:rPr>
              <a:t>100% cost attribution</a:t>
            </a:r>
            <a:endParaRPr lang="en-US" sz="800" dirty="0"/>
          </a:p>
        </p:txBody>
      </p:sp>
      <p:sp>
        <p:nvSpPr>
          <p:cNvPr id="15" name="Shape 13"/>
          <p:cNvSpPr/>
          <p:nvPr/>
        </p:nvSpPr>
        <p:spPr>
          <a:xfrm>
            <a:off x="3154680" y="804672"/>
            <a:ext cx="2697480" cy="1828800"/>
          </a:xfrm>
          <a:prstGeom prst="rect">
            <a:avLst/>
          </a:prstGeom>
          <a:solidFill>
            <a:srgbClr val="FFFFFF"/>
          </a:solidFill>
          <a:ln w="6350">
            <a:solidFill>
              <a:srgbClr val="DADDE1"/>
            </a:solidFill>
            <a:prstDash val="solid"/>
          </a:ln>
          <a:effectLst>
            <a:outerShdw blurRad="50800" dist="25400" dir="8100000" algn="bl" rotWithShape="0">
              <a:srgbClr val="000000">
                <a:alpha val="8000"/>
              </a:srgbClr>
            </a:outerShdw>
          </a:effectLst>
        </p:spPr>
      </p:sp>
      <p:sp>
        <p:nvSpPr>
          <p:cNvPr id="16" name="Shape 14"/>
          <p:cNvSpPr/>
          <p:nvPr/>
        </p:nvSpPr>
        <p:spPr>
          <a:xfrm>
            <a:off x="3154680" y="804672"/>
            <a:ext cx="54864" cy="1828800"/>
          </a:xfrm>
          <a:prstGeom prst="rect">
            <a:avLst/>
          </a:prstGeom>
          <a:solidFill>
            <a:srgbClr val="1A73E8"/>
          </a:solidFill>
          <a:ln w="12700">
            <a:solidFill>
              <a:srgbClr val="1A73E8"/>
            </a:solidFill>
            <a:prstDash val="solid"/>
          </a:ln>
        </p:spPr>
      </p:sp>
      <p:sp>
        <p:nvSpPr>
          <p:cNvPr id="17" name="Shape 15"/>
          <p:cNvSpPr/>
          <p:nvPr/>
        </p:nvSpPr>
        <p:spPr>
          <a:xfrm>
            <a:off x="3319272" y="914400"/>
            <a:ext cx="384048" cy="384048"/>
          </a:xfrm>
          <a:prstGeom prst="rect">
            <a:avLst/>
          </a:prstGeom>
          <a:solidFill>
            <a:srgbClr val="1A73E8">
              <a:alpha val="15000"/>
            </a:srgbClr>
          </a:solidFill>
          <a:ln w="12700">
            <a:solidFill>
              <a:srgbClr val="1A73E8">
                <a:alpha val="40000"/>
              </a:srgbClr>
            </a:solidFill>
            <a:prstDash val="solid"/>
          </a:ln>
        </p:spPr>
      </p:sp>
      <p:sp>
        <p:nvSpPr>
          <p:cNvPr id="18" name="Text 16"/>
          <p:cNvSpPr/>
          <p:nvPr/>
        </p:nvSpPr>
        <p:spPr>
          <a:xfrm>
            <a:off x="3319272" y="914400"/>
            <a:ext cx="384048" cy="384048"/>
          </a:xfrm>
          <a:prstGeom prst="rect">
            <a:avLst/>
          </a:prstGeom>
          <a:noFill/>
          <a:ln/>
        </p:spPr>
        <p:txBody>
          <a:bodyPr wrap="square" rtlCol="0" anchor="ctr"/>
          <a:lstStyle/>
          <a:p>
            <a:pPr marL="0" indent="0" algn="ctr">
              <a:buNone/>
            </a:pPr>
            <a:r>
              <a:rPr lang="en-US" sz="1300" b="1" dirty="0">
                <a:solidFill>
                  <a:srgbClr val="1A73E8"/>
                </a:solidFill>
              </a:rPr>
              <a:t>⬡</a:t>
            </a:r>
            <a:endParaRPr lang="en-US" sz="1300" dirty="0"/>
          </a:p>
        </p:txBody>
      </p:sp>
      <p:sp>
        <p:nvSpPr>
          <p:cNvPr id="19" name="Text 17"/>
          <p:cNvSpPr/>
          <p:nvPr/>
        </p:nvSpPr>
        <p:spPr>
          <a:xfrm>
            <a:off x="3319272" y="1371600"/>
            <a:ext cx="2423160" cy="274320"/>
          </a:xfrm>
          <a:prstGeom prst="rect">
            <a:avLst/>
          </a:prstGeom>
          <a:noFill/>
          <a:ln/>
        </p:spPr>
        <p:txBody>
          <a:bodyPr wrap="square" rtlCol="0" anchor="ctr"/>
          <a:lstStyle/>
          <a:p>
            <a:pPr marL="0" indent="0">
              <a:buNone/>
            </a:pPr>
            <a:r>
              <a:rPr lang="en-US" sz="950" b="1" dirty="0">
                <a:solidFill>
                  <a:srgbClr val="202124"/>
                </a:solidFill>
              </a:rPr>
              <a:t>BigQuery View-Based Cleaning</a:t>
            </a:r>
            <a:endParaRPr lang="en-US" sz="950" dirty="0"/>
          </a:p>
        </p:txBody>
      </p:sp>
      <p:sp>
        <p:nvSpPr>
          <p:cNvPr id="20" name="Text 18"/>
          <p:cNvSpPr/>
          <p:nvPr/>
        </p:nvSpPr>
        <p:spPr>
          <a:xfrm>
            <a:off x="3319272" y="1700784"/>
            <a:ext cx="2423160" cy="658368"/>
          </a:xfrm>
          <a:prstGeom prst="rect">
            <a:avLst/>
          </a:prstGeom>
          <a:noFill/>
          <a:ln/>
        </p:spPr>
        <p:txBody>
          <a:bodyPr wrap="square" rtlCol="0" anchor="ctr"/>
          <a:lstStyle/>
          <a:p>
            <a:pPr marL="0" indent="0">
              <a:lnSpc>
                <a:spcPct val="135000"/>
              </a:lnSpc>
              <a:buNone/>
            </a:pPr>
            <a:r>
              <a:rPr lang="en-US" sz="800" dirty="0">
                <a:solidFill>
                  <a:srgbClr val="5F6368"/>
                </a:solidFill>
              </a:rPr>
              <a:t>All 6 data quality issues resolved at source using BigQuery SQL views. COALESCE, TRIM, CASE WHEN — cleaning happens before Power BI loads data.</a:t>
            </a:r>
            <a:endParaRPr lang="en-US" sz="800" dirty="0"/>
          </a:p>
        </p:txBody>
      </p:sp>
      <p:sp>
        <p:nvSpPr>
          <p:cNvPr id="21" name="Shape 19"/>
          <p:cNvSpPr/>
          <p:nvPr/>
        </p:nvSpPr>
        <p:spPr>
          <a:xfrm>
            <a:off x="3319272" y="2395728"/>
            <a:ext cx="2423160" cy="201168"/>
          </a:xfrm>
          <a:prstGeom prst="rect">
            <a:avLst/>
          </a:prstGeom>
          <a:solidFill>
            <a:srgbClr val="1A73E8">
              <a:alpha val="15000"/>
            </a:srgbClr>
          </a:solidFill>
          <a:ln w="12700">
            <a:solidFill>
              <a:srgbClr val="1A73E8">
                <a:alpha val="40000"/>
              </a:srgbClr>
            </a:solidFill>
            <a:prstDash val="solid"/>
          </a:ln>
        </p:spPr>
      </p:sp>
      <p:sp>
        <p:nvSpPr>
          <p:cNvPr id="22" name="Text 20"/>
          <p:cNvSpPr/>
          <p:nvPr/>
        </p:nvSpPr>
        <p:spPr>
          <a:xfrm>
            <a:off x="3319272" y="2395728"/>
            <a:ext cx="2423160" cy="201168"/>
          </a:xfrm>
          <a:prstGeom prst="rect">
            <a:avLst/>
          </a:prstGeom>
          <a:noFill/>
          <a:ln/>
        </p:spPr>
        <p:txBody>
          <a:bodyPr wrap="square" rtlCol="0" anchor="ctr"/>
          <a:lstStyle/>
          <a:p>
            <a:pPr marL="0" indent="0" algn="ctr">
              <a:buNone/>
            </a:pPr>
            <a:r>
              <a:rPr lang="en-US" sz="800" b="1" dirty="0">
                <a:solidFill>
                  <a:srgbClr val="1A73E8"/>
                </a:solidFill>
              </a:rPr>
              <a:t>Zero dirty rows in BI layer</a:t>
            </a:r>
            <a:endParaRPr lang="en-US" sz="800" dirty="0"/>
          </a:p>
        </p:txBody>
      </p:sp>
      <p:sp>
        <p:nvSpPr>
          <p:cNvPr id="23" name="Shape 21"/>
          <p:cNvSpPr/>
          <p:nvPr/>
        </p:nvSpPr>
        <p:spPr>
          <a:xfrm>
            <a:off x="6035040" y="804672"/>
            <a:ext cx="2697480" cy="1828800"/>
          </a:xfrm>
          <a:prstGeom prst="rect">
            <a:avLst/>
          </a:prstGeom>
          <a:solidFill>
            <a:srgbClr val="FFFFFF"/>
          </a:solidFill>
          <a:ln w="6350">
            <a:solidFill>
              <a:srgbClr val="DADDE1"/>
            </a:solidFill>
            <a:prstDash val="solid"/>
          </a:ln>
          <a:effectLst>
            <a:outerShdw blurRad="50800" dist="25400" dir="8100000" algn="bl" rotWithShape="0">
              <a:srgbClr val="000000">
                <a:alpha val="8000"/>
              </a:srgbClr>
            </a:outerShdw>
          </a:effectLst>
        </p:spPr>
      </p:sp>
      <p:sp>
        <p:nvSpPr>
          <p:cNvPr id="24" name="Shape 22"/>
          <p:cNvSpPr/>
          <p:nvPr/>
        </p:nvSpPr>
        <p:spPr>
          <a:xfrm>
            <a:off x="6035040" y="804672"/>
            <a:ext cx="54864" cy="1828800"/>
          </a:xfrm>
          <a:prstGeom prst="rect">
            <a:avLst/>
          </a:prstGeom>
          <a:solidFill>
            <a:srgbClr val="FBBC04"/>
          </a:solidFill>
          <a:ln w="12700">
            <a:solidFill>
              <a:srgbClr val="FBBC04"/>
            </a:solidFill>
            <a:prstDash val="solid"/>
          </a:ln>
        </p:spPr>
      </p:sp>
      <p:sp>
        <p:nvSpPr>
          <p:cNvPr id="25" name="Shape 23"/>
          <p:cNvSpPr/>
          <p:nvPr/>
        </p:nvSpPr>
        <p:spPr>
          <a:xfrm>
            <a:off x="6199632" y="914400"/>
            <a:ext cx="384048" cy="384048"/>
          </a:xfrm>
          <a:prstGeom prst="rect">
            <a:avLst/>
          </a:prstGeom>
          <a:solidFill>
            <a:srgbClr val="FBBC04">
              <a:alpha val="15000"/>
            </a:srgbClr>
          </a:solidFill>
          <a:ln w="12700">
            <a:solidFill>
              <a:srgbClr val="FBBC04">
                <a:alpha val="40000"/>
              </a:srgbClr>
            </a:solidFill>
            <a:prstDash val="solid"/>
          </a:ln>
        </p:spPr>
      </p:sp>
      <p:sp>
        <p:nvSpPr>
          <p:cNvPr id="26" name="Text 24"/>
          <p:cNvSpPr/>
          <p:nvPr/>
        </p:nvSpPr>
        <p:spPr>
          <a:xfrm>
            <a:off x="6199632" y="914400"/>
            <a:ext cx="384048" cy="384048"/>
          </a:xfrm>
          <a:prstGeom prst="rect">
            <a:avLst/>
          </a:prstGeom>
          <a:noFill/>
          <a:ln/>
        </p:spPr>
        <p:txBody>
          <a:bodyPr wrap="square" rtlCol="0" anchor="ctr"/>
          <a:lstStyle/>
          <a:p>
            <a:pPr marL="0" indent="0" algn="ctr">
              <a:buNone/>
            </a:pPr>
            <a:r>
              <a:rPr lang="en-US" sz="1300" b="1" dirty="0">
                <a:solidFill>
                  <a:srgbClr val="FBBC04"/>
                </a:solidFill>
              </a:rPr>
              <a:t>◎</a:t>
            </a:r>
            <a:endParaRPr lang="en-US" sz="1300" dirty="0"/>
          </a:p>
        </p:txBody>
      </p:sp>
      <p:sp>
        <p:nvSpPr>
          <p:cNvPr id="27" name="Text 25"/>
          <p:cNvSpPr/>
          <p:nvPr/>
        </p:nvSpPr>
        <p:spPr>
          <a:xfrm>
            <a:off x="6199632" y="1371600"/>
            <a:ext cx="2423160" cy="274320"/>
          </a:xfrm>
          <a:prstGeom prst="rect">
            <a:avLst/>
          </a:prstGeom>
          <a:noFill/>
          <a:ln/>
        </p:spPr>
        <p:txBody>
          <a:bodyPr wrap="square" rtlCol="0" anchor="ctr"/>
          <a:lstStyle/>
          <a:p>
            <a:pPr marL="0" indent="0">
              <a:buNone/>
            </a:pPr>
            <a:r>
              <a:rPr lang="en-US" sz="950" b="1" dirty="0">
                <a:solidFill>
                  <a:srgbClr val="202124"/>
                </a:solidFill>
              </a:rPr>
              <a:t>Idle Resource Rightsizing</a:t>
            </a:r>
            <a:endParaRPr lang="en-US" sz="950" dirty="0"/>
          </a:p>
        </p:txBody>
      </p:sp>
      <p:sp>
        <p:nvSpPr>
          <p:cNvPr id="28" name="Text 26"/>
          <p:cNvSpPr/>
          <p:nvPr/>
        </p:nvSpPr>
        <p:spPr>
          <a:xfrm>
            <a:off x="6199632" y="1700784"/>
            <a:ext cx="2423160" cy="658368"/>
          </a:xfrm>
          <a:prstGeom prst="rect">
            <a:avLst/>
          </a:prstGeom>
          <a:noFill/>
          <a:ln/>
        </p:spPr>
        <p:txBody>
          <a:bodyPr wrap="square" rtlCol="0" anchor="ctr"/>
          <a:lstStyle/>
          <a:p>
            <a:pPr marL="0" indent="0">
              <a:lnSpc>
                <a:spcPct val="135000"/>
              </a:lnSpc>
              <a:buNone/>
            </a:pPr>
            <a:r>
              <a:rPr lang="en-US" sz="800" dirty="0">
                <a:solidFill>
                  <a:srgbClr val="5F6368"/>
                </a:solidFill>
              </a:rPr>
              <a:t>Scatter plot identifies projects with Gross_Cost &gt; $1K and Usage &lt; 100 units. Estimated 70% savings ($377K/yr) by rightsizing or terminating idle instances.</a:t>
            </a:r>
            <a:endParaRPr lang="en-US" sz="800" dirty="0"/>
          </a:p>
        </p:txBody>
      </p:sp>
      <p:sp>
        <p:nvSpPr>
          <p:cNvPr id="29" name="Shape 27"/>
          <p:cNvSpPr/>
          <p:nvPr/>
        </p:nvSpPr>
        <p:spPr>
          <a:xfrm>
            <a:off x="6199632" y="2395728"/>
            <a:ext cx="2423160" cy="201168"/>
          </a:xfrm>
          <a:prstGeom prst="rect">
            <a:avLst/>
          </a:prstGeom>
          <a:solidFill>
            <a:srgbClr val="FBBC04">
              <a:alpha val="15000"/>
            </a:srgbClr>
          </a:solidFill>
          <a:ln w="12700">
            <a:solidFill>
              <a:srgbClr val="FBBC04">
                <a:alpha val="40000"/>
              </a:srgbClr>
            </a:solidFill>
            <a:prstDash val="solid"/>
          </a:ln>
        </p:spPr>
      </p:sp>
      <p:sp>
        <p:nvSpPr>
          <p:cNvPr id="30" name="Text 28"/>
          <p:cNvSpPr/>
          <p:nvPr/>
        </p:nvSpPr>
        <p:spPr>
          <a:xfrm>
            <a:off x="6199632" y="2395728"/>
            <a:ext cx="2423160" cy="201168"/>
          </a:xfrm>
          <a:prstGeom prst="rect">
            <a:avLst/>
          </a:prstGeom>
          <a:noFill/>
          <a:ln/>
        </p:spPr>
        <p:txBody>
          <a:bodyPr wrap="square" rtlCol="0" anchor="ctr"/>
          <a:lstStyle/>
          <a:p>
            <a:pPr marL="0" indent="0" algn="ctr">
              <a:buNone/>
            </a:pPr>
            <a:r>
              <a:rPr lang="en-US" sz="800" b="1" dirty="0">
                <a:solidFill>
                  <a:srgbClr val="FBBC04"/>
                </a:solidFill>
              </a:rPr>
              <a:t>Est. $377K annual savings</a:t>
            </a:r>
            <a:endParaRPr lang="en-US" sz="800" dirty="0"/>
          </a:p>
        </p:txBody>
      </p:sp>
      <p:sp>
        <p:nvSpPr>
          <p:cNvPr id="31" name="Shape 29"/>
          <p:cNvSpPr/>
          <p:nvPr/>
        </p:nvSpPr>
        <p:spPr>
          <a:xfrm>
            <a:off x="274320" y="2834640"/>
            <a:ext cx="2697480" cy="1828800"/>
          </a:xfrm>
          <a:prstGeom prst="rect">
            <a:avLst/>
          </a:prstGeom>
          <a:solidFill>
            <a:srgbClr val="FFFFFF"/>
          </a:solidFill>
          <a:ln w="6350">
            <a:solidFill>
              <a:srgbClr val="DADDE1"/>
            </a:solidFill>
            <a:prstDash val="solid"/>
          </a:ln>
          <a:effectLst>
            <a:outerShdw blurRad="50800" dist="25400" dir="8100000" algn="bl" rotWithShape="0">
              <a:srgbClr val="000000">
                <a:alpha val="8000"/>
              </a:srgbClr>
            </a:outerShdw>
          </a:effectLst>
        </p:spPr>
      </p:sp>
      <p:sp>
        <p:nvSpPr>
          <p:cNvPr id="32" name="Shape 30"/>
          <p:cNvSpPr/>
          <p:nvPr/>
        </p:nvSpPr>
        <p:spPr>
          <a:xfrm>
            <a:off x="274320" y="2834640"/>
            <a:ext cx="54864" cy="1828800"/>
          </a:xfrm>
          <a:prstGeom prst="rect">
            <a:avLst/>
          </a:prstGeom>
          <a:solidFill>
            <a:srgbClr val="EA4335"/>
          </a:solidFill>
          <a:ln w="12700">
            <a:solidFill>
              <a:srgbClr val="EA4335"/>
            </a:solidFill>
            <a:prstDash val="solid"/>
          </a:ln>
        </p:spPr>
      </p:sp>
      <p:sp>
        <p:nvSpPr>
          <p:cNvPr id="33" name="Shape 31"/>
          <p:cNvSpPr/>
          <p:nvPr/>
        </p:nvSpPr>
        <p:spPr>
          <a:xfrm>
            <a:off x="438912" y="2944368"/>
            <a:ext cx="384048" cy="384048"/>
          </a:xfrm>
          <a:prstGeom prst="rect">
            <a:avLst/>
          </a:prstGeom>
          <a:solidFill>
            <a:srgbClr val="EA4335">
              <a:alpha val="15000"/>
            </a:srgbClr>
          </a:solidFill>
          <a:ln w="12700">
            <a:solidFill>
              <a:srgbClr val="EA4335">
                <a:alpha val="40000"/>
              </a:srgbClr>
            </a:solidFill>
            <a:prstDash val="solid"/>
          </a:ln>
        </p:spPr>
      </p:sp>
      <p:sp>
        <p:nvSpPr>
          <p:cNvPr id="34" name="Text 32"/>
          <p:cNvSpPr/>
          <p:nvPr/>
        </p:nvSpPr>
        <p:spPr>
          <a:xfrm>
            <a:off x="438912" y="2944368"/>
            <a:ext cx="384048" cy="384048"/>
          </a:xfrm>
          <a:prstGeom prst="rect">
            <a:avLst/>
          </a:prstGeom>
          <a:noFill/>
          <a:ln/>
        </p:spPr>
        <p:txBody>
          <a:bodyPr wrap="square" rtlCol="0" anchor="ctr"/>
          <a:lstStyle/>
          <a:p>
            <a:pPr marL="0" indent="0" algn="ctr">
              <a:buNone/>
            </a:pPr>
            <a:r>
              <a:rPr lang="en-US" sz="1300" b="1" dirty="0">
                <a:solidFill>
                  <a:srgbClr val="EA4335"/>
                </a:solidFill>
              </a:rPr>
              <a:t>▣</a:t>
            </a:r>
            <a:endParaRPr lang="en-US" sz="1300" dirty="0"/>
          </a:p>
        </p:txBody>
      </p:sp>
      <p:sp>
        <p:nvSpPr>
          <p:cNvPr id="35" name="Text 33"/>
          <p:cNvSpPr/>
          <p:nvPr/>
        </p:nvSpPr>
        <p:spPr>
          <a:xfrm>
            <a:off x="438912" y="3401568"/>
            <a:ext cx="2423160" cy="274320"/>
          </a:xfrm>
          <a:prstGeom prst="rect">
            <a:avLst/>
          </a:prstGeom>
          <a:noFill/>
          <a:ln/>
        </p:spPr>
        <p:txBody>
          <a:bodyPr wrap="square" rtlCol="0" anchor="ctr"/>
          <a:lstStyle/>
          <a:p>
            <a:pPr marL="0" indent="0">
              <a:buNone/>
            </a:pPr>
            <a:r>
              <a:rPr lang="en-US" sz="950" b="1" dirty="0">
                <a:solidFill>
                  <a:srgbClr val="202124"/>
                </a:solidFill>
              </a:rPr>
              <a:t>Real-Time Budget Monitoring</a:t>
            </a:r>
            <a:endParaRPr lang="en-US" sz="950" dirty="0"/>
          </a:p>
        </p:txBody>
      </p:sp>
      <p:sp>
        <p:nvSpPr>
          <p:cNvPr id="36" name="Text 34"/>
          <p:cNvSpPr/>
          <p:nvPr/>
        </p:nvSpPr>
        <p:spPr>
          <a:xfrm>
            <a:off x="438912" y="3730752"/>
            <a:ext cx="2423160" cy="658368"/>
          </a:xfrm>
          <a:prstGeom prst="rect">
            <a:avLst/>
          </a:prstGeom>
          <a:noFill/>
          <a:ln/>
        </p:spPr>
        <p:txBody>
          <a:bodyPr wrap="square" rtlCol="0" anchor="ctr"/>
          <a:lstStyle/>
          <a:p>
            <a:pPr marL="0" indent="0">
              <a:lnSpc>
                <a:spcPct val="135000"/>
              </a:lnSpc>
              <a:buNone/>
            </a:pPr>
            <a:r>
              <a:rPr lang="en-US" sz="800" dirty="0">
                <a:solidFill>
                  <a:srgbClr val="5F6368"/>
                </a:solidFill>
              </a:rPr>
              <a:t>Budget table in BigQuery with monthly allocations per department. RAG status (Red/Amber/Green) auto-updates — teams see overspend immediately.</a:t>
            </a:r>
            <a:endParaRPr lang="en-US" sz="800" dirty="0"/>
          </a:p>
        </p:txBody>
      </p:sp>
      <p:sp>
        <p:nvSpPr>
          <p:cNvPr id="37" name="Shape 35"/>
          <p:cNvSpPr/>
          <p:nvPr/>
        </p:nvSpPr>
        <p:spPr>
          <a:xfrm>
            <a:off x="438912" y="4425696"/>
            <a:ext cx="2423160" cy="201168"/>
          </a:xfrm>
          <a:prstGeom prst="rect">
            <a:avLst/>
          </a:prstGeom>
          <a:solidFill>
            <a:srgbClr val="EA4335">
              <a:alpha val="15000"/>
            </a:srgbClr>
          </a:solidFill>
          <a:ln w="12700">
            <a:solidFill>
              <a:srgbClr val="EA4335">
                <a:alpha val="40000"/>
              </a:srgbClr>
            </a:solidFill>
            <a:prstDash val="solid"/>
          </a:ln>
        </p:spPr>
      </p:sp>
      <p:sp>
        <p:nvSpPr>
          <p:cNvPr id="38" name="Text 36"/>
          <p:cNvSpPr/>
          <p:nvPr/>
        </p:nvSpPr>
        <p:spPr>
          <a:xfrm>
            <a:off x="438912" y="4425696"/>
            <a:ext cx="2423160" cy="201168"/>
          </a:xfrm>
          <a:prstGeom prst="rect">
            <a:avLst/>
          </a:prstGeom>
          <a:noFill/>
          <a:ln/>
        </p:spPr>
        <p:txBody>
          <a:bodyPr wrap="square" rtlCol="0" anchor="ctr"/>
          <a:lstStyle/>
          <a:p>
            <a:pPr marL="0" indent="0" algn="ctr">
              <a:buNone/>
            </a:pPr>
            <a:r>
              <a:rPr lang="en-US" sz="800" b="1" dirty="0">
                <a:solidFill>
                  <a:srgbClr val="EA4335"/>
                </a:solidFill>
              </a:rPr>
              <a:t>Proactive spend control</a:t>
            </a:r>
            <a:endParaRPr lang="en-US" sz="800" dirty="0"/>
          </a:p>
        </p:txBody>
      </p:sp>
      <p:sp>
        <p:nvSpPr>
          <p:cNvPr id="39" name="Shape 37"/>
          <p:cNvSpPr/>
          <p:nvPr/>
        </p:nvSpPr>
        <p:spPr>
          <a:xfrm>
            <a:off x="3154680" y="2834640"/>
            <a:ext cx="2697480" cy="1828800"/>
          </a:xfrm>
          <a:prstGeom prst="rect">
            <a:avLst/>
          </a:prstGeom>
          <a:solidFill>
            <a:srgbClr val="FFFFFF"/>
          </a:solidFill>
          <a:ln w="6350">
            <a:solidFill>
              <a:srgbClr val="DADDE1"/>
            </a:solidFill>
            <a:prstDash val="solid"/>
          </a:ln>
          <a:effectLst>
            <a:outerShdw blurRad="50800" dist="25400" dir="8100000" algn="bl" rotWithShape="0">
              <a:srgbClr val="000000">
                <a:alpha val="8000"/>
              </a:srgbClr>
            </a:outerShdw>
          </a:effectLst>
        </p:spPr>
      </p:sp>
      <p:sp>
        <p:nvSpPr>
          <p:cNvPr id="40" name="Shape 38"/>
          <p:cNvSpPr/>
          <p:nvPr/>
        </p:nvSpPr>
        <p:spPr>
          <a:xfrm>
            <a:off x="3154680" y="2834640"/>
            <a:ext cx="54864" cy="1828800"/>
          </a:xfrm>
          <a:prstGeom prst="rect">
            <a:avLst/>
          </a:prstGeom>
          <a:solidFill>
            <a:srgbClr val="4285F4"/>
          </a:solidFill>
          <a:ln w="12700">
            <a:solidFill>
              <a:srgbClr val="4285F4"/>
            </a:solidFill>
            <a:prstDash val="solid"/>
          </a:ln>
        </p:spPr>
      </p:sp>
      <p:sp>
        <p:nvSpPr>
          <p:cNvPr id="41" name="Shape 39"/>
          <p:cNvSpPr/>
          <p:nvPr/>
        </p:nvSpPr>
        <p:spPr>
          <a:xfrm>
            <a:off x="3319272" y="2944368"/>
            <a:ext cx="384048" cy="384048"/>
          </a:xfrm>
          <a:prstGeom prst="rect">
            <a:avLst/>
          </a:prstGeom>
          <a:solidFill>
            <a:srgbClr val="4285F4">
              <a:alpha val="15000"/>
            </a:srgbClr>
          </a:solidFill>
          <a:ln w="12700">
            <a:solidFill>
              <a:srgbClr val="4285F4">
                <a:alpha val="40000"/>
              </a:srgbClr>
            </a:solidFill>
            <a:prstDash val="solid"/>
          </a:ln>
        </p:spPr>
      </p:sp>
      <p:sp>
        <p:nvSpPr>
          <p:cNvPr id="42" name="Text 40"/>
          <p:cNvSpPr/>
          <p:nvPr/>
        </p:nvSpPr>
        <p:spPr>
          <a:xfrm>
            <a:off x="3319272" y="2944368"/>
            <a:ext cx="384048" cy="384048"/>
          </a:xfrm>
          <a:prstGeom prst="rect">
            <a:avLst/>
          </a:prstGeom>
          <a:noFill/>
          <a:ln/>
        </p:spPr>
        <p:txBody>
          <a:bodyPr wrap="square" rtlCol="0" anchor="ctr"/>
          <a:lstStyle/>
          <a:p>
            <a:pPr marL="0" indent="0" algn="ctr">
              <a:buNone/>
            </a:pPr>
            <a:r>
              <a:rPr lang="en-US" sz="1300" b="1" dirty="0">
                <a:solidFill>
                  <a:srgbClr val="4285F4"/>
                </a:solidFill>
              </a:rPr>
              <a:t>◬</a:t>
            </a:r>
            <a:endParaRPr lang="en-US" sz="1300" dirty="0"/>
          </a:p>
        </p:txBody>
      </p:sp>
      <p:sp>
        <p:nvSpPr>
          <p:cNvPr id="43" name="Text 41"/>
          <p:cNvSpPr/>
          <p:nvPr/>
        </p:nvSpPr>
        <p:spPr>
          <a:xfrm>
            <a:off x="3319272" y="3401568"/>
            <a:ext cx="2423160" cy="274320"/>
          </a:xfrm>
          <a:prstGeom prst="rect">
            <a:avLst/>
          </a:prstGeom>
          <a:noFill/>
          <a:ln/>
        </p:spPr>
        <p:txBody>
          <a:bodyPr wrap="square" rtlCol="0" anchor="ctr"/>
          <a:lstStyle/>
          <a:p>
            <a:pPr marL="0" indent="0">
              <a:buNone/>
            </a:pPr>
            <a:r>
              <a:rPr lang="en-US" sz="950" b="1" dirty="0">
                <a:solidFill>
                  <a:srgbClr val="202124"/>
                </a:solidFill>
              </a:rPr>
              <a:t>Automated Anomaly Detection</a:t>
            </a:r>
            <a:endParaRPr lang="en-US" sz="950" dirty="0"/>
          </a:p>
        </p:txBody>
      </p:sp>
      <p:sp>
        <p:nvSpPr>
          <p:cNvPr id="44" name="Text 42"/>
          <p:cNvSpPr/>
          <p:nvPr/>
        </p:nvSpPr>
        <p:spPr>
          <a:xfrm>
            <a:off x="3319272" y="3730752"/>
            <a:ext cx="2423160" cy="658368"/>
          </a:xfrm>
          <a:prstGeom prst="rect">
            <a:avLst/>
          </a:prstGeom>
          <a:noFill/>
          <a:ln/>
        </p:spPr>
        <p:txBody>
          <a:bodyPr wrap="square" rtlCol="0" anchor="ctr"/>
          <a:lstStyle/>
          <a:p>
            <a:pPr marL="0" indent="0">
              <a:lnSpc>
                <a:spcPct val="135000"/>
              </a:lnSpc>
              <a:buNone/>
            </a:pPr>
            <a:r>
              <a:rPr lang="en-US" sz="800" dirty="0">
                <a:solidFill>
                  <a:srgbClr val="5F6368"/>
                </a:solidFill>
              </a:rPr>
              <a:t>7-day rolling average baseline with 20% threshold. Spike days flagged in DAX using IF([Daily Cost] &gt; [7D Avg] × 1.2). 3 spikes caught in 17-month period.</a:t>
            </a:r>
            <a:endParaRPr lang="en-US" sz="800" dirty="0"/>
          </a:p>
        </p:txBody>
      </p:sp>
      <p:sp>
        <p:nvSpPr>
          <p:cNvPr id="45" name="Shape 43"/>
          <p:cNvSpPr/>
          <p:nvPr/>
        </p:nvSpPr>
        <p:spPr>
          <a:xfrm>
            <a:off x="3319272" y="4425696"/>
            <a:ext cx="2423160" cy="201168"/>
          </a:xfrm>
          <a:prstGeom prst="rect">
            <a:avLst/>
          </a:prstGeom>
          <a:solidFill>
            <a:srgbClr val="4285F4">
              <a:alpha val="15000"/>
            </a:srgbClr>
          </a:solidFill>
          <a:ln w="12700">
            <a:solidFill>
              <a:srgbClr val="4285F4">
                <a:alpha val="40000"/>
              </a:srgbClr>
            </a:solidFill>
            <a:prstDash val="solid"/>
          </a:ln>
        </p:spPr>
      </p:sp>
      <p:sp>
        <p:nvSpPr>
          <p:cNvPr id="46" name="Text 44"/>
          <p:cNvSpPr/>
          <p:nvPr/>
        </p:nvSpPr>
        <p:spPr>
          <a:xfrm>
            <a:off x="3319272" y="4425696"/>
            <a:ext cx="2423160" cy="201168"/>
          </a:xfrm>
          <a:prstGeom prst="rect">
            <a:avLst/>
          </a:prstGeom>
          <a:noFill/>
          <a:ln/>
        </p:spPr>
        <p:txBody>
          <a:bodyPr wrap="square" rtlCol="0" anchor="ctr"/>
          <a:lstStyle/>
          <a:p>
            <a:pPr marL="0" indent="0" algn="ctr">
              <a:buNone/>
            </a:pPr>
            <a:r>
              <a:rPr lang="en-US" sz="800" b="1" dirty="0">
                <a:solidFill>
                  <a:srgbClr val="4285F4"/>
                </a:solidFill>
              </a:rPr>
              <a:t>Hours not days to detect</a:t>
            </a:r>
            <a:endParaRPr lang="en-US" sz="800" dirty="0"/>
          </a:p>
        </p:txBody>
      </p:sp>
      <p:sp>
        <p:nvSpPr>
          <p:cNvPr id="47" name="Shape 45"/>
          <p:cNvSpPr/>
          <p:nvPr/>
        </p:nvSpPr>
        <p:spPr>
          <a:xfrm>
            <a:off x="6035040" y="2834640"/>
            <a:ext cx="2697480" cy="1828800"/>
          </a:xfrm>
          <a:prstGeom prst="rect">
            <a:avLst/>
          </a:prstGeom>
          <a:solidFill>
            <a:srgbClr val="FFFFFF"/>
          </a:solidFill>
          <a:ln w="6350">
            <a:solidFill>
              <a:srgbClr val="DADDE1"/>
            </a:solidFill>
            <a:prstDash val="solid"/>
          </a:ln>
          <a:effectLst>
            <a:outerShdw blurRad="50800" dist="25400" dir="8100000" algn="bl" rotWithShape="0">
              <a:srgbClr val="000000">
                <a:alpha val="8000"/>
              </a:srgbClr>
            </a:outerShdw>
          </a:effectLst>
        </p:spPr>
      </p:sp>
      <p:sp>
        <p:nvSpPr>
          <p:cNvPr id="48" name="Shape 46"/>
          <p:cNvSpPr/>
          <p:nvPr/>
        </p:nvSpPr>
        <p:spPr>
          <a:xfrm>
            <a:off x="6035040" y="2834640"/>
            <a:ext cx="54864" cy="1828800"/>
          </a:xfrm>
          <a:prstGeom prst="rect">
            <a:avLst/>
          </a:prstGeom>
          <a:solidFill>
            <a:srgbClr val="34A853"/>
          </a:solidFill>
          <a:ln w="12700">
            <a:solidFill>
              <a:srgbClr val="34A853"/>
            </a:solidFill>
            <a:prstDash val="solid"/>
          </a:ln>
        </p:spPr>
      </p:sp>
      <p:sp>
        <p:nvSpPr>
          <p:cNvPr id="49" name="Shape 47"/>
          <p:cNvSpPr/>
          <p:nvPr/>
        </p:nvSpPr>
        <p:spPr>
          <a:xfrm>
            <a:off x="6199632" y="2944368"/>
            <a:ext cx="384048" cy="384048"/>
          </a:xfrm>
          <a:prstGeom prst="rect">
            <a:avLst/>
          </a:prstGeom>
          <a:solidFill>
            <a:srgbClr val="34A853">
              <a:alpha val="15000"/>
            </a:srgbClr>
          </a:solidFill>
          <a:ln w="12700">
            <a:solidFill>
              <a:srgbClr val="34A853">
                <a:alpha val="40000"/>
              </a:srgbClr>
            </a:solidFill>
            <a:prstDash val="solid"/>
          </a:ln>
        </p:spPr>
      </p:sp>
      <p:sp>
        <p:nvSpPr>
          <p:cNvPr id="50" name="Text 48"/>
          <p:cNvSpPr/>
          <p:nvPr/>
        </p:nvSpPr>
        <p:spPr>
          <a:xfrm>
            <a:off x="6199632" y="2944368"/>
            <a:ext cx="384048" cy="384048"/>
          </a:xfrm>
          <a:prstGeom prst="rect">
            <a:avLst/>
          </a:prstGeom>
          <a:noFill/>
          <a:ln/>
        </p:spPr>
        <p:txBody>
          <a:bodyPr wrap="square" rtlCol="0" anchor="ctr"/>
          <a:lstStyle/>
          <a:p>
            <a:pPr marL="0" indent="0" algn="ctr">
              <a:buNone/>
            </a:pPr>
            <a:r>
              <a:rPr lang="en-US" sz="1300" b="1" dirty="0">
                <a:solidFill>
                  <a:srgbClr val="34A853"/>
                </a:solidFill>
              </a:rPr>
              <a:t>◈</a:t>
            </a:r>
            <a:endParaRPr lang="en-US" sz="1300" dirty="0"/>
          </a:p>
        </p:txBody>
      </p:sp>
      <p:sp>
        <p:nvSpPr>
          <p:cNvPr id="51" name="Text 49"/>
          <p:cNvSpPr/>
          <p:nvPr/>
        </p:nvSpPr>
        <p:spPr>
          <a:xfrm>
            <a:off x="6199632" y="3401568"/>
            <a:ext cx="2423160" cy="274320"/>
          </a:xfrm>
          <a:prstGeom prst="rect">
            <a:avLst/>
          </a:prstGeom>
          <a:noFill/>
          <a:ln/>
        </p:spPr>
        <p:txBody>
          <a:bodyPr wrap="square" rtlCol="0" anchor="ctr"/>
          <a:lstStyle/>
          <a:p>
            <a:pPr marL="0" indent="0">
              <a:buNone/>
            </a:pPr>
            <a:r>
              <a:rPr lang="en-US" sz="950" b="1" dirty="0">
                <a:solidFill>
                  <a:srgbClr val="202124"/>
                </a:solidFill>
              </a:rPr>
              <a:t>Network Egress Optimization</a:t>
            </a:r>
            <a:endParaRPr lang="en-US" sz="950" dirty="0"/>
          </a:p>
        </p:txBody>
      </p:sp>
      <p:sp>
        <p:nvSpPr>
          <p:cNvPr id="52" name="Text 50"/>
          <p:cNvSpPr/>
          <p:nvPr/>
        </p:nvSpPr>
        <p:spPr>
          <a:xfrm>
            <a:off x="6199632" y="3730752"/>
            <a:ext cx="2423160" cy="658368"/>
          </a:xfrm>
          <a:prstGeom prst="rect">
            <a:avLst/>
          </a:prstGeom>
          <a:noFill/>
          <a:ln/>
        </p:spPr>
        <p:txBody>
          <a:bodyPr wrap="square" rtlCol="0" anchor="ctr"/>
          <a:lstStyle/>
          <a:p>
            <a:pPr marL="0" indent="0">
              <a:lnSpc>
                <a:spcPct val="135000"/>
              </a:lnSpc>
              <a:buNone/>
            </a:pPr>
            <a:r>
              <a:rPr lang="en-US" sz="800" dirty="0">
                <a:solidFill>
                  <a:srgbClr val="5F6368"/>
                </a:solidFill>
              </a:rPr>
              <a:t>Cost_Per_GB metric in vw_Fact_Networking identifies expensive transfer paths. Inter-region egress ($406K) can be reduced by co-locating dependent services.</a:t>
            </a:r>
            <a:endParaRPr lang="en-US" sz="800" dirty="0"/>
          </a:p>
        </p:txBody>
      </p:sp>
      <p:sp>
        <p:nvSpPr>
          <p:cNvPr id="53" name="Shape 51"/>
          <p:cNvSpPr/>
          <p:nvPr/>
        </p:nvSpPr>
        <p:spPr>
          <a:xfrm>
            <a:off x="6199632" y="4425696"/>
            <a:ext cx="2423160" cy="201168"/>
          </a:xfrm>
          <a:prstGeom prst="rect">
            <a:avLst/>
          </a:prstGeom>
          <a:solidFill>
            <a:srgbClr val="34A853">
              <a:alpha val="15000"/>
            </a:srgbClr>
          </a:solidFill>
          <a:ln w="12700">
            <a:solidFill>
              <a:srgbClr val="34A853">
                <a:alpha val="40000"/>
              </a:srgbClr>
            </a:solidFill>
            <a:prstDash val="solid"/>
          </a:ln>
        </p:spPr>
      </p:sp>
      <p:sp>
        <p:nvSpPr>
          <p:cNvPr id="54" name="Text 52"/>
          <p:cNvSpPr/>
          <p:nvPr/>
        </p:nvSpPr>
        <p:spPr>
          <a:xfrm>
            <a:off x="6199632" y="4425696"/>
            <a:ext cx="2423160" cy="201168"/>
          </a:xfrm>
          <a:prstGeom prst="rect">
            <a:avLst/>
          </a:prstGeom>
          <a:noFill/>
          <a:ln/>
        </p:spPr>
        <p:txBody>
          <a:bodyPr wrap="square" rtlCol="0" anchor="ctr"/>
          <a:lstStyle/>
          <a:p>
            <a:pPr marL="0" indent="0" algn="ctr">
              <a:buNone/>
            </a:pPr>
            <a:r>
              <a:rPr lang="en-US" sz="800" b="1" dirty="0">
                <a:solidFill>
                  <a:srgbClr val="34A853"/>
                </a:solidFill>
              </a:rPr>
              <a:t>$406K egress reduction</a:t>
            </a:r>
            <a:endParaRPr lang="en-US" sz="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8FBFF"/>
        </a:solidFill>
        <a:effectLst/>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1A73E8"/>
          </a:solidFill>
          <a:ln w="12700">
            <a:solidFill>
              <a:srgbClr val="1A73E8"/>
            </a:solidFill>
            <a:prstDash val="solid"/>
          </a:ln>
        </p:spPr>
      </p:sp>
      <p:sp>
        <p:nvSpPr>
          <p:cNvPr id="3" name="Shape 1"/>
          <p:cNvSpPr/>
          <p:nvPr/>
        </p:nvSpPr>
        <p:spPr>
          <a:xfrm>
            <a:off x="0" y="0"/>
            <a:ext cx="685800" cy="685800"/>
          </a:xfrm>
          <a:prstGeom prst="rect">
            <a:avLst/>
          </a:prstGeom>
          <a:solidFill>
            <a:srgbClr val="0D47A1"/>
          </a:solidFill>
          <a:ln w="12700">
            <a:solidFill>
              <a:srgbClr val="0D47A1"/>
            </a:solidFill>
            <a:prstDash val="solid"/>
          </a:ln>
        </p:spPr>
      </p:sp>
      <p:sp>
        <p:nvSpPr>
          <p:cNvPr id="4" name="Text 2"/>
          <p:cNvSpPr/>
          <p:nvPr/>
        </p:nvSpPr>
        <p:spPr>
          <a:xfrm>
            <a:off x="0" y="0"/>
            <a:ext cx="685800" cy="685800"/>
          </a:xfrm>
          <a:prstGeom prst="rect">
            <a:avLst/>
          </a:prstGeom>
          <a:noFill/>
          <a:ln/>
        </p:spPr>
        <p:txBody>
          <a:bodyPr wrap="square" rtlCol="0" anchor="ctr"/>
          <a:lstStyle/>
          <a:p>
            <a:pPr marL="0" indent="0" algn="ctr">
              <a:buNone/>
            </a:pPr>
            <a:r>
              <a:rPr lang="en-US" sz="2000" b="1" dirty="0">
                <a:solidFill>
                  <a:srgbClr val="FFFFFF"/>
                </a:solidFill>
              </a:rPr>
              <a:t>G</a:t>
            </a:r>
            <a:endParaRPr lang="en-US" sz="2000" dirty="0"/>
          </a:p>
        </p:txBody>
      </p:sp>
      <p:sp>
        <p:nvSpPr>
          <p:cNvPr id="5" name="Text 3"/>
          <p:cNvSpPr/>
          <p:nvPr/>
        </p:nvSpPr>
        <p:spPr>
          <a:xfrm>
            <a:off x="777240" y="73152"/>
            <a:ext cx="6858000" cy="320040"/>
          </a:xfrm>
          <a:prstGeom prst="rect">
            <a:avLst/>
          </a:prstGeom>
          <a:noFill/>
          <a:ln/>
        </p:spPr>
        <p:txBody>
          <a:bodyPr wrap="square" rtlCol="0" anchor="ctr"/>
          <a:lstStyle/>
          <a:p>
            <a:pPr marL="0" indent="0">
              <a:buNone/>
            </a:pPr>
            <a:r>
              <a:rPr lang="en-US" sz="1400" b="1" dirty="0">
                <a:solidFill>
                  <a:srgbClr val="FFFFFF"/>
                </a:solidFill>
              </a:rPr>
              <a:t>Data Pipeline &amp; Model</a:t>
            </a:r>
            <a:endParaRPr lang="en-US" sz="1400" dirty="0"/>
          </a:p>
        </p:txBody>
      </p:sp>
      <p:sp>
        <p:nvSpPr>
          <p:cNvPr id="6" name="Text 4"/>
          <p:cNvSpPr/>
          <p:nvPr/>
        </p:nvSpPr>
        <p:spPr>
          <a:xfrm>
            <a:off x="777240" y="384048"/>
            <a:ext cx="6858000" cy="228600"/>
          </a:xfrm>
          <a:prstGeom prst="rect">
            <a:avLst/>
          </a:prstGeom>
          <a:noFill/>
          <a:ln/>
        </p:spPr>
        <p:txBody>
          <a:bodyPr wrap="square" rtlCol="0" anchor="ctr"/>
          <a:lstStyle/>
          <a:p>
            <a:pPr marL="0" indent="0">
              <a:buNone/>
            </a:pPr>
            <a:r>
              <a:rPr lang="en-US" sz="900" dirty="0">
                <a:solidFill>
                  <a:srgbClr val="FFFFFF"/>
                </a:solidFill>
              </a:rPr>
              <a:t>End-to-end architecture from GCP to Power BI</a:t>
            </a:r>
            <a:endParaRPr lang="en-US" sz="900" dirty="0"/>
          </a:p>
        </p:txBody>
      </p:sp>
      <p:sp>
        <p:nvSpPr>
          <p:cNvPr id="7" name="Shape 5"/>
          <p:cNvSpPr/>
          <p:nvPr/>
        </p:nvSpPr>
        <p:spPr>
          <a:xfrm>
            <a:off x="274320" y="804672"/>
            <a:ext cx="1554480" cy="777240"/>
          </a:xfrm>
          <a:prstGeom prst="rect">
            <a:avLst/>
          </a:prstGeom>
          <a:solidFill>
            <a:srgbClr val="1A73E8">
              <a:alpha val="15000"/>
            </a:srgbClr>
          </a:solidFill>
          <a:ln w="12700">
            <a:solidFill>
              <a:srgbClr val="1A73E8"/>
            </a:solidFill>
            <a:prstDash val="solid"/>
          </a:ln>
        </p:spPr>
      </p:sp>
      <p:sp>
        <p:nvSpPr>
          <p:cNvPr id="8" name="Text 6"/>
          <p:cNvSpPr/>
          <p:nvPr/>
        </p:nvSpPr>
        <p:spPr>
          <a:xfrm>
            <a:off x="274320" y="804672"/>
            <a:ext cx="1554480" cy="777240"/>
          </a:xfrm>
          <a:prstGeom prst="rect">
            <a:avLst/>
          </a:prstGeom>
          <a:noFill/>
          <a:ln/>
        </p:spPr>
        <p:txBody>
          <a:bodyPr wrap="square" rtlCol="0" anchor="ctr"/>
          <a:lstStyle/>
          <a:p>
            <a:pPr marL="0" indent="0" algn="ctr">
              <a:buNone/>
            </a:pPr>
            <a:r>
              <a:rPr lang="en-US" sz="900" b="1" dirty="0">
                <a:solidFill>
                  <a:srgbClr val="1A73E8"/>
                </a:solidFill>
              </a:rPr>
              <a:t>GCP</a:t>
            </a:r>
            <a:endParaRPr lang="en-US" sz="900" dirty="0"/>
          </a:p>
          <a:p>
            <a:pPr marL="0" indent="0" algn="ctr">
              <a:buNone/>
            </a:pPr>
            <a:r>
              <a:rPr lang="en-US" sz="900" b="1" dirty="0">
                <a:solidFill>
                  <a:srgbClr val="1A73E8"/>
                </a:solidFill>
              </a:rPr>
              <a:t>Billing Export</a:t>
            </a:r>
            <a:endParaRPr lang="en-US" sz="900" dirty="0"/>
          </a:p>
        </p:txBody>
      </p:sp>
      <p:sp>
        <p:nvSpPr>
          <p:cNvPr id="9" name="Shape 7"/>
          <p:cNvSpPr/>
          <p:nvPr/>
        </p:nvSpPr>
        <p:spPr>
          <a:xfrm>
            <a:off x="1847088" y="1188720"/>
            <a:ext cx="402336" cy="0"/>
          </a:xfrm>
          <a:prstGeom prst="line">
            <a:avLst/>
          </a:prstGeom>
          <a:noFill/>
          <a:ln w="19050">
            <a:solidFill>
              <a:srgbClr val="DADDE1"/>
            </a:solidFill>
            <a:prstDash val="solid"/>
          </a:ln>
        </p:spPr>
      </p:sp>
      <p:sp>
        <p:nvSpPr>
          <p:cNvPr id="10" name="Text 8"/>
          <p:cNvSpPr/>
          <p:nvPr/>
        </p:nvSpPr>
        <p:spPr>
          <a:xfrm>
            <a:off x="1847088" y="1097280"/>
            <a:ext cx="402336" cy="201168"/>
          </a:xfrm>
          <a:prstGeom prst="rect">
            <a:avLst/>
          </a:prstGeom>
          <a:noFill/>
          <a:ln/>
        </p:spPr>
        <p:txBody>
          <a:bodyPr wrap="square" rtlCol="0" anchor="ctr"/>
          <a:lstStyle/>
          <a:p>
            <a:pPr marL="0" indent="0" algn="ctr">
              <a:buNone/>
            </a:pPr>
            <a:r>
              <a:rPr lang="en-US" sz="1100" dirty="0">
                <a:solidFill>
                  <a:srgbClr val="5F6368"/>
                </a:solidFill>
              </a:rPr>
              <a:t>→</a:t>
            </a:r>
            <a:endParaRPr lang="en-US" sz="1100" dirty="0"/>
          </a:p>
        </p:txBody>
      </p:sp>
      <p:sp>
        <p:nvSpPr>
          <p:cNvPr id="11" name="Shape 9"/>
          <p:cNvSpPr/>
          <p:nvPr/>
        </p:nvSpPr>
        <p:spPr>
          <a:xfrm>
            <a:off x="2011680" y="804672"/>
            <a:ext cx="1554480" cy="777240"/>
          </a:xfrm>
          <a:prstGeom prst="rect">
            <a:avLst/>
          </a:prstGeom>
          <a:solidFill>
            <a:srgbClr val="34A853">
              <a:alpha val="15000"/>
            </a:srgbClr>
          </a:solidFill>
          <a:ln w="12700">
            <a:solidFill>
              <a:srgbClr val="34A853"/>
            </a:solidFill>
            <a:prstDash val="solid"/>
          </a:ln>
        </p:spPr>
      </p:sp>
      <p:sp>
        <p:nvSpPr>
          <p:cNvPr id="12" name="Text 10"/>
          <p:cNvSpPr/>
          <p:nvPr/>
        </p:nvSpPr>
        <p:spPr>
          <a:xfrm>
            <a:off x="2011680" y="804672"/>
            <a:ext cx="1554480" cy="777240"/>
          </a:xfrm>
          <a:prstGeom prst="rect">
            <a:avLst/>
          </a:prstGeom>
          <a:noFill/>
          <a:ln/>
        </p:spPr>
        <p:txBody>
          <a:bodyPr wrap="square" rtlCol="0" anchor="ctr"/>
          <a:lstStyle/>
          <a:p>
            <a:pPr marL="0" indent="0" algn="ctr">
              <a:buNone/>
            </a:pPr>
            <a:r>
              <a:rPr lang="en-US" sz="900" b="1" dirty="0">
                <a:solidFill>
                  <a:srgbClr val="34A853"/>
                </a:solidFill>
              </a:rPr>
              <a:t>Google</a:t>
            </a:r>
            <a:endParaRPr lang="en-US" sz="900" dirty="0"/>
          </a:p>
          <a:p>
            <a:pPr marL="0" indent="0" algn="ctr">
              <a:buNone/>
            </a:pPr>
            <a:r>
              <a:rPr lang="en-US" sz="900" b="1" dirty="0">
                <a:solidFill>
                  <a:srgbClr val="34A853"/>
                </a:solidFill>
              </a:rPr>
              <a:t>BigQuery</a:t>
            </a:r>
            <a:endParaRPr lang="en-US" sz="900" dirty="0"/>
          </a:p>
        </p:txBody>
      </p:sp>
      <p:sp>
        <p:nvSpPr>
          <p:cNvPr id="13" name="Shape 11"/>
          <p:cNvSpPr/>
          <p:nvPr/>
        </p:nvSpPr>
        <p:spPr>
          <a:xfrm>
            <a:off x="3584448" y="1188720"/>
            <a:ext cx="402336" cy="0"/>
          </a:xfrm>
          <a:prstGeom prst="line">
            <a:avLst/>
          </a:prstGeom>
          <a:noFill/>
          <a:ln w="19050">
            <a:solidFill>
              <a:srgbClr val="DADDE1"/>
            </a:solidFill>
            <a:prstDash val="solid"/>
          </a:ln>
        </p:spPr>
      </p:sp>
      <p:sp>
        <p:nvSpPr>
          <p:cNvPr id="14" name="Text 12"/>
          <p:cNvSpPr/>
          <p:nvPr/>
        </p:nvSpPr>
        <p:spPr>
          <a:xfrm>
            <a:off x="3584448" y="1097280"/>
            <a:ext cx="402336" cy="201168"/>
          </a:xfrm>
          <a:prstGeom prst="rect">
            <a:avLst/>
          </a:prstGeom>
          <a:noFill/>
          <a:ln/>
        </p:spPr>
        <p:txBody>
          <a:bodyPr wrap="square" rtlCol="0" anchor="ctr"/>
          <a:lstStyle/>
          <a:p>
            <a:pPr marL="0" indent="0" algn="ctr">
              <a:buNone/>
            </a:pPr>
            <a:r>
              <a:rPr lang="en-US" sz="1100" dirty="0">
                <a:solidFill>
                  <a:srgbClr val="5F6368"/>
                </a:solidFill>
              </a:rPr>
              <a:t>→</a:t>
            </a:r>
            <a:endParaRPr lang="en-US" sz="1100" dirty="0"/>
          </a:p>
        </p:txBody>
      </p:sp>
      <p:sp>
        <p:nvSpPr>
          <p:cNvPr id="15" name="Shape 13"/>
          <p:cNvSpPr/>
          <p:nvPr/>
        </p:nvSpPr>
        <p:spPr>
          <a:xfrm>
            <a:off x="3749040" y="804672"/>
            <a:ext cx="1554480" cy="777240"/>
          </a:xfrm>
          <a:prstGeom prst="rect">
            <a:avLst/>
          </a:prstGeom>
          <a:solidFill>
            <a:srgbClr val="FBBC04">
              <a:alpha val="15000"/>
            </a:srgbClr>
          </a:solidFill>
          <a:ln w="12700">
            <a:solidFill>
              <a:srgbClr val="FBBC04"/>
            </a:solidFill>
            <a:prstDash val="solid"/>
          </a:ln>
        </p:spPr>
      </p:sp>
      <p:sp>
        <p:nvSpPr>
          <p:cNvPr id="16" name="Text 14"/>
          <p:cNvSpPr/>
          <p:nvPr/>
        </p:nvSpPr>
        <p:spPr>
          <a:xfrm>
            <a:off x="3749040" y="804672"/>
            <a:ext cx="1554480" cy="777240"/>
          </a:xfrm>
          <a:prstGeom prst="rect">
            <a:avLst/>
          </a:prstGeom>
          <a:noFill/>
          <a:ln/>
        </p:spPr>
        <p:txBody>
          <a:bodyPr wrap="square" rtlCol="0" anchor="ctr"/>
          <a:lstStyle/>
          <a:p>
            <a:pPr marL="0" indent="0" algn="ctr">
              <a:buNone/>
            </a:pPr>
            <a:r>
              <a:rPr lang="en-US" sz="900" b="1" dirty="0">
                <a:solidFill>
                  <a:srgbClr val="FBBC04"/>
                </a:solidFill>
              </a:rPr>
              <a:t>BigQuery</a:t>
            </a:r>
            <a:endParaRPr lang="en-US" sz="900" dirty="0"/>
          </a:p>
          <a:p>
            <a:pPr marL="0" indent="0" algn="ctr">
              <a:buNone/>
            </a:pPr>
            <a:r>
              <a:rPr lang="en-US" sz="900" b="1" dirty="0">
                <a:solidFill>
                  <a:srgbClr val="FBBC04"/>
                </a:solidFill>
              </a:rPr>
              <a:t>SQL Views (×6)</a:t>
            </a:r>
            <a:endParaRPr lang="en-US" sz="900" dirty="0"/>
          </a:p>
        </p:txBody>
      </p:sp>
      <p:sp>
        <p:nvSpPr>
          <p:cNvPr id="17" name="Shape 15"/>
          <p:cNvSpPr/>
          <p:nvPr/>
        </p:nvSpPr>
        <p:spPr>
          <a:xfrm>
            <a:off x="5321808" y="1188720"/>
            <a:ext cx="402336" cy="0"/>
          </a:xfrm>
          <a:prstGeom prst="line">
            <a:avLst/>
          </a:prstGeom>
          <a:noFill/>
          <a:ln w="19050">
            <a:solidFill>
              <a:srgbClr val="DADDE1"/>
            </a:solidFill>
            <a:prstDash val="solid"/>
          </a:ln>
        </p:spPr>
      </p:sp>
      <p:sp>
        <p:nvSpPr>
          <p:cNvPr id="18" name="Text 16"/>
          <p:cNvSpPr/>
          <p:nvPr/>
        </p:nvSpPr>
        <p:spPr>
          <a:xfrm>
            <a:off x="5321808" y="1097280"/>
            <a:ext cx="402336" cy="201168"/>
          </a:xfrm>
          <a:prstGeom prst="rect">
            <a:avLst/>
          </a:prstGeom>
          <a:noFill/>
          <a:ln/>
        </p:spPr>
        <p:txBody>
          <a:bodyPr wrap="square" rtlCol="0" anchor="ctr"/>
          <a:lstStyle/>
          <a:p>
            <a:pPr marL="0" indent="0" algn="ctr">
              <a:buNone/>
            </a:pPr>
            <a:r>
              <a:rPr lang="en-US" sz="1100" dirty="0">
                <a:solidFill>
                  <a:srgbClr val="5F6368"/>
                </a:solidFill>
              </a:rPr>
              <a:t>→</a:t>
            </a:r>
            <a:endParaRPr lang="en-US" sz="1100" dirty="0"/>
          </a:p>
        </p:txBody>
      </p:sp>
      <p:sp>
        <p:nvSpPr>
          <p:cNvPr id="19" name="Shape 17"/>
          <p:cNvSpPr/>
          <p:nvPr/>
        </p:nvSpPr>
        <p:spPr>
          <a:xfrm>
            <a:off x="5486400" y="804672"/>
            <a:ext cx="1554480" cy="777240"/>
          </a:xfrm>
          <a:prstGeom prst="rect">
            <a:avLst/>
          </a:prstGeom>
          <a:solidFill>
            <a:srgbClr val="EA4335">
              <a:alpha val="15000"/>
            </a:srgbClr>
          </a:solidFill>
          <a:ln w="12700">
            <a:solidFill>
              <a:srgbClr val="EA4335"/>
            </a:solidFill>
            <a:prstDash val="solid"/>
          </a:ln>
        </p:spPr>
      </p:sp>
      <p:sp>
        <p:nvSpPr>
          <p:cNvPr id="20" name="Text 18"/>
          <p:cNvSpPr/>
          <p:nvPr/>
        </p:nvSpPr>
        <p:spPr>
          <a:xfrm>
            <a:off x="5486400" y="804672"/>
            <a:ext cx="1554480" cy="777240"/>
          </a:xfrm>
          <a:prstGeom prst="rect">
            <a:avLst/>
          </a:prstGeom>
          <a:noFill/>
          <a:ln/>
        </p:spPr>
        <p:txBody>
          <a:bodyPr wrap="square" rtlCol="0" anchor="ctr"/>
          <a:lstStyle/>
          <a:p>
            <a:pPr marL="0" indent="0" algn="ctr">
              <a:buNone/>
            </a:pPr>
            <a:r>
              <a:rPr lang="en-US" sz="900" b="1" dirty="0">
                <a:solidFill>
                  <a:srgbClr val="EA4335"/>
                </a:solidFill>
              </a:rPr>
              <a:t>Power</a:t>
            </a:r>
            <a:endParaRPr lang="en-US" sz="900" dirty="0"/>
          </a:p>
          <a:p>
            <a:pPr marL="0" indent="0" algn="ctr">
              <a:buNone/>
            </a:pPr>
            <a:r>
              <a:rPr lang="en-US" sz="900" b="1" dirty="0">
                <a:solidFill>
                  <a:srgbClr val="EA4335"/>
                </a:solidFill>
              </a:rPr>
              <a:t>Query (M)</a:t>
            </a:r>
            <a:endParaRPr lang="en-US" sz="900" dirty="0"/>
          </a:p>
        </p:txBody>
      </p:sp>
      <p:sp>
        <p:nvSpPr>
          <p:cNvPr id="21" name="Shape 19"/>
          <p:cNvSpPr/>
          <p:nvPr/>
        </p:nvSpPr>
        <p:spPr>
          <a:xfrm>
            <a:off x="7059168" y="1188720"/>
            <a:ext cx="402336" cy="0"/>
          </a:xfrm>
          <a:prstGeom prst="line">
            <a:avLst/>
          </a:prstGeom>
          <a:noFill/>
          <a:ln w="19050">
            <a:solidFill>
              <a:srgbClr val="DADDE1"/>
            </a:solidFill>
            <a:prstDash val="solid"/>
          </a:ln>
        </p:spPr>
      </p:sp>
      <p:sp>
        <p:nvSpPr>
          <p:cNvPr id="22" name="Text 20"/>
          <p:cNvSpPr/>
          <p:nvPr/>
        </p:nvSpPr>
        <p:spPr>
          <a:xfrm>
            <a:off x="7059168" y="1097280"/>
            <a:ext cx="402336" cy="201168"/>
          </a:xfrm>
          <a:prstGeom prst="rect">
            <a:avLst/>
          </a:prstGeom>
          <a:noFill/>
          <a:ln/>
        </p:spPr>
        <p:txBody>
          <a:bodyPr wrap="square" rtlCol="0" anchor="ctr"/>
          <a:lstStyle/>
          <a:p>
            <a:pPr marL="0" indent="0" algn="ctr">
              <a:buNone/>
            </a:pPr>
            <a:r>
              <a:rPr lang="en-US" sz="1100" dirty="0">
                <a:solidFill>
                  <a:srgbClr val="5F6368"/>
                </a:solidFill>
              </a:rPr>
              <a:t>→</a:t>
            </a:r>
            <a:endParaRPr lang="en-US" sz="1100" dirty="0"/>
          </a:p>
        </p:txBody>
      </p:sp>
      <p:sp>
        <p:nvSpPr>
          <p:cNvPr id="23" name="Shape 21"/>
          <p:cNvSpPr/>
          <p:nvPr/>
        </p:nvSpPr>
        <p:spPr>
          <a:xfrm>
            <a:off x="7223760" y="804672"/>
            <a:ext cx="1554480" cy="777240"/>
          </a:xfrm>
          <a:prstGeom prst="rect">
            <a:avLst/>
          </a:prstGeom>
          <a:solidFill>
            <a:srgbClr val="4285F4">
              <a:alpha val="15000"/>
            </a:srgbClr>
          </a:solidFill>
          <a:ln w="12700">
            <a:solidFill>
              <a:srgbClr val="4285F4"/>
            </a:solidFill>
            <a:prstDash val="solid"/>
          </a:ln>
        </p:spPr>
      </p:sp>
      <p:sp>
        <p:nvSpPr>
          <p:cNvPr id="24" name="Text 22"/>
          <p:cNvSpPr/>
          <p:nvPr/>
        </p:nvSpPr>
        <p:spPr>
          <a:xfrm>
            <a:off x="7223760" y="804672"/>
            <a:ext cx="1554480" cy="777240"/>
          </a:xfrm>
          <a:prstGeom prst="rect">
            <a:avLst/>
          </a:prstGeom>
          <a:noFill/>
          <a:ln/>
        </p:spPr>
        <p:txBody>
          <a:bodyPr wrap="square" rtlCol="0" anchor="ctr"/>
          <a:lstStyle/>
          <a:p>
            <a:pPr marL="0" indent="0" algn="ctr">
              <a:buNone/>
            </a:pPr>
            <a:r>
              <a:rPr lang="en-US" sz="900" b="1" dirty="0">
                <a:solidFill>
                  <a:srgbClr val="4285F4"/>
                </a:solidFill>
              </a:rPr>
              <a:t>Power BI</a:t>
            </a:r>
            <a:endParaRPr lang="en-US" sz="900" dirty="0"/>
          </a:p>
          <a:p>
            <a:pPr marL="0" indent="0" algn="ctr">
              <a:buNone/>
            </a:pPr>
            <a:r>
              <a:rPr lang="en-US" sz="900" b="1" dirty="0">
                <a:solidFill>
                  <a:srgbClr val="4285F4"/>
                </a:solidFill>
              </a:rPr>
              <a:t>Dashboard</a:t>
            </a:r>
            <a:endParaRPr lang="en-US" sz="900" dirty="0"/>
          </a:p>
        </p:txBody>
      </p:sp>
      <p:sp>
        <p:nvSpPr>
          <p:cNvPr id="25" name="Shape 23"/>
          <p:cNvSpPr/>
          <p:nvPr/>
        </p:nvSpPr>
        <p:spPr>
          <a:xfrm>
            <a:off x="274320" y="1737360"/>
            <a:ext cx="4206240" cy="3200400"/>
          </a:xfrm>
          <a:prstGeom prst="rect">
            <a:avLst/>
          </a:prstGeom>
          <a:solidFill>
            <a:srgbClr val="FFFFFF"/>
          </a:solidFill>
          <a:ln w="6350">
            <a:solidFill>
              <a:srgbClr val="DADDE1"/>
            </a:solidFill>
            <a:prstDash val="solid"/>
          </a:ln>
          <a:effectLst>
            <a:outerShdw blurRad="50800" dist="25400" dir="8100000" algn="bl" rotWithShape="0">
              <a:srgbClr val="000000">
                <a:alpha val="8000"/>
              </a:srgbClr>
            </a:outerShdw>
          </a:effectLst>
        </p:spPr>
      </p:sp>
      <p:sp>
        <p:nvSpPr>
          <p:cNvPr id="26" name="Shape 24"/>
          <p:cNvSpPr/>
          <p:nvPr/>
        </p:nvSpPr>
        <p:spPr>
          <a:xfrm>
            <a:off x="411480" y="1792224"/>
            <a:ext cx="45720" cy="201168"/>
          </a:xfrm>
          <a:prstGeom prst="rect">
            <a:avLst/>
          </a:prstGeom>
          <a:solidFill>
            <a:srgbClr val="1A73E8"/>
          </a:solidFill>
          <a:ln w="12700">
            <a:solidFill>
              <a:srgbClr val="1A73E8"/>
            </a:solidFill>
            <a:prstDash val="solid"/>
          </a:ln>
        </p:spPr>
      </p:sp>
      <p:sp>
        <p:nvSpPr>
          <p:cNvPr id="27" name="Text 25"/>
          <p:cNvSpPr/>
          <p:nvPr/>
        </p:nvSpPr>
        <p:spPr>
          <a:xfrm>
            <a:off x="502920" y="1792224"/>
            <a:ext cx="3657600" cy="201168"/>
          </a:xfrm>
          <a:prstGeom prst="rect">
            <a:avLst/>
          </a:prstGeom>
          <a:noFill/>
          <a:ln/>
        </p:spPr>
        <p:txBody>
          <a:bodyPr wrap="square" rtlCol="0" anchor="ctr"/>
          <a:lstStyle/>
          <a:p>
            <a:pPr marL="0" indent="0">
              <a:buNone/>
            </a:pPr>
            <a:r>
              <a:rPr lang="en-US" sz="1000" b="1" dirty="0">
                <a:solidFill>
                  <a:srgbClr val="202124"/>
                </a:solidFill>
              </a:rPr>
              <a:t>Data quality issues fixed in BigQuery views</a:t>
            </a:r>
            <a:endParaRPr lang="en-US" sz="1000" dirty="0"/>
          </a:p>
        </p:txBody>
      </p:sp>
      <p:sp>
        <p:nvSpPr>
          <p:cNvPr id="28" name="Shape 26"/>
          <p:cNvSpPr/>
          <p:nvPr/>
        </p:nvSpPr>
        <p:spPr>
          <a:xfrm>
            <a:off x="438912" y="2167128"/>
            <a:ext cx="109728" cy="109728"/>
          </a:xfrm>
          <a:prstGeom prst="ellipse">
            <a:avLst/>
          </a:prstGeom>
          <a:solidFill>
            <a:srgbClr val="EA4335"/>
          </a:solidFill>
          <a:ln w="12700">
            <a:solidFill>
              <a:srgbClr val="EA4335"/>
            </a:solidFill>
            <a:prstDash val="solid"/>
          </a:ln>
        </p:spPr>
      </p:sp>
      <p:sp>
        <p:nvSpPr>
          <p:cNvPr id="29" name="Text 27"/>
          <p:cNvSpPr/>
          <p:nvPr/>
        </p:nvSpPr>
        <p:spPr>
          <a:xfrm>
            <a:off x="621792" y="2103120"/>
            <a:ext cx="2011680" cy="228600"/>
          </a:xfrm>
          <a:prstGeom prst="rect">
            <a:avLst/>
          </a:prstGeom>
          <a:noFill/>
          <a:ln/>
        </p:spPr>
        <p:txBody>
          <a:bodyPr wrap="square" rtlCol="0" anchor="ctr"/>
          <a:lstStyle/>
          <a:p>
            <a:pPr marL="0" indent="0">
              <a:buNone/>
            </a:pPr>
            <a:r>
              <a:rPr lang="en-US" sz="850" b="1" dirty="0">
                <a:solidFill>
                  <a:srgbClr val="202124"/>
                </a:solidFill>
              </a:rPr>
              <a:t>Mixed date formats (516 rows)</a:t>
            </a:r>
            <a:endParaRPr lang="en-US" sz="850" dirty="0"/>
          </a:p>
        </p:txBody>
      </p:sp>
      <p:sp>
        <p:nvSpPr>
          <p:cNvPr id="30" name="Text 28"/>
          <p:cNvSpPr/>
          <p:nvPr/>
        </p:nvSpPr>
        <p:spPr>
          <a:xfrm>
            <a:off x="621792" y="2331720"/>
            <a:ext cx="3657600" cy="182880"/>
          </a:xfrm>
          <a:prstGeom prst="rect">
            <a:avLst/>
          </a:prstGeom>
          <a:noFill/>
          <a:ln/>
        </p:spPr>
        <p:txBody>
          <a:bodyPr wrap="square" rtlCol="0" anchor="ctr"/>
          <a:lstStyle/>
          <a:p>
            <a:pPr marL="0" indent="0">
              <a:buNone/>
            </a:pPr>
            <a:r>
              <a:rPr lang="en-US" sz="750" dirty="0">
                <a:solidFill>
                  <a:srgbClr val="5F6368"/>
                </a:solidFill>
                <a:latin typeface="Consolas" pitchFamily="34" charset="0"/>
                <a:ea typeface="Consolas" pitchFamily="34" charset="-122"/>
                <a:cs typeface="Consolas" pitchFamily="34" charset="-120"/>
              </a:rPr>
              <a:t>SAFE.PARSE_DATE('%d/%m/%Y') + COALESCE</a:t>
            </a:r>
            <a:endParaRPr lang="en-US" sz="750" dirty="0"/>
          </a:p>
        </p:txBody>
      </p:sp>
      <p:sp>
        <p:nvSpPr>
          <p:cNvPr id="31" name="Shape 29"/>
          <p:cNvSpPr/>
          <p:nvPr/>
        </p:nvSpPr>
        <p:spPr>
          <a:xfrm>
            <a:off x="438912" y="2624328"/>
            <a:ext cx="109728" cy="109728"/>
          </a:xfrm>
          <a:prstGeom prst="ellipse">
            <a:avLst/>
          </a:prstGeom>
          <a:solidFill>
            <a:srgbClr val="EA4335"/>
          </a:solidFill>
          <a:ln w="12700">
            <a:solidFill>
              <a:srgbClr val="EA4335"/>
            </a:solidFill>
            <a:prstDash val="solid"/>
          </a:ln>
        </p:spPr>
      </p:sp>
      <p:sp>
        <p:nvSpPr>
          <p:cNvPr id="32" name="Text 30"/>
          <p:cNvSpPr/>
          <p:nvPr/>
        </p:nvSpPr>
        <p:spPr>
          <a:xfrm>
            <a:off x="621792" y="2560320"/>
            <a:ext cx="2011680" cy="228600"/>
          </a:xfrm>
          <a:prstGeom prst="rect">
            <a:avLst/>
          </a:prstGeom>
          <a:noFill/>
          <a:ln/>
        </p:spPr>
        <p:txBody>
          <a:bodyPr wrap="square" rtlCol="0" anchor="ctr"/>
          <a:lstStyle/>
          <a:p>
            <a:pPr marL="0" indent="0">
              <a:buNone/>
            </a:pPr>
            <a:r>
              <a:rPr lang="en-US" sz="850" b="1" dirty="0">
                <a:solidFill>
                  <a:srgbClr val="202124"/>
                </a:solidFill>
              </a:rPr>
              <a:t>Null Project_ID (1,029 rows)</a:t>
            </a:r>
            <a:endParaRPr lang="en-US" sz="850" dirty="0"/>
          </a:p>
        </p:txBody>
      </p:sp>
      <p:sp>
        <p:nvSpPr>
          <p:cNvPr id="33" name="Text 31"/>
          <p:cNvSpPr/>
          <p:nvPr/>
        </p:nvSpPr>
        <p:spPr>
          <a:xfrm>
            <a:off x="621792" y="2788920"/>
            <a:ext cx="3657600" cy="182880"/>
          </a:xfrm>
          <a:prstGeom prst="rect">
            <a:avLst/>
          </a:prstGeom>
          <a:noFill/>
          <a:ln/>
        </p:spPr>
        <p:txBody>
          <a:bodyPr wrap="square" rtlCol="0" anchor="ctr"/>
          <a:lstStyle/>
          <a:p>
            <a:pPr marL="0" indent="0">
              <a:buNone/>
            </a:pPr>
            <a:r>
              <a:rPr lang="en-US" sz="750" dirty="0">
                <a:solidFill>
                  <a:srgbClr val="5F6368"/>
                </a:solidFill>
                <a:latin typeface="Consolas" pitchFamily="34" charset="0"/>
                <a:ea typeface="Consolas" pitchFamily="34" charset="-122"/>
                <a:cs typeface="Consolas" pitchFamily="34" charset="-120"/>
              </a:rPr>
              <a:t>COALESCE(Project_ID, 'Untagged')</a:t>
            </a:r>
            <a:endParaRPr lang="en-US" sz="750" dirty="0"/>
          </a:p>
        </p:txBody>
      </p:sp>
      <p:sp>
        <p:nvSpPr>
          <p:cNvPr id="34" name="Shape 32"/>
          <p:cNvSpPr/>
          <p:nvPr/>
        </p:nvSpPr>
        <p:spPr>
          <a:xfrm>
            <a:off x="438912" y="3081528"/>
            <a:ext cx="109728" cy="109728"/>
          </a:xfrm>
          <a:prstGeom prst="ellipse">
            <a:avLst/>
          </a:prstGeom>
          <a:solidFill>
            <a:srgbClr val="FBBC04"/>
          </a:solidFill>
          <a:ln w="12700">
            <a:solidFill>
              <a:srgbClr val="FBBC04"/>
            </a:solidFill>
            <a:prstDash val="solid"/>
          </a:ln>
        </p:spPr>
      </p:sp>
      <p:sp>
        <p:nvSpPr>
          <p:cNvPr id="35" name="Text 33"/>
          <p:cNvSpPr/>
          <p:nvPr/>
        </p:nvSpPr>
        <p:spPr>
          <a:xfrm>
            <a:off x="621792" y="3017520"/>
            <a:ext cx="2011680" cy="228600"/>
          </a:xfrm>
          <a:prstGeom prst="rect">
            <a:avLst/>
          </a:prstGeom>
          <a:noFill/>
          <a:ln/>
        </p:spPr>
        <p:txBody>
          <a:bodyPr wrap="square" rtlCol="0" anchor="ctr"/>
          <a:lstStyle/>
          <a:p>
            <a:pPr marL="0" indent="0">
              <a:buNone/>
            </a:pPr>
            <a:r>
              <a:rPr lang="en-US" sz="850" b="1" dirty="0">
                <a:solidFill>
                  <a:srgbClr val="202124"/>
                </a:solidFill>
              </a:rPr>
              <a:t>SKU_ID = 'NA' (2,008 rows)</a:t>
            </a:r>
            <a:endParaRPr lang="en-US" sz="850" dirty="0"/>
          </a:p>
        </p:txBody>
      </p:sp>
      <p:sp>
        <p:nvSpPr>
          <p:cNvPr id="36" name="Text 34"/>
          <p:cNvSpPr/>
          <p:nvPr/>
        </p:nvSpPr>
        <p:spPr>
          <a:xfrm>
            <a:off x="621792" y="3246120"/>
            <a:ext cx="3657600" cy="182880"/>
          </a:xfrm>
          <a:prstGeom prst="rect">
            <a:avLst/>
          </a:prstGeom>
          <a:noFill/>
          <a:ln/>
        </p:spPr>
        <p:txBody>
          <a:bodyPr wrap="square" rtlCol="0" anchor="ctr"/>
          <a:lstStyle/>
          <a:p>
            <a:pPr marL="0" indent="0">
              <a:buNone/>
            </a:pPr>
            <a:r>
              <a:rPr lang="en-US" sz="750" dirty="0">
                <a:solidFill>
                  <a:srgbClr val="5F6368"/>
                </a:solidFill>
                <a:latin typeface="Consolas" pitchFamily="34" charset="0"/>
                <a:ea typeface="Consolas" pitchFamily="34" charset="-122"/>
                <a:cs typeface="Consolas" pitchFamily="34" charset="-120"/>
              </a:rPr>
              <a:t>CASE WHEN SKU_ID='NA' THEN 'Unknown SKU'</a:t>
            </a:r>
            <a:endParaRPr lang="en-US" sz="750" dirty="0"/>
          </a:p>
        </p:txBody>
      </p:sp>
      <p:sp>
        <p:nvSpPr>
          <p:cNvPr id="37" name="Shape 35"/>
          <p:cNvSpPr/>
          <p:nvPr/>
        </p:nvSpPr>
        <p:spPr>
          <a:xfrm>
            <a:off x="438912" y="3538728"/>
            <a:ext cx="109728" cy="109728"/>
          </a:xfrm>
          <a:prstGeom prst="ellipse">
            <a:avLst/>
          </a:prstGeom>
          <a:solidFill>
            <a:srgbClr val="FBBC04"/>
          </a:solidFill>
          <a:ln w="12700">
            <a:solidFill>
              <a:srgbClr val="FBBC04"/>
            </a:solidFill>
            <a:prstDash val="solid"/>
          </a:ln>
        </p:spPr>
      </p:sp>
      <p:sp>
        <p:nvSpPr>
          <p:cNvPr id="38" name="Text 36"/>
          <p:cNvSpPr/>
          <p:nvPr/>
        </p:nvSpPr>
        <p:spPr>
          <a:xfrm>
            <a:off x="621792" y="3474720"/>
            <a:ext cx="2011680" cy="228600"/>
          </a:xfrm>
          <a:prstGeom prst="rect">
            <a:avLst/>
          </a:prstGeom>
          <a:noFill/>
          <a:ln/>
        </p:spPr>
        <p:txBody>
          <a:bodyPr wrap="square" rtlCol="0" anchor="ctr"/>
          <a:lstStyle/>
          <a:p>
            <a:pPr marL="0" indent="0">
              <a:buNone/>
            </a:pPr>
            <a:r>
              <a:rPr lang="en-US" sz="850" b="1" dirty="0">
                <a:solidFill>
                  <a:srgbClr val="202124"/>
                </a:solidFill>
              </a:rPr>
              <a:t>Whitespace in Service_Category</a:t>
            </a:r>
            <a:endParaRPr lang="en-US" sz="850" dirty="0"/>
          </a:p>
        </p:txBody>
      </p:sp>
      <p:sp>
        <p:nvSpPr>
          <p:cNvPr id="39" name="Text 37"/>
          <p:cNvSpPr/>
          <p:nvPr/>
        </p:nvSpPr>
        <p:spPr>
          <a:xfrm>
            <a:off x="621792" y="3703320"/>
            <a:ext cx="3657600" cy="182880"/>
          </a:xfrm>
          <a:prstGeom prst="rect">
            <a:avLst/>
          </a:prstGeom>
          <a:noFill/>
          <a:ln/>
        </p:spPr>
        <p:txBody>
          <a:bodyPr wrap="square" rtlCol="0" anchor="ctr"/>
          <a:lstStyle/>
          <a:p>
            <a:pPr marL="0" indent="0">
              <a:buNone/>
            </a:pPr>
            <a:r>
              <a:rPr lang="en-US" sz="750" dirty="0">
                <a:solidFill>
                  <a:srgbClr val="5F6368"/>
                </a:solidFill>
                <a:latin typeface="Consolas" pitchFamily="34" charset="0"/>
                <a:ea typeface="Consolas" pitchFamily="34" charset="-122"/>
                <a:cs typeface="Consolas" pitchFamily="34" charset="-120"/>
              </a:rPr>
              <a:t>TRIM(Service_Category)</a:t>
            </a:r>
            <a:endParaRPr lang="en-US" sz="750" dirty="0"/>
          </a:p>
        </p:txBody>
      </p:sp>
      <p:sp>
        <p:nvSpPr>
          <p:cNvPr id="40" name="Shape 38"/>
          <p:cNvSpPr/>
          <p:nvPr/>
        </p:nvSpPr>
        <p:spPr>
          <a:xfrm>
            <a:off x="438912" y="3995928"/>
            <a:ext cx="109728" cy="109728"/>
          </a:xfrm>
          <a:prstGeom prst="ellipse">
            <a:avLst/>
          </a:prstGeom>
          <a:solidFill>
            <a:srgbClr val="1A73E8"/>
          </a:solidFill>
          <a:ln w="12700">
            <a:solidFill>
              <a:srgbClr val="1A73E8"/>
            </a:solidFill>
            <a:prstDash val="solid"/>
          </a:ln>
        </p:spPr>
      </p:sp>
      <p:sp>
        <p:nvSpPr>
          <p:cNvPr id="41" name="Text 39"/>
          <p:cNvSpPr/>
          <p:nvPr/>
        </p:nvSpPr>
        <p:spPr>
          <a:xfrm>
            <a:off x="621792" y="3931920"/>
            <a:ext cx="2011680" cy="228600"/>
          </a:xfrm>
          <a:prstGeom prst="rect">
            <a:avLst/>
          </a:prstGeom>
          <a:noFill/>
          <a:ln/>
        </p:spPr>
        <p:txBody>
          <a:bodyPr wrap="square" rtlCol="0" anchor="ctr"/>
          <a:lstStyle/>
          <a:p>
            <a:pPr marL="0" indent="0">
              <a:buNone/>
            </a:pPr>
            <a:r>
              <a:rPr lang="en-US" sz="850" b="1" dirty="0">
                <a:solidFill>
                  <a:srgbClr val="202124"/>
                </a:solidFill>
              </a:rPr>
              <a:t>Env labels: dev/PROD</a:t>
            </a:r>
            <a:endParaRPr lang="en-US" sz="850" dirty="0"/>
          </a:p>
        </p:txBody>
      </p:sp>
      <p:sp>
        <p:nvSpPr>
          <p:cNvPr id="42" name="Text 40"/>
          <p:cNvSpPr/>
          <p:nvPr/>
        </p:nvSpPr>
        <p:spPr>
          <a:xfrm>
            <a:off x="621792" y="4160520"/>
            <a:ext cx="3657600" cy="182880"/>
          </a:xfrm>
          <a:prstGeom prst="rect">
            <a:avLst/>
          </a:prstGeom>
          <a:noFill/>
          <a:ln/>
        </p:spPr>
        <p:txBody>
          <a:bodyPr wrap="square" rtlCol="0" anchor="ctr"/>
          <a:lstStyle/>
          <a:p>
            <a:pPr marL="0" indent="0">
              <a:buNone/>
            </a:pPr>
            <a:r>
              <a:rPr lang="en-US" sz="750" dirty="0">
                <a:solidFill>
                  <a:srgbClr val="5F6368"/>
                </a:solidFill>
                <a:latin typeface="Consolas" pitchFamily="34" charset="0"/>
                <a:ea typeface="Consolas" pitchFamily="34" charset="-122"/>
                <a:cs typeface="Consolas" pitchFamily="34" charset="-120"/>
              </a:rPr>
              <a:t>CASE WHEN env='dev' THEN 'Development'...</a:t>
            </a:r>
            <a:endParaRPr lang="en-US" sz="750" dirty="0"/>
          </a:p>
        </p:txBody>
      </p:sp>
      <p:sp>
        <p:nvSpPr>
          <p:cNvPr id="43" name="Shape 41"/>
          <p:cNvSpPr/>
          <p:nvPr/>
        </p:nvSpPr>
        <p:spPr>
          <a:xfrm>
            <a:off x="438912" y="4453128"/>
            <a:ext cx="109728" cy="109728"/>
          </a:xfrm>
          <a:prstGeom prst="ellipse">
            <a:avLst/>
          </a:prstGeom>
          <a:solidFill>
            <a:srgbClr val="1A73E8"/>
          </a:solidFill>
          <a:ln w="12700">
            <a:solidFill>
              <a:srgbClr val="1A73E8"/>
            </a:solidFill>
            <a:prstDash val="solid"/>
          </a:ln>
        </p:spPr>
      </p:sp>
      <p:sp>
        <p:nvSpPr>
          <p:cNvPr id="44" name="Text 42"/>
          <p:cNvSpPr/>
          <p:nvPr/>
        </p:nvSpPr>
        <p:spPr>
          <a:xfrm>
            <a:off x="621792" y="4389120"/>
            <a:ext cx="2011680" cy="228600"/>
          </a:xfrm>
          <a:prstGeom prst="rect">
            <a:avLst/>
          </a:prstGeom>
          <a:noFill/>
          <a:ln/>
        </p:spPr>
        <p:txBody>
          <a:bodyPr wrap="square" rtlCol="0" anchor="ctr"/>
          <a:lstStyle/>
          <a:p>
            <a:pPr marL="0" indent="0">
              <a:buNone/>
            </a:pPr>
            <a:r>
              <a:rPr lang="en-US" sz="850" b="1" dirty="0">
                <a:solidFill>
                  <a:srgbClr val="202124"/>
                </a:solidFill>
              </a:rPr>
              <a:t>Null Department (6 rows)</a:t>
            </a:r>
            <a:endParaRPr lang="en-US" sz="850" dirty="0"/>
          </a:p>
        </p:txBody>
      </p:sp>
      <p:sp>
        <p:nvSpPr>
          <p:cNvPr id="45" name="Text 43"/>
          <p:cNvSpPr/>
          <p:nvPr/>
        </p:nvSpPr>
        <p:spPr>
          <a:xfrm>
            <a:off x="621792" y="4617720"/>
            <a:ext cx="3657600" cy="182880"/>
          </a:xfrm>
          <a:prstGeom prst="rect">
            <a:avLst/>
          </a:prstGeom>
          <a:noFill/>
          <a:ln/>
        </p:spPr>
        <p:txBody>
          <a:bodyPr wrap="square" rtlCol="0" anchor="ctr"/>
          <a:lstStyle/>
          <a:p>
            <a:pPr marL="0" indent="0">
              <a:buNone/>
            </a:pPr>
            <a:r>
              <a:rPr lang="en-US" sz="750" dirty="0">
                <a:solidFill>
                  <a:srgbClr val="5F6368"/>
                </a:solidFill>
                <a:latin typeface="Consolas" pitchFamily="34" charset="0"/>
                <a:ea typeface="Consolas" pitchFamily="34" charset="-122"/>
                <a:cs typeface="Consolas" pitchFamily="34" charset="-120"/>
              </a:rPr>
              <a:t>COALESCE(Department, 'Unassigned')</a:t>
            </a:r>
            <a:endParaRPr lang="en-US" sz="750" dirty="0"/>
          </a:p>
        </p:txBody>
      </p:sp>
      <p:sp>
        <p:nvSpPr>
          <p:cNvPr id="46" name="Shape 44"/>
          <p:cNvSpPr/>
          <p:nvPr/>
        </p:nvSpPr>
        <p:spPr>
          <a:xfrm>
            <a:off x="4519974" y="1723802"/>
            <a:ext cx="4206240" cy="3200400"/>
          </a:xfrm>
          <a:prstGeom prst="rect">
            <a:avLst/>
          </a:prstGeom>
          <a:solidFill>
            <a:srgbClr val="FFFFFF"/>
          </a:solidFill>
          <a:ln w="6350">
            <a:solidFill>
              <a:srgbClr val="DADDE1"/>
            </a:solidFill>
            <a:prstDash val="solid"/>
          </a:ln>
          <a:effectLst>
            <a:outerShdw blurRad="50800" dist="25400" dir="8100000" algn="bl" rotWithShape="0">
              <a:srgbClr val="000000">
                <a:alpha val="8000"/>
              </a:srgbClr>
            </a:outerShdw>
          </a:effectLst>
        </p:spPr>
        <p:txBody>
          <a:bodyPr/>
          <a:lstStyle/>
          <a:p>
            <a:endParaRPr lang="en-IN" dirty="0"/>
          </a:p>
        </p:txBody>
      </p:sp>
      <p:sp>
        <p:nvSpPr>
          <p:cNvPr id="47" name="Shape 45"/>
          <p:cNvSpPr/>
          <p:nvPr/>
        </p:nvSpPr>
        <p:spPr>
          <a:xfrm>
            <a:off x="4800600" y="1792224"/>
            <a:ext cx="45720" cy="201168"/>
          </a:xfrm>
          <a:prstGeom prst="rect">
            <a:avLst/>
          </a:prstGeom>
          <a:solidFill>
            <a:srgbClr val="1A73E8"/>
          </a:solidFill>
          <a:ln w="12700">
            <a:solidFill>
              <a:srgbClr val="1A73E8"/>
            </a:solidFill>
            <a:prstDash val="solid"/>
          </a:ln>
        </p:spPr>
      </p:sp>
      <p:sp>
        <p:nvSpPr>
          <p:cNvPr id="48" name="Text 46"/>
          <p:cNvSpPr/>
          <p:nvPr/>
        </p:nvSpPr>
        <p:spPr>
          <a:xfrm>
            <a:off x="4892040" y="1792224"/>
            <a:ext cx="3657600" cy="201168"/>
          </a:xfrm>
          <a:prstGeom prst="rect">
            <a:avLst/>
          </a:prstGeom>
          <a:noFill/>
          <a:ln/>
        </p:spPr>
        <p:txBody>
          <a:bodyPr wrap="square" rtlCol="0" anchor="ctr"/>
          <a:lstStyle/>
          <a:p>
            <a:pPr marL="0" indent="0">
              <a:buNone/>
            </a:pPr>
            <a:r>
              <a:rPr lang="en-US" sz="1000" b="1" dirty="0">
                <a:solidFill>
                  <a:srgbClr val="202124"/>
                </a:solidFill>
              </a:rPr>
              <a:t>Star schema — Power BI Model View</a:t>
            </a:r>
            <a:endParaRPr lang="en-US" sz="1000" dirty="0"/>
          </a:p>
        </p:txBody>
      </p:sp>
      <p:sp>
        <p:nvSpPr>
          <p:cNvPr id="49" name="Shape 47"/>
          <p:cNvSpPr/>
          <p:nvPr/>
        </p:nvSpPr>
        <p:spPr>
          <a:xfrm>
            <a:off x="4846320" y="2038166"/>
            <a:ext cx="1371600" cy="384048"/>
          </a:xfrm>
          <a:prstGeom prst="rect">
            <a:avLst/>
          </a:prstGeom>
          <a:solidFill>
            <a:srgbClr val="1A73E8">
              <a:alpha val="15000"/>
            </a:srgbClr>
          </a:solidFill>
          <a:ln w="12700">
            <a:solidFill>
              <a:srgbClr val="1A73E8"/>
            </a:solidFill>
            <a:prstDash val="solid"/>
          </a:ln>
        </p:spPr>
        <p:txBody>
          <a:bodyPr/>
          <a:lstStyle/>
          <a:p>
            <a:pPr algn="ctr"/>
            <a:r>
              <a:rPr lang="en-US" sz="1000" b="1" dirty="0" err="1">
                <a:solidFill>
                  <a:srgbClr val="1A73E8"/>
                </a:solidFill>
              </a:rPr>
              <a:t>Dim_Date</a:t>
            </a:r>
            <a:endParaRPr lang="en-US" sz="1000" dirty="0"/>
          </a:p>
          <a:p>
            <a:endParaRPr lang="en-IN" dirty="0"/>
          </a:p>
        </p:txBody>
      </p:sp>
      <p:sp>
        <p:nvSpPr>
          <p:cNvPr id="50" name="Text 48"/>
          <p:cNvSpPr/>
          <p:nvPr/>
        </p:nvSpPr>
        <p:spPr>
          <a:xfrm>
            <a:off x="5806440" y="2103120"/>
            <a:ext cx="1371600" cy="384048"/>
          </a:xfrm>
          <a:prstGeom prst="rect">
            <a:avLst/>
          </a:prstGeom>
          <a:noFill/>
          <a:ln/>
        </p:spPr>
        <p:txBody>
          <a:bodyPr wrap="square" rtlCol="0" anchor="ctr"/>
          <a:lstStyle/>
          <a:p>
            <a:pPr marL="0" indent="0" algn="ctr">
              <a:buNone/>
            </a:pPr>
            <a:endParaRPr lang="en-US" sz="800" dirty="0"/>
          </a:p>
        </p:txBody>
      </p:sp>
      <p:sp>
        <p:nvSpPr>
          <p:cNvPr id="51" name="Shape 49"/>
          <p:cNvSpPr/>
          <p:nvPr/>
        </p:nvSpPr>
        <p:spPr>
          <a:xfrm>
            <a:off x="4846320" y="3291840"/>
            <a:ext cx="1441914" cy="406435"/>
          </a:xfrm>
          <a:prstGeom prst="rect">
            <a:avLst/>
          </a:prstGeom>
          <a:solidFill>
            <a:srgbClr val="34A853">
              <a:alpha val="15000"/>
            </a:srgbClr>
          </a:solidFill>
          <a:ln w="12700">
            <a:solidFill>
              <a:srgbClr val="34A853"/>
            </a:solidFill>
            <a:prstDash val="solid"/>
          </a:ln>
        </p:spPr>
      </p:sp>
      <p:sp>
        <p:nvSpPr>
          <p:cNvPr id="52" name="Text 50"/>
          <p:cNvSpPr/>
          <p:nvPr/>
        </p:nvSpPr>
        <p:spPr>
          <a:xfrm>
            <a:off x="4754880" y="3337560"/>
            <a:ext cx="1371600" cy="384048"/>
          </a:xfrm>
          <a:prstGeom prst="rect">
            <a:avLst/>
          </a:prstGeom>
          <a:noFill/>
          <a:ln/>
        </p:spPr>
        <p:txBody>
          <a:bodyPr wrap="square" rtlCol="0" anchor="ctr"/>
          <a:lstStyle/>
          <a:p>
            <a:pPr marL="0" indent="0" algn="ctr">
              <a:buNone/>
            </a:pPr>
            <a:r>
              <a:rPr lang="en-US" sz="800" b="1" dirty="0">
                <a:solidFill>
                  <a:srgbClr val="34A853"/>
                </a:solidFill>
              </a:rPr>
              <a:t>Dim_Projects</a:t>
            </a:r>
            <a:endParaRPr lang="en-US" sz="800" dirty="0"/>
          </a:p>
        </p:txBody>
      </p:sp>
      <p:sp>
        <p:nvSpPr>
          <p:cNvPr id="53" name="Shape 51"/>
          <p:cNvSpPr/>
          <p:nvPr/>
        </p:nvSpPr>
        <p:spPr>
          <a:xfrm>
            <a:off x="6858000" y="3337560"/>
            <a:ext cx="1371600" cy="384048"/>
          </a:xfrm>
          <a:prstGeom prst="rect">
            <a:avLst/>
          </a:prstGeom>
          <a:solidFill>
            <a:srgbClr val="FBBC04">
              <a:alpha val="15000"/>
            </a:srgbClr>
          </a:solidFill>
          <a:ln w="12700">
            <a:solidFill>
              <a:srgbClr val="FBBC04"/>
            </a:solidFill>
            <a:prstDash val="solid"/>
          </a:ln>
        </p:spPr>
      </p:sp>
      <p:sp>
        <p:nvSpPr>
          <p:cNvPr id="54" name="Text 52"/>
          <p:cNvSpPr/>
          <p:nvPr/>
        </p:nvSpPr>
        <p:spPr>
          <a:xfrm>
            <a:off x="6858000" y="3337560"/>
            <a:ext cx="1371600" cy="384048"/>
          </a:xfrm>
          <a:prstGeom prst="rect">
            <a:avLst/>
          </a:prstGeom>
          <a:noFill/>
          <a:ln/>
        </p:spPr>
        <p:txBody>
          <a:bodyPr wrap="square" rtlCol="0" anchor="ctr"/>
          <a:lstStyle/>
          <a:p>
            <a:pPr marL="0" indent="0" algn="ctr">
              <a:buNone/>
            </a:pPr>
            <a:r>
              <a:rPr lang="en-US" sz="800" b="1" dirty="0">
                <a:solidFill>
                  <a:srgbClr val="FBBC04"/>
                </a:solidFill>
              </a:rPr>
              <a:t>Dim_SKU</a:t>
            </a:r>
            <a:endParaRPr lang="en-US" sz="800" dirty="0"/>
          </a:p>
        </p:txBody>
      </p:sp>
      <p:sp>
        <p:nvSpPr>
          <p:cNvPr id="55" name="Shape 53"/>
          <p:cNvSpPr/>
          <p:nvPr/>
        </p:nvSpPr>
        <p:spPr>
          <a:xfrm>
            <a:off x="4754880" y="2606040"/>
            <a:ext cx="1533354" cy="475488"/>
          </a:xfrm>
          <a:prstGeom prst="rect">
            <a:avLst/>
          </a:prstGeom>
          <a:solidFill>
            <a:srgbClr val="EA4335">
              <a:alpha val="15000"/>
            </a:srgbClr>
          </a:solidFill>
          <a:ln w="12700">
            <a:solidFill>
              <a:srgbClr val="EA4335"/>
            </a:solidFill>
            <a:prstDash val="solid"/>
          </a:ln>
        </p:spPr>
      </p:sp>
      <p:sp>
        <p:nvSpPr>
          <p:cNvPr id="56" name="Text 54"/>
          <p:cNvSpPr/>
          <p:nvPr/>
        </p:nvSpPr>
        <p:spPr>
          <a:xfrm>
            <a:off x="4846320" y="2606040"/>
            <a:ext cx="1327457" cy="457200"/>
          </a:xfrm>
          <a:prstGeom prst="rect">
            <a:avLst/>
          </a:prstGeom>
          <a:noFill/>
          <a:ln/>
        </p:spPr>
        <p:txBody>
          <a:bodyPr wrap="square" rtlCol="0" anchor="ctr"/>
          <a:lstStyle/>
          <a:p>
            <a:pPr marL="0" indent="0" algn="ctr">
              <a:buNone/>
            </a:pPr>
            <a:r>
              <a:rPr lang="en-US" sz="800" b="1" dirty="0">
                <a:solidFill>
                  <a:srgbClr val="EA4335"/>
                </a:solidFill>
              </a:rPr>
              <a:t>Fact_Billing</a:t>
            </a:r>
            <a:endParaRPr lang="en-US" sz="800" dirty="0"/>
          </a:p>
        </p:txBody>
      </p:sp>
      <p:sp>
        <p:nvSpPr>
          <p:cNvPr id="57" name="Shape 55"/>
          <p:cNvSpPr/>
          <p:nvPr/>
        </p:nvSpPr>
        <p:spPr>
          <a:xfrm>
            <a:off x="6818586" y="2606040"/>
            <a:ext cx="1337862" cy="475488"/>
          </a:xfrm>
          <a:prstGeom prst="rect">
            <a:avLst/>
          </a:prstGeom>
          <a:solidFill>
            <a:srgbClr val="4285F4">
              <a:alpha val="15000"/>
            </a:srgbClr>
          </a:solidFill>
          <a:ln w="12700">
            <a:solidFill>
              <a:srgbClr val="4285F4"/>
            </a:solidFill>
            <a:prstDash val="solid"/>
          </a:ln>
        </p:spPr>
      </p:sp>
      <p:sp>
        <p:nvSpPr>
          <p:cNvPr id="58" name="Text 56"/>
          <p:cNvSpPr/>
          <p:nvPr/>
        </p:nvSpPr>
        <p:spPr>
          <a:xfrm>
            <a:off x="6858000" y="2606040"/>
            <a:ext cx="1298448" cy="384048"/>
          </a:xfrm>
          <a:prstGeom prst="rect">
            <a:avLst/>
          </a:prstGeom>
          <a:noFill/>
          <a:ln/>
        </p:spPr>
        <p:txBody>
          <a:bodyPr wrap="square" rtlCol="0" anchor="ctr"/>
          <a:lstStyle/>
          <a:p>
            <a:pPr marL="0" indent="0" algn="ctr">
              <a:buNone/>
            </a:pPr>
            <a:r>
              <a:rPr lang="en-US" sz="800" b="1" dirty="0" err="1">
                <a:solidFill>
                  <a:srgbClr val="4285F4"/>
                </a:solidFill>
              </a:rPr>
              <a:t>Fact_Networking</a:t>
            </a:r>
            <a:endParaRPr lang="en-US" sz="800" dirty="0"/>
          </a:p>
        </p:txBody>
      </p:sp>
      <p:sp>
        <p:nvSpPr>
          <p:cNvPr id="59" name="Text 57"/>
          <p:cNvSpPr/>
          <p:nvPr/>
        </p:nvSpPr>
        <p:spPr>
          <a:xfrm>
            <a:off x="4754880" y="3931920"/>
            <a:ext cx="3977640" cy="914400"/>
          </a:xfrm>
          <a:prstGeom prst="rect">
            <a:avLst/>
          </a:prstGeom>
          <a:noFill/>
          <a:ln/>
        </p:spPr>
        <p:txBody>
          <a:bodyPr wrap="square" rtlCol="0" anchor="ctr"/>
          <a:lstStyle/>
          <a:p>
            <a:pPr marL="0" indent="0">
              <a:lnSpc>
                <a:spcPct val="140000"/>
              </a:lnSpc>
              <a:buNone/>
            </a:pPr>
            <a:r>
              <a:rPr lang="en-US" sz="800" dirty="0">
                <a:solidFill>
                  <a:srgbClr val="5F6368"/>
                </a:solidFill>
              </a:rPr>
              <a:t>6 relationships defined:</a:t>
            </a:r>
            <a:endParaRPr lang="en-US" sz="800" dirty="0"/>
          </a:p>
          <a:p>
            <a:pPr>
              <a:lnSpc>
                <a:spcPct val="140000"/>
              </a:lnSpc>
            </a:pPr>
            <a:r>
              <a:rPr lang="en-US" sz="800" dirty="0">
                <a:solidFill>
                  <a:srgbClr val="5F6368"/>
                </a:solidFill>
              </a:rPr>
              <a:t>Fact_Billing → Dim_Date (Date)	 </a:t>
            </a:r>
            <a:r>
              <a:rPr lang="en-US" sz="800" dirty="0" err="1">
                <a:solidFill>
                  <a:srgbClr val="5F6368"/>
                </a:solidFill>
              </a:rPr>
              <a:t>Dim_Projects</a:t>
            </a:r>
            <a:r>
              <a:rPr lang="en-US" sz="800" dirty="0">
                <a:solidFill>
                  <a:srgbClr val="5F6368"/>
                </a:solidFill>
              </a:rPr>
              <a:t> (</a:t>
            </a:r>
            <a:r>
              <a:rPr lang="en-US" sz="800" dirty="0" err="1">
                <a:solidFill>
                  <a:srgbClr val="5F6368"/>
                </a:solidFill>
              </a:rPr>
              <a:t>Project_ID</a:t>
            </a:r>
            <a:r>
              <a:rPr lang="en-US" sz="800" dirty="0">
                <a:solidFill>
                  <a:srgbClr val="5F6368"/>
                </a:solidFill>
              </a:rPr>
              <a:t>) → budget</a:t>
            </a:r>
            <a:endParaRPr lang="en-US" sz="800" dirty="0"/>
          </a:p>
          <a:p>
            <a:pPr>
              <a:lnSpc>
                <a:spcPct val="140000"/>
              </a:lnSpc>
            </a:pPr>
            <a:r>
              <a:rPr lang="en-US" sz="800" dirty="0" err="1">
                <a:solidFill>
                  <a:srgbClr val="5F6368"/>
                </a:solidFill>
              </a:rPr>
              <a:t>Dim_Projects</a:t>
            </a:r>
            <a:r>
              <a:rPr lang="en-US" sz="800" dirty="0">
                <a:solidFill>
                  <a:srgbClr val="5F6368"/>
                </a:solidFill>
              </a:rPr>
              <a:t> (</a:t>
            </a:r>
            <a:r>
              <a:rPr lang="en-US" sz="800" dirty="0" err="1">
                <a:solidFill>
                  <a:srgbClr val="5F6368"/>
                </a:solidFill>
              </a:rPr>
              <a:t>Project_ID</a:t>
            </a:r>
            <a:r>
              <a:rPr lang="en-US" sz="800" dirty="0">
                <a:solidFill>
                  <a:srgbClr val="5F6368"/>
                </a:solidFill>
              </a:rPr>
              <a:t>) → </a:t>
            </a:r>
            <a:r>
              <a:rPr lang="en-US" sz="800" dirty="0" err="1">
                <a:solidFill>
                  <a:srgbClr val="5F6368"/>
                </a:solidFill>
              </a:rPr>
              <a:t>Fact_Billing</a:t>
            </a:r>
            <a:r>
              <a:rPr lang="en-US" sz="800" dirty="0">
                <a:solidFill>
                  <a:srgbClr val="5F6368"/>
                </a:solidFill>
              </a:rPr>
              <a:t> 	 </a:t>
            </a:r>
            <a:r>
              <a:rPr lang="en-US" sz="800" dirty="0" err="1">
                <a:solidFill>
                  <a:srgbClr val="5F6368"/>
                </a:solidFill>
              </a:rPr>
              <a:t>Dim_Projects</a:t>
            </a:r>
            <a:r>
              <a:rPr lang="en-US" sz="800" dirty="0">
                <a:solidFill>
                  <a:srgbClr val="5F6368"/>
                </a:solidFill>
              </a:rPr>
              <a:t>  → </a:t>
            </a:r>
            <a:r>
              <a:rPr lang="en-US" sz="800" dirty="0" err="1">
                <a:solidFill>
                  <a:srgbClr val="5F6368"/>
                </a:solidFill>
              </a:rPr>
              <a:t>Fact_Networking</a:t>
            </a:r>
            <a:endParaRPr lang="en-US" sz="800" dirty="0"/>
          </a:p>
          <a:p>
            <a:pPr>
              <a:lnSpc>
                <a:spcPct val="140000"/>
              </a:lnSpc>
            </a:pPr>
            <a:r>
              <a:rPr lang="en-US" sz="800" dirty="0">
                <a:solidFill>
                  <a:srgbClr val="5F6368"/>
                </a:solidFill>
              </a:rPr>
              <a:t>Fact_Billing → Dim_SKU (SKU_ID)	</a:t>
            </a:r>
            <a:r>
              <a:rPr lang="en-US" sz="800" dirty="0" err="1">
                <a:solidFill>
                  <a:srgbClr val="5F6368"/>
                </a:solidFill>
              </a:rPr>
              <a:t>Fact_Networking</a:t>
            </a:r>
            <a:r>
              <a:rPr lang="en-US" sz="800" dirty="0">
                <a:solidFill>
                  <a:srgbClr val="5F6368"/>
                </a:solidFill>
              </a:rPr>
              <a:t> → </a:t>
            </a:r>
            <a:r>
              <a:rPr lang="en-US" sz="800" dirty="0" err="1">
                <a:solidFill>
                  <a:srgbClr val="5F6368"/>
                </a:solidFill>
              </a:rPr>
              <a:t>Dim_Date</a:t>
            </a:r>
            <a:endParaRPr lang="en-US" sz="800" dirty="0"/>
          </a:p>
          <a:p>
            <a:pPr marL="0" indent="0">
              <a:lnSpc>
                <a:spcPct val="140000"/>
              </a:lnSpc>
              <a:buNone/>
            </a:pPr>
            <a:endParaRPr lang="en-US" sz="800" dirty="0"/>
          </a:p>
          <a:p>
            <a:pPr>
              <a:lnSpc>
                <a:spcPct val="140000"/>
              </a:lnSpc>
            </a:pPr>
            <a:r>
              <a:rPr lang="en-US" sz="800" dirty="0">
                <a:solidFill>
                  <a:srgbClr val="5F6368"/>
                </a:solidFill>
              </a:rPr>
              <a:t>	</a:t>
            </a:r>
            <a:endParaRPr lang="en-US" sz="800" dirty="0"/>
          </a:p>
          <a:p>
            <a:pPr marL="0" indent="0">
              <a:lnSpc>
                <a:spcPct val="140000"/>
              </a:lnSpc>
              <a:buNone/>
            </a:pPr>
            <a:endParaRPr lang="en-US" sz="800" dirty="0">
              <a:solidFill>
                <a:srgbClr val="5F6368"/>
              </a:solidFill>
            </a:endParaRPr>
          </a:p>
          <a:p>
            <a:pPr marL="0" indent="0">
              <a:lnSpc>
                <a:spcPct val="140000"/>
              </a:lnSpc>
              <a:buNone/>
            </a:pPr>
            <a:endParaRPr lang="en-US" sz="800" dirty="0"/>
          </a:p>
        </p:txBody>
      </p:sp>
      <p:sp>
        <p:nvSpPr>
          <p:cNvPr id="60" name="Shape 51">
            <a:extLst>
              <a:ext uri="{FF2B5EF4-FFF2-40B4-BE49-F238E27FC236}">
                <a16:creationId xmlns:a16="http://schemas.microsoft.com/office/drawing/2014/main" id="{98219A35-CF46-7116-5BCC-9199C6C1B77E}"/>
              </a:ext>
            </a:extLst>
          </p:cNvPr>
          <p:cNvSpPr/>
          <p:nvPr/>
        </p:nvSpPr>
        <p:spPr>
          <a:xfrm>
            <a:off x="6818586" y="2048256"/>
            <a:ext cx="1371600" cy="384048"/>
          </a:xfrm>
          <a:prstGeom prst="rect">
            <a:avLst/>
          </a:prstGeom>
          <a:solidFill>
            <a:srgbClr val="FBBC04">
              <a:alpha val="15000"/>
            </a:srgbClr>
          </a:solidFill>
          <a:ln w="12700">
            <a:solidFill>
              <a:srgbClr val="FBBC04"/>
            </a:solidFill>
            <a:prstDash val="solid"/>
          </a:ln>
        </p:spPr>
        <p:txBody>
          <a:bodyPr/>
          <a:lstStyle/>
          <a:p>
            <a:pPr algn="ctr"/>
            <a:r>
              <a:rPr lang="en-US" sz="1000" b="1" dirty="0">
                <a:solidFill>
                  <a:srgbClr val="1A73E8"/>
                </a:solidFill>
              </a:rPr>
              <a:t>Budget</a:t>
            </a:r>
            <a:endParaRPr lang="en-US" sz="1000" dirty="0"/>
          </a:p>
          <a:p>
            <a:endParaRPr lang="en-IN"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8FBFF"/>
        </a:solidFill>
        <a:effectLst/>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1A73E8"/>
          </a:solidFill>
          <a:ln w="12700">
            <a:solidFill>
              <a:srgbClr val="1A73E8"/>
            </a:solidFill>
            <a:prstDash val="solid"/>
          </a:ln>
        </p:spPr>
      </p:sp>
      <p:sp>
        <p:nvSpPr>
          <p:cNvPr id="3" name="Shape 1"/>
          <p:cNvSpPr/>
          <p:nvPr/>
        </p:nvSpPr>
        <p:spPr>
          <a:xfrm>
            <a:off x="0" y="0"/>
            <a:ext cx="685800" cy="685800"/>
          </a:xfrm>
          <a:prstGeom prst="rect">
            <a:avLst/>
          </a:prstGeom>
          <a:solidFill>
            <a:srgbClr val="0D47A1"/>
          </a:solidFill>
          <a:ln w="12700">
            <a:solidFill>
              <a:srgbClr val="0D47A1"/>
            </a:solidFill>
            <a:prstDash val="solid"/>
          </a:ln>
        </p:spPr>
      </p:sp>
      <p:sp>
        <p:nvSpPr>
          <p:cNvPr id="4" name="Text 2"/>
          <p:cNvSpPr/>
          <p:nvPr/>
        </p:nvSpPr>
        <p:spPr>
          <a:xfrm>
            <a:off x="0" y="0"/>
            <a:ext cx="685800" cy="685800"/>
          </a:xfrm>
          <a:prstGeom prst="rect">
            <a:avLst/>
          </a:prstGeom>
          <a:noFill/>
          <a:ln/>
        </p:spPr>
        <p:txBody>
          <a:bodyPr wrap="square" rtlCol="0" anchor="ctr"/>
          <a:lstStyle/>
          <a:p>
            <a:pPr marL="0" indent="0" algn="ctr">
              <a:buNone/>
            </a:pPr>
            <a:r>
              <a:rPr lang="en-US" sz="2000" b="1" dirty="0">
                <a:solidFill>
                  <a:srgbClr val="FFFFFF"/>
                </a:solidFill>
              </a:rPr>
              <a:t>G</a:t>
            </a:r>
            <a:endParaRPr lang="en-US" sz="2000" dirty="0"/>
          </a:p>
        </p:txBody>
      </p:sp>
      <p:sp>
        <p:nvSpPr>
          <p:cNvPr id="5" name="Text 3"/>
          <p:cNvSpPr/>
          <p:nvPr/>
        </p:nvSpPr>
        <p:spPr>
          <a:xfrm>
            <a:off x="777240" y="73152"/>
            <a:ext cx="6858000" cy="320040"/>
          </a:xfrm>
          <a:prstGeom prst="rect">
            <a:avLst/>
          </a:prstGeom>
          <a:noFill/>
          <a:ln/>
        </p:spPr>
        <p:txBody>
          <a:bodyPr wrap="square" rtlCol="0" anchor="ctr"/>
          <a:lstStyle/>
          <a:p>
            <a:pPr marL="0" indent="0">
              <a:buNone/>
            </a:pPr>
            <a:r>
              <a:rPr lang="en-US" sz="1400" b="1" dirty="0">
                <a:solidFill>
                  <a:srgbClr val="FFFFFF"/>
                </a:solidFill>
              </a:rPr>
              <a:t>Dashboard — 6 Report Pages</a:t>
            </a:r>
            <a:endParaRPr lang="en-US" sz="1400" dirty="0"/>
          </a:p>
        </p:txBody>
      </p:sp>
      <p:sp>
        <p:nvSpPr>
          <p:cNvPr id="6" name="Text 4"/>
          <p:cNvSpPr/>
          <p:nvPr/>
        </p:nvSpPr>
        <p:spPr>
          <a:xfrm>
            <a:off x="777240" y="384048"/>
            <a:ext cx="6858000" cy="228600"/>
          </a:xfrm>
          <a:prstGeom prst="rect">
            <a:avLst/>
          </a:prstGeom>
          <a:noFill/>
          <a:ln/>
        </p:spPr>
        <p:txBody>
          <a:bodyPr wrap="square" rtlCol="0" anchor="ctr"/>
          <a:lstStyle/>
          <a:p>
            <a:pPr marL="0" indent="0">
              <a:buNone/>
            </a:pPr>
            <a:r>
              <a:rPr lang="en-US" sz="900" dirty="0">
                <a:solidFill>
                  <a:srgbClr val="FFFFFF"/>
                </a:solidFill>
              </a:rPr>
              <a:t>Complete Power BI report structure with GCP Light Pro theme</a:t>
            </a:r>
            <a:endParaRPr lang="en-US" sz="900" dirty="0"/>
          </a:p>
        </p:txBody>
      </p:sp>
      <p:sp>
        <p:nvSpPr>
          <p:cNvPr id="7" name="Shape 5"/>
          <p:cNvSpPr/>
          <p:nvPr/>
        </p:nvSpPr>
        <p:spPr>
          <a:xfrm>
            <a:off x="274320" y="804672"/>
            <a:ext cx="2697480" cy="1874520"/>
          </a:xfrm>
          <a:prstGeom prst="rect">
            <a:avLst/>
          </a:prstGeom>
          <a:solidFill>
            <a:srgbClr val="FFFFFF"/>
          </a:solidFill>
          <a:ln w="6350">
            <a:solidFill>
              <a:srgbClr val="DADDE1"/>
            </a:solidFill>
            <a:prstDash val="solid"/>
          </a:ln>
          <a:effectLst>
            <a:outerShdw blurRad="50800" dist="25400" dir="8100000" algn="bl" rotWithShape="0">
              <a:srgbClr val="000000">
                <a:alpha val="8000"/>
              </a:srgbClr>
            </a:outerShdw>
          </a:effectLst>
        </p:spPr>
      </p:sp>
      <p:sp>
        <p:nvSpPr>
          <p:cNvPr id="8" name="Shape 6"/>
          <p:cNvSpPr/>
          <p:nvPr/>
        </p:nvSpPr>
        <p:spPr>
          <a:xfrm>
            <a:off x="274320" y="804672"/>
            <a:ext cx="64008" cy="1874520"/>
          </a:xfrm>
          <a:prstGeom prst="rect">
            <a:avLst/>
          </a:prstGeom>
          <a:solidFill>
            <a:srgbClr val="1A73E8"/>
          </a:solidFill>
          <a:ln w="12700">
            <a:solidFill>
              <a:srgbClr val="1A73E8"/>
            </a:solidFill>
            <a:prstDash val="solid"/>
          </a:ln>
        </p:spPr>
      </p:sp>
      <p:sp>
        <p:nvSpPr>
          <p:cNvPr id="9" name="Shape 7"/>
          <p:cNvSpPr/>
          <p:nvPr/>
        </p:nvSpPr>
        <p:spPr>
          <a:xfrm>
            <a:off x="438912" y="914400"/>
            <a:ext cx="457200" cy="457200"/>
          </a:xfrm>
          <a:prstGeom prst="rect">
            <a:avLst/>
          </a:prstGeom>
          <a:solidFill>
            <a:srgbClr val="1A73E8">
              <a:alpha val="15000"/>
            </a:srgbClr>
          </a:solidFill>
          <a:ln w="12700">
            <a:solidFill>
              <a:srgbClr val="1A73E8">
                <a:alpha val="40000"/>
              </a:srgbClr>
            </a:solidFill>
            <a:prstDash val="solid"/>
          </a:ln>
        </p:spPr>
      </p:sp>
      <p:sp>
        <p:nvSpPr>
          <p:cNvPr id="10" name="Text 8"/>
          <p:cNvSpPr/>
          <p:nvPr/>
        </p:nvSpPr>
        <p:spPr>
          <a:xfrm>
            <a:off x="438912" y="914400"/>
            <a:ext cx="457200" cy="457200"/>
          </a:xfrm>
          <a:prstGeom prst="rect">
            <a:avLst/>
          </a:prstGeom>
          <a:noFill/>
          <a:ln/>
        </p:spPr>
        <p:txBody>
          <a:bodyPr wrap="square" rtlCol="0" anchor="ctr"/>
          <a:lstStyle/>
          <a:p>
            <a:pPr marL="0" indent="0" algn="ctr">
              <a:buNone/>
            </a:pPr>
            <a:r>
              <a:rPr lang="en-US" sz="1600" b="1" dirty="0">
                <a:solidFill>
                  <a:srgbClr val="1A73E8"/>
                </a:solidFill>
              </a:rPr>
              <a:t>⬡</a:t>
            </a:r>
            <a:endParaRPr lang="en-US" sz="1600" dirty="0"/>
          </a:p>
        </p:txBody>
      </p:sp>
      <p:sp>
        <p:nvSpPr>
          <p:cNvPr id="11" name="Text 9"/>
          <p:cNvSpPr/>
          <p:nvPr/>
        </p:nvSpPr>
        <p:spPr>
          <a:xfrm>
            <a:off x="987552" y="932688"/>
            <a:ext cx="1874520" cy="201168"/>
          </a:xfrm>
          <a:prstGeom prst="rect">
            <a:avLst/>
          </a:prstGeom>
          <a:noFill/>
          <a:ln/>
        </p:spPr>
        <p:txBody>
          <a:bodyPr wrap="square" rtlCol="0" anchor="ctr"/>
          <a:lstStyle/>
          <a:p>
            <a:pPr marL="0" indent="0">
              <a:buNone/>
            </a:pPr>
            <a:r>
              <a:rPr lang="en-US" sz="800" b="1" dirty="0">
                <a:solidFill>
                  <a:srgbClr val="1A73E8"/>
                </a:solidFill>
              </a:rPr>
              <a:t>Page 1</a:t>
            </a:r>
            <a:endParaRPr lang="en-US" sz="800" dirty="0"/>
          </a:p>
        </p:txBody>
      </p:sp>
      <p:sp>
        <p:nvSpPr>
          <p:cNvPr id="12" name="Text 10"/>
          <p:cNvSpPr/>
          <p:nvPr/>
        </p:nvSpPr>
        <p:spPr>
          <a:xfrm>
            <a:off x="438912" y="1426464"/>
            <a:ext cx="2423160" cy="256032"/>
          </a:xfrm>
          <a:prstGeom prst="rect">
            <a:avLst/>
          </a:prstGeom>
          <a:noFill/>
          <a:ln/>
        </p:spPr>
        <p:txBody>
          <a:bodyPr wrap="square" rtlCol="0" anchor="ctr"/>
          <a:lstStyle/>
          <a:p>
            <a:pPr marL="0" indent="0">
              <a:buNone/>
            </a:pPr>
            <a:r>
              <a:rPr lang="en-US" sz="1050" b="1" dirty="0">
                <a:solidFill>
                  <a:srgbClr val="202124"/>
                </a:solidFill>
              </a:rPr>
              <a:t>Executive Summary</a:t>
            </a:r>
            <a:endParaRPr lang="en-US" sz="1050" dirty="0"/>
          </a:p>
        </p:txBody>
      </p:sp>
      <p:sp>
        <p:nvSpPr>
          <p:cNvPr id="13" name="Text 11"/>
          <p:cNvSpPr/>
          <p:nvPr/>
        </p:nvSpPr>
        <p:spPr>
          <a:xfrm>
            <a:off x="438912" y="1719072"/>
            <a:ext cx="2423160" cy="685800"/>
          </a:xfrm>
          <a:prstGeom prst="rect">
            <a:avLst/>
          </a:prstGeom>
          <a:noFill/>
          <a:ln/>
        </p:spPr>
        <p:txBody>
          <a:bodyPr wrap="square" rtlCol="0" anchor="ctr"/>
          <a:lstStyle/>
          <a:p>
            <a:pPr marL="0" indent="0">
              <a:lnSpc>
                <a:spcPct val="135000"/>
              </a:lnSpc>
              <a:buNone/>
            </a:pPr>
            <a:r>
              <a:rPr lang="en-US" sz="800" dirty="0">
                <a:solidFill>
                  <a:srgbClr val="5F6368"/>
                </a:solidFill>
              </a:rPr>
              <a:t>KPI cards, 17M trend line, region donut, top services bar</a:t>
            </a:r>
            <a:endParaRPr lang="en-US" sz="800" dirty="0"/>
          </a:p>
        </p:txBody>
      </p:sp>
      <p:sp>
        <p:nvSpPr>
          <p:cNvPr id="14" name="Shape 12"/>
          <p:cNvSpPr/>
          <p:nvPr/>
        </p:nvSpPr>
        <p:spPr>
          <a:xfrm>
            <a:off x="438912" y="2468880"/>
            <a:ext cx="2423160" cy="164592"/>
          </a:xfrm>
          <a:prstGeom prst="rect">
            <a:avLst/>
          </a:prstGeom>
          <a:solidFill>
            <a:srgbClr val="1A73E8">
              <a:alpha val="15000"/>
            </a:srgbClr>
          </a:solidFill>
          <a:ln w="12700">
            <a:solidFill>
              <a:srgbClr val="1A73E8">
                <a:alpha val="30000"/>
              </a:srgbClr>
            </a:solidFill>
            <a:prstDash val="solid"/>
          </a:ln>
        </p:spPr>
      </p:sp>
      <p:sp>
        <p:nvSpPr>
          <p:cNvPr id="15" name="Shape 13"/>
          <p:cNvSpPr/>
          <p:nvPr/>
        </p:nvSpPr>
        <p:spPr>
          <a:xfrm>
            <a:off x="3154680" y="804672"/>
            <a:ext cx="2697480" cy="1874520"/>
          </a:xfrm>
          <a:prstGeom prst="rect">
            <a:avLst/>
          </a:prstGeom>
          <a:solidFill>
            <a:srgbClr val="FFFFFF"/>
          </a:solidFill>
          <a:ln w="6350">
            <a:solidFill>
              <a:srgbClr val="DADDE1"/>
            </a:solidFill>
            <a:prstDash val="solid"/>
          </a:ln>
          <a:effectLst>
            <a:outerShdw blurRad="50800" dist="25400" dir="8100000" algn="bl" rotWithShape="0">
              <a:srgbClr val="000000">
                <a:alpha val="8000"/>
              </a:srgbClr>
            </a:outerShdw>
          </a:effectLst>
        </p:spPr>
      </p:sp>
      <p:sp>
        <p:nvSpPr>
          <p:cNvPr id="16" name="Shape 14"/>
          <p:cNvSpPr/>
          <p:nvPr/>
        </p:nvSpPr>
        <p:spPr>
          <a:xfrm>
            <a:off x="3154680" y="804672"/>
            <a:ext cx="64008" cy="1874520"/>
          </a:xfrm>
          <a:prstGeom prst="rect">
            <a:avLst/>
          </a:prstGeom>
          <a:solidFill>
            <a:srgbClr val="34A853"/>
          </a:solidFill>
          <a:ln w="12700">
            <a:solidFill>
              <a:srgbClr val="34A853"/>
            </a:solidFill>
            <a:prstDash val="solid"/>
          </a:ln>
        </p:spPr>
      </p:sp>
      <p:sp>
        <p:nvSpPr>
          <p:cNvPr id="17" name="Shape 15"/>
          <p:cNvSpPr/>
          <p:nvPr/>
        </p:nvSpPr>
        <p:spPr>
          <a:xfrm>
            <a:off x="3319272" y="914400"/>
            <a:ext cx="457200" cy="457200"/>
          </a:xfrm>
          <a:prstGeom prst="rect">
            <a:avLst/>
          </a:prstGeom>
          <a:solidFill>
            <a:srgbClr val="34A853">
              <a:alpha val="15000"/>
            </a:srgbClr>
          </a:solidFill>
          <a:ln w="12700">
            <a:solidFill>
              <a:srgbClr val="34A853">
                <a:alpha val="40000"/>
              </a:srgbClr>
            </a:solidFill>
            <a:prstDash val="solid"/>
          </a:ln>
        </p:spPr>
      </p:sp>
      <p:sp>
        <p:nvSpPr>
          <p:cNvPr id="18" name="Text 16"/>
          <p:cNvSpPr/>
          <p:nvPr/>
        </p:nvSpPr>
        <p:spPr>
          <a:xfrm>
            <a:off x="3319272" y="914400"/>
            <a:ext cx="457200" cy="457200"/>
          </a:xfrm>
          <a:prstGeom prst="rect">
            <a:avLst/>
          </a:prstGeom>
          <a:noFill/>
          <a:ln/>
        </p:spPr>
        <p:txBody>
          <a:bodyPr wrap="square" rtlCol="0" anchor="ctr"/>
          <a:lstStyle/>
          <a:p>
            <a:pPr marL="0" indent="0" algn="ctr">
              <a:buNone/>
            </a:pPr>
            <a:r>
              <a:rPr lang="en-US" sz="1600" b="1" dirty="0">
                <a:solidFill>
                  <a:srgbClr val="34A853"/>
                </a:solidFill>
              </a:rPr>
              <a:t>◈</a:t>
            </a:r>
            <a:endParaRPr lang="en-US" sz="1600" dirty="0"/>
          </a:p>
        </p:txBody>
      </p:sp>
      <p:sp>
        <p:nvSpPr>
          <p:cNvPr id="19" name="Text 17"/>
          <p:cNvSpPr/>
          <p:nvPr/>
        </p:nvSpPr>
        <p:spPr>
          <a:xfrm>
            <a:off x="3867912" y="932688"/>
            <a:ext cx="1874520" cy="201168"/>
          </a:xfrm>
          <a:prstGeom prst="rect">
            <a:avLst/>
          </a:prstGeom>
          <a:noFill/>
          <a:ln/>
        </p:spPr>
        <p:txBody>
          <a:bodyPr wrap="square" rtlCol="0" anchor="ctr"/>
          <a:lstStyle/>
          <a:p>
            <a:pPr marL="0" indent="0">
              <a:buNone/>
            </a:pPr>
            <a:r>
              <a:rPr lang="en-US" sz="800" b="1" dirty="0">
                <a:solidFill>
                  <a:srgbClr val="34A853"/>
                </a:solidFill>
              </a:rPr>
              <a:t>Page 2</a:t>
            </a:r>
            <a:endParaRPr lang="en-US" sz="800" dirty="0"/>
          </a:p>
        </p:txBody>
      </p:sp>
      <p:sp>
        <p:nvSpPr>
          <p:cNvPr id="20" name="Text 18"/>
          <p:cNvSpPr/>
          <p:nvPr/>
        </p:nvSpPr>
        <p:spPr>
          <a:xfrm>
            <a:off x="3319272" y="1426464"/>
            <a:ext cx="2423160" cy="256032"/>
          </a:xfrm>
          <a:prstGeom prst="rect">
            <a:avLst/>
          </a:prstGeom>
          <a:noFill/>
          <a:ln/>
        </p:spPr>
        <p:txBody>
          <a:bodyPr wrap="square" rtlCol="0" anchor="ctr"/>
          <a:lstStyle/>
          <a:p>
            <a:pPr marL="0" indent="0">
              <a:buNone/>
            </a:pPr>
            <a:r>
              <a:rPr lang="en-US" sz="1050" b="1" dirty="0">
                <a:solidFill>
                  <a:srgbClr val="202124"/>
                </a:solidFill>
              </a:rPr>
              <a:t>Service Breakdown</a:t>
            </a:r>
            <a:endParaRPr lang="en-US" sz="1050" dirty="0"/>
          </a:p>
        </p:txBody>
      </p:sp>
      <p:sp>
        <p:nvSpPr>
          <p:cNvPr id="21" name="Text 19"/>
          <p:cNvSpPr/>
          <p:nvPr/>
        </p:nvSpPr>
        <p:spPr>
          <a:xfrm>
            <a:off x="3319272" y="1719072"/>
            <a:ext cx="2423160" cy="685800"/>
          </a:xfrm>
          <a:prstGeom prst="rect">
            <a:avLst/>
          </a:prstGeom>
          <a:noFill/>
          <a:ln/>
        </p:spPr>
        <p:txBody>
          <a:bodyPr wrap="square" rtlCol="0" anchor="ctr"/>
          <a:lstStyle/>
          <a:p>
            <a:pPr marL="0" indent="0">
              <a:lnSpc>
                <a:spcPct val="135000"/>
              </a:lnSpc>
              <a:buNone/>
            </a:pPr>
            <a:r>
              <a:rPr lang="en-US" sz="800" dirty="0">
                <a:solidFill>
                  <a:srgbClr val="5F6368"/>
                </a:solidFill>
              </a:rPr>
              <a:t>Treemap, stacked area, SKU drill-through table, field parameter</a:t>
            </a:r>
            <a:endParaRPr lang="en-US" sz="800" dirty="0"/>
          </a:p>
        </p:txBody>
      </p:sp>
      <p:sp>
        <p:nvSpPr>
          <p:cNvPr id="22" name="Shape 20"/>
          <p:cNvSpPr/>
          <p:nvPr/>
        </p:nvSpPr>
        <p:spPr>
          <a:xfrm>
            <a:off x="3319272" y="2468880"/>
            <a:ext cx="2423160" cy="164592"/>
          </a:xfrm>
          <a:prstGeom prst="rect">
            <a:avLst/>
          </a:prstGeom>
          <a:solidFill>
            <a:srgbClr val="34A853">
              <a:alpha val="15000"/>
            </a:srgbClr>
          </a:solidFill>
          <a:ln w="12700">
            <a:solidFill>
              <a:srgbClr val="34A853">
                <a:alpha val="30000"/>
              </a:srgbClr>
            </a:solidFill>
            <a:prstDash val="solid"/>
          </a:ln>
        </p:spPr>
      </p:sp>
      <p:sp>
        <p:nvSpPr>
          <p:cNvPr id="23" name="Shape 21"/>
          <p:cNvSpPr/>
          <p:nvPr/>
        </p:nvSpPr>
        <p:spPr>
          <a:xfrm>
            <a:off x="6035040" y="804672"/>
            <a:ext cx="2697480" cy="1874520"/>
          </a:xfrm>
          <a:prstGeom prst="rect">
            <a:avLst/>
          </a:prstGeom>
          <a:solidFill>
            <a:srgbClr val="FFFFFF"/>
          </a:solidFill>
          <a:ln w="6350">
            <a:solidFill>
              <a:srgbClr val="DADDE1"/>
            </a:solidFill>
            <a:prstDash val="solid"/>
          </a:ln>
          <a:effectLst>
            <a:outerShdw blurRad="50800" dist="25400" dir="8100000" algn="bl" rotWithShape="0">
              <a:srgbClr val="000000">
                <a:alpha val="8000"/>
              </a:srgbClr>
            </a:outerShdw>
          </a:effectLst>
        </p:spPr>
      </p:sp>
      <p:sp>
        <p:nvSpPr>
          <p:cNvPr id="24" name="Shape 22"/>
          <p:cNvSpPr/>
          <p:nvPr/>
        </p:nvSpPr>
        <p:spPr>
          <a:xfrm>
            <a:off x="6035040" y="804672"/>
            <a:ext cx="64008" cy="1874520"/>
          </a:xfrm>
          <a:prstGeom prst="rect">
            <a:avLst/>
          </a:prstGeom>
          <a:solidFill>
            <a:srgbClr val="FBBC04"/>
          </a:solidFill>
          <a:ln w="12700">
            <a:solidFill>
              <a:srgbClr val="FBBC04"/>
            </a:solidFill>
            <a:prstDash val="solid"/>
          </a:ln>
        </p:spPr>
      </p:sp>
      <p:sp>
        <p:nvSpPr>
          <p:cNvPr id="25" name="Shape 23"/>
          <p:cNvSpPr/>
          <p:nvPr/>
        </p:nvSpPr>
        <p:spPr>
          <a:xfrm>
            <a:off x="6199632" y="914400"/>
            <a:ext cx="457200" cy="457200"/>
          </a:xfrm>
          <a:prstGeom prst="rect">
            <a:avLst/>
          </a:prstGeom>
          <a:solidFill>
            <a:srgbClr val="FBBC04">
              <a:alpha val="15000"/>
            </a:srgbClr>
          </a:solidFill>
          <a:ln w="12700">
            <a:solidFill>
              <a:srgbClr val="FBBC04">
                <a:alpha val="40000"/>
              </a:srgbClr>
            </a:solidFill>
            <a:prstDash val="solid"/>
          </a:ln>
        </p:spPr>
      </p:sp>
      <p:sp>
        <p:nvSpPr>
          <p:cNvPr id="26" name="Text 24"/>
          <p:cNvSpPr/>
          <p:nvPr/>
        </p:nvSpPr>
        <p:spPr>
          <a:xfrm>
            <a:off x="6199632" y="914400"/>
            <a:ext cx="457200" cy="457200"/>
          </a:xfrm>
          <a:prstGeom prst="rect">
            <a:avLst/>
          </a:prstGeom>
          <a:noFill/>
          <a:ln/>
        </p:spPr>
        <p:txBody>
          <a:bodyPr wrap="square" rtlCol="0" anchor="ctr"/>
          <a:lstStyle/>
          <a:p>
            <a:pPr marL="0" indent="0" algn="ctr">
              <a:buNone/>
            </a:pPr>
            <a:r>
              <a:rPr lang="en-US" sz="1600" b="1" dirty="0">
                <a:solidFill>
                  <a:srgbClr val="FBBC04"/>
                </a:solidFill>
              </a:rPr>
              <a:t>◉</a:t>
            </a:r>
            <a:endParaRPr lang="en-US" sz="1600" dirty="0"/>
          </a:p>
        </p:txBody>
      </p:sp>
      <p:sp>
        <p:nvSpPr>
          <p:cNvPr id="27" name="Text 25"/>
          <p:cNvSpPr/>
          <p:nvPr/>
        </p:nvSpPr>
        <p:spPr>
          <a:xfrm>
            <a:off x="6748272" y="932688"/>
            <a:ext cx="1874520" cy="201168"/>
          </a:xfrm>
          <a:prstGeom prst="rect">
            <a:avLst/>
          </a:prstGeom>
          <a:noFill/>
          <a:ln/>
        </p:spPr>
        <p:txBody>
          <a:bodyPr wrap="square" rtlCol="0" anchor="ctr"/>
          <a:lstStyle/>
          <a:p>
            <a:pPr marL="0" indent="0">
              <a:buNone/>
            </a:pPr>
            <a:r>
              <a:rPr lang="en-US" sz="800" b="1" dirty="0">
                <a:solidFill>
                  <a:srgbClr val="FBBC04"/>
                </a:solidFill>
              </a:rPr>
              <a:t>Page 3</a:t>
            </a:r>
            <a:endParaRPr lang="en-US" sz="800" dirty="0"/>
          </a:p>
        </p:txBody>
      </p:sp>
      <p:sp>
        <p:nvSpPr>
          <p:cNvPr id="28" name="Text 26"/>
          <p:cNvSpPr/>
          <p:nvPr/>
        </p:nvSpPr>
        <p:spPr>
          <a:xfrm>
            <a:off x="6199632" y="1426464"/>
            <a:ext cx="2423160" cy="256032"/>
          </a:xfrm>
          <a:prstGeom prst="rect">
            <a:avLst/>
          </a:prstGeom>
          <a:noFill/>
          <a:ln/>
        </p:spPr>
        <p:txBody>
          <a:bodyPr wrap="square" rtlCol="0" anchor="ctr"/>
          <a:lstStyle/>
          <a:p>
            <a:pPr marL="0" indent="0">
              <a:buNone/>
            </a:pPr>
            <a:r>
              <a:rPr lang="en-US" sz="1050" b="1" dirty="0">
                <a:solidFill>
                  <a:srgbClr val="202124"/>
                </a:solidFill>
              </a:rPr>
              <a:t>Team Chargeback</a:t>
            </a:r>
            <a:endParaRPr lang="en-US" sz="1050" dirty="0"/>
          </a:p>
        </p:txBody>
      </p:sp>
      <p:sp>
        <p:nvSpPr>
          <p:cNvPr id="29" name="Text 27"/>
          <p:cNvSpPr/>
          <p:nvPr/>
        </p:nvSpPr>
        <p:spPr>
          <a:xfrm>
            <a:off x="6199632" y="1719072"/>
            <a:ext cx="2423160" cy="685800"/>
          </a:xfrm>
          <a:prstGeom prst="rect">
            <a:avLst/>
          </a:prstGeom>
          <a:noFill/>
          <a:ln/>
        </p:spPr>
        <p:txBody>
          <a:bodyPr wrap="square" rtlCol="0" anchor="ctr"/>
          <a:lstStyle/>
          <a:p>
            <a:pPr marL="0" indent="0">
              <a:lnSpc>
                <a:spcPct val="135000"/>
              </a:lnSpc>
              <a:buNone/>
            </a:pPr>
            <a:r>
              <a:rPr lang="en-US" sz="800" dirty="0">
                <a:solidFill>
                  <a:srgbClr val="5F6368"/>
                </a:solidFill>
              </a:rPr>
              <a:t>Dept bar chart, env donut, dept×env matrix, untagged KPIs</a:t>
            </a:r>
            <a:endParaRPr lang="en-US" sz="800" dirty="0"/>
          </a:p>
        </p:txBody>
      </p:sp>
      <p:sp>
        <p:nvSpPr>
          <p:cNvPr id="30" name="Shape 28"/>
          <p:cNvSpPr/>
          <p:nvPr/>
        </p:nvSpPr>
        <p:spPr>
          <a:xfrm>
            <a:off x="6199632" y="2468880"/>
            <a:ext cx="2423160" cy="164592"/>
          </a:xfrm>
          <a:prstGeom prst="rect">
            <a:avLst/>
          </a:prstGeom>
          <a:solidFill>
            <a:srgbClr val="FBBC04">
              <a:alpha val="15000"/>
            </a:srgbClr>
          </a:solidFill>
          <a:ln w="12700">
            <a:solidFill>
              <a:srgbClr val="FBBC04">
                <a:alpha val="30000"/>
              </a:srgbClr>
            </a:solidFill>
            <a:prstDash val="solid"/>
          </a:ln>
        </p:spPr>
      </p:sp>
      <p:sp>
        <p:nvSpPr>
          <p:cNvPr id="31" name="Shape 29"/>
          <p:cNvSpPr/>
          <p:nvPr/>
        </p:nvSpPr>
        <p:spPr>
          <a:xfrm>
            <a:off x="274320" y="2862072"/>
            <a:ext cx="2697480" cy="1874520"/>
          </a:xfrm>
          <a:prstGeom prst="rect">
            <a:avLst/>
          </a:prstGeom>
          <a:solidFill>
            <a:srgbClr val="FFFFFF"/>
          </a:solidFill>
          <a:ln w="6350">
            <a:solidFill>
              <a:srgbClr val="DADDE1"/>
            </a:solidFill>
            <a:prstDash val="solid"/>
          </a:ln>
          <a:effectLst>
            <a:outerShdw blurRad="50800" dist="25400" dir="8100000" algn="bl" rotWithShape="0">
              <a:srgbClr val="000000">
                <a:alpha val="8000"/>
              </a:srgbClr>
            </a:outerShdw>
          </a:effectLst>
        </p:spPr>
      </p:sp>
      <p:sp>
        <p:nvSpPr>
          <p:cNvPr id="32" name="Shape 30"/>
          <p:cNvSpPr/>
          <p:nvPr/>
        </p:nvSpPr>
        <p:spPr>
          <a:xfrm>
            <a:off x="274320" y="2862072"/>
            <a:ext cx="64008" cy="1874520"/>
          </a:xfrm>
          <a:prstGeom prst="rect">
            <a:avLst/>
          </a:prstGeom>
          <a:solidFill>
            <a:srgbClr val="EA4335"/>
          </a:solidFill>
          <a:ln w="12700">
            <a:solidFill>
              <a:srgbClr val="EA4335"/>
            </a:solidFill>
            <a:prstDash val="solid"/>
          </a:ln>
        </p:spPr>
      </p:sp>
      <p:sp>
        <p:nvSpPr>
          <p:cNvPr id="33" name="Shape 31"/>
          <p:cNvSpPr/>
          <p:nvPr/>
        </p:nvSpPr>
        <p:spPr>
          <a:xfrm>
            <a:off x="438912" y="2971800"/>
            <a:ext cx="457200" cy="457200"/>
          </a:xfrm>
          <a:prstGeom prst="rect">
            <a:avLst/>
          </a:prstGeom>
          <a:solidFill>
            <a:srgbClr val="EA4335">
              <a:alpha val="15000"/>
            </a:srgbClr>
          </a:solidFill>
          <a:ln w="12700">
            <a:solidFill>
              <a:srgbClr val="EA4335">
                <a:alpha val="40000"/>
              </a:srgbClr>
            </a:solidFill>
            <a:prstDash val="solid"/>
          </a:ln>
        </p:spPr>
      </p:sp>
      <p:sp>
        <p:nvSpPr>
          <p:cNvPr id="34" name="Text 32"/>
          <p:cNvSpPr/>
          <p:nvPr/>
        </p:nvSpPr>
        <p:spPr>
          <a:xfrm>
            <a:off x="438912" y="2971800"/>
            <a:ext cx="457200" cy="457200"/>
          </a:xfrm>
          <a:prstGeom prst="rect">
            <a:avLst/>
          </a:prstGeom>
          <a:noFill/>
          <a:ln/>
        </p:spPr>
        <p:txBody>
          <a:bodyPr wrap="square" rtlCol="0" anchor="ctr"/>
          <a:lstStyle/>
          <a:p>
            <a:pPr marL="0" indent="0" algn="ctr">
              <a:buNone/>
            </a:pPr>
            <a:r>
              <a:rPr lang="en-US" sz="1600" b="1" dirty="0">
                <a:solidFill>
                  <a:srgbClr val="EA4335"/>
                </a:solidFill>
              </a:rPr>
              <a:t>◎</a:t>
            </a:r>
            <a:endParaRPr lang="en-US" sz="1600" dirty="0"/>
          </a:p>
        </p:txBody>
      </p:sp>
      <p:sp>
        <p:nvSpPr>
          <p:cNvPr id="35" name="Text 33"/>
          <p:cNvSpPr/>
          <p:nvPr/>
        </p:nvSpPr>
        <p:spPr>
          <a:xfrm>
            <a:off x="987552" y="2990088"/>
            <a:ext cx="1874520" cy="201168"/>
          </a:xfrm>
          <a:prstGeom prst="rect">
            <a:avLst/>
          </a:prstGeom>
          <a:noFill/>
          <a:ln/>
        </p:spPr>
        <p:txBody>
          <a:bodyPr wrap="square" rtlCol="0" anchor="ctr"/>
          <a:lstStyle/>
          <a:p>
            <a:pPr marL="0" indent="0">
              <a:buNone/>
            </a:pPr>
            <a:r>
              <a:rPr lang="en-US" sz="800" b="1" dirty="0">
                <a:solidFill>
                  <a:srgbClr val="EA4335"/>
                </a:solidFill>
              </a:rPr>
              <a:t>Page 4</a:t>
            </a:r>
            <a:endParaRPr lang="en-US" sz="800" dirty="0"/>
          </a:p>
        </p:txBody>
      </p:sp>
      <p:sp>
        <p:nvSpPr>
          <p:cNvPr id="36" name="Text 34"/>
          <p:cNvSpPr/>
          <p:nvPr/>
        </p:nvSpPr>
        <p:spPr>
          <a:xfrm>
            <a:off x="438912" y="3483864"/>
            <a:ext cx="2423160" cy="256032"/>
          </a:xfrm>
          <a:prstGeom prst="rect">
            <a:avLst/>
          </a:prstGeom>
          <a:noFill/>
          <a:ln/>
        </p:spPr>
        <p:txBody>
          <a:bodyPr wrap="square" rtlCol="0" anchor="ctr"/>
          <a:lstStyle/>
          <a:p>
            <a:pPr marL="0" indent="0">
              <a:buNone/>
            </a:pPr>
            <a:r>
              <a:rPr lang="en-US" sz="1050" b="1" dirty="0">
                <a:solidFill>
                  <a:srgbClr val="202124"/>
                </a:solidFill>
              </a:rPr>
              <a:t>Idle Resources</a:t>
            </a:r>
            <a:endParaRPr lang="en-US" sz="1050" dirty="0"/>
          </a:p>
        </p:txBody>
      </p:sp>
      <p:sp>
        <p:nvSpPr>
          <p:cNvPr id="37" name="Text 35"/>
          <p:cNvSpPr/>
          <p:nvPr/>
        </p:nvSpPr>
        <p:spPr>
          <a:xfrm>
            <a:off x="438912" y="3776472"/>
            <a:ext cx="2423160" cy="685800"/>
          </a:xfrm>
          <a:prstGeom prst="rect">
            <a:avLst/>
          </a:prstGeom>
          <a:noFill/>
          <a:ln/>
        </p:spPr>
        <p:txBody>
          <a:bodyPr wrap="square" rtlCol="0" anchor="ctr"/>
          <a:lstStyle/>
          <a:p>
            <a:pPr marL="0" indent="0">
              <a:lnSpc>
                <a:spcPct val="135000"/>
              </a:lnSpc>
              <a:buNone/>
            </a:pPr>
            <a:r>
              <a:rPr lang="en-US" sz="800" dirty="0">
                <a:solidFill>
                  <a:srgbClr val="5F6368"/>
                </a:solidFill>
              </a:rPr>
              <a:t>Scatter plot, idle list table, region bar, savings KPIs</a:t>
            </a:r>
            <a:endParaRPr lang="en-US" sz="800" dirty="0"/>
          </a:p>
        </p:txBody>
      </p:sp>
      <p:sp>
        <p:nvSpPr>
          <p:cNvPr id="38" name="Shape 36"/>
          <p:cNvSpPr/>
          <p:nvPr/>
        </p:nvSpPr>
        <p:spPr>
          <a:xfrm>
            <a:off x="438912" y="4526280"/>
            <a:ext cx="2423160" cy="164592"/>
          </a:xfrm>
          <a:prstGeom prst="rect">
            <a:avLst/>
          </a:prstGeom>
          <a:solidFill>
            <a:srgbClr val="EA4335">
              <a:alpha val="15000"/>
            </a:srgbClr>
          </a:solidFill>
          <a:ln w="12700">
            <a:solidFill>
              <a:srgbClr val="EA4335">
                <a:alpha val="30000"/>
              </a:srgbClr>
            </a:solidFill>
            <a:prstDash val="solid"/>
          </a:ln>
        </p:spPr>
      </p:sp>
      <p:sp>
        <p:nvSpPr>
          <p:cNvPr id="39" name="Shape 37"/>
          <p:cNvSpPr/>
          <p:nvPr/>
        </p:nvSpPr>
        <p:spPr>
          <a:xfrm>
            <a:off x="3154680" y="2862072"/>
            <a:ext cx="2697480" cy="1874520"/>
          </a:xfrm>
          <a:prstGeom prst="rect">
            <a:avLst/>
          </a:prstGeom>
          <a:solidFill>
            <a:srgbClr val="FFFFFF"/>
          </a:solidFill>
          <a:ln w="6350">
            <a:solidFill>
              <a:srgbClr val="DADDE1"/>
            </a:solidFill>
            <a:prstDash val="solid"/>
          </a:ln>
          <a:effectLst>
            <a:outerShdw blurRad="50800" dist="25400" dir="8100000" algn="bl" rotWithShape="0">
              <a:srgbClr val="000000">
                <a:alpha val="8000"/>
              </a:srgbClr>
            </a:outerShdw>
          </a:effectLst>
        </p:spPr>
      </p:sp>
      <p:sp>
        <p:nvSpPr>
          <p:cNvPr id="40" name="Shape 38"/>
          <p:cNvSpPr/>
          <p:nvPr/>
        </p:nvSpPr>
        <p:spPr>
          <a:xfrm>
            <a:off x="3154680" y="2862072"/>
            <a:ext cx="64008" cy="1874520"/>
          </a:xfrm>
          <a:prstGeom prst="rect">
            <a:avLst/>
          </a:prstGeom>
          <a:solidFill>
            <a:srgbClr val="4285F4"/>
          </a:solidFill>
          <a:ln w="12700">
            <a:solidFill>
              <a:srgbClr val="4285F4"/>
            </a:solidFill>
            <a:prstDash val="solid"/>
          </a:ln>
        </p:spPr>
      </p:sp>
      <p:sp>
        <p:nvSpPr>
          <p:cNvPr id="41" name="Shape 39"/>
          <p:cNvSpPr/>
          <p:nvPr/>
        </p:nvSpPr>
        <p:spPr>
          <a:xfrm>
            <a:off x="3319272" y="2971800"/>
            <a:ext cx="457200" cy="457200"/>
          </a:xfrm>
          <a:prstGeom prst="rect">
            <a:avLst/>
          </a:prstGeom>
          <a:solidFill>
            <a:srgbClr val="4285F4">
              <a:alpha val="15000"/>
            </a:srgbClr>
          </a:solidFill>
          <a:ln w="12700">
            <a:solidFill>
              <a:srgbClr val="4285F4">
                <a:alpha val="40000"/>
              </a:srgbClr>
            </a:solidFill>
            <a:prstDash val="solid"/>
          </a:ln>
        </p:spPr>
      </p:sp>
      <p:sp>
        <p:nvSpPr>
          <p:cNvPr id="42" name="Text 40"/>
          <p:cNvSpPr/>
          <p:nvPr/>
        </p:nvSpPr>
        <p:spPr>
          <a:xfrm>
            <a:off x="3319272" y="2971800"/>
            <a:ext cx="457200" cy="457200"/>
          </a:xfrm>
          <a:prstGeom prst="rect">
            <a:avLst/>
          </a:prstGeom>
          <a:noFill/>
          <a:ln/>
        </p:spPr>
        <p:txBody>
          <a:bodyPr wrap="square" rtlCol="0" anchor="ctr"/>
          <a:lstStyle/>
          <a:p>
            <a:pPr marL="0" indent="0" algn="ctr">
              <a:buNone/>
            </a:pPr>
            <a:r>
              <a:rPr lang="en-US" sz="1600" b="1" dirty="0">
                <a:solidFill>
                  <a:srgbClr val="4285F4"/>
                </a:solidFill>
              </a:rPr>
              <a:t>▣</a:t>
            </a:r>
            <a:endParaRPr lang="en-US" sz="1600" dirty="0"/>
          </a:p>
        </p:txBody>
      </p:sp>
      <p:sp>
        <p:nvSpPr>
          <p:cNvPr id="43" name="Text 41"/>
          <p:cNvSpPr/>
          <p:nvPr/>
        </p:nvSpPr>
        <p:spPr>
          <a:xfrm>
            <a:off x="3867912" y="2990088"/>
            <a:ext cx="1874520" cy="201168"/>
          </a:xfrm>
          <a:prstGeom prst="rect">
            <a:avLst/>
          </a:prstGeom>
          <a:noFill/>
          <a:ln/>
        </p:spPr>
        <p:txBody>
          <a:bodyPr wrap="square" rtlCol="0" anchor="ctr"/>
          <a:lstStyle/>
          <a:p>
            <a:pPr marL="0" indent="0">
              <a:buNone/>
            </a:pPr>
            <a:r>
              <a:rPr lang="en-US" sz="800" b="1" dirty="0">
                <a:solidFill>
                  <a:srgbClr val="4285F4"/>
                </a:solidFill>
              </a:rPr>
              <a:t>Page 5</a:t>
            </a:r>
            <a:endParaRPr lang="en-US" sz="800" dirty="0"/>
          </a:p>
        </p:txBody>
      </p:sp>
      <p:sp>
        <p:nvSpPr>
          <p:cNvPr id="44" name="Text 42"/>
          <p:cNvSpPr/>
          <p:nvPr/>
        </p:nvSpPr>
        <p:spPr>
          <a:xfrm>
            <a:off x="3319272" y="3483864"/>
            <a:ext cx="2423160" cy="256032"/>
          </a:xfrm>
          <a:prstGeom prst="rect">
            <a:avLst/>
          </a:prstGeom>
          <a:noFill/>
          <a:ln/>
        </p:spPr>
        <p:txBody>
          <a:bodyPr wrap="square" rtlCol="0" anchor="ctr"/>
          <a:lstStyle/>
          <a:p>
            <a:pPr marL="0" indent="0">
              <a:buNone/>
            </a:pPr>
            <a:r>
              <a:rPr lang="en-US" sz="1050" b="1" dirty="0">
                <a:solidFill>
                  <a:srgbClr val="202124"/>
                </a:solidFill>
              </a:rPr>
              <a:t>Budget vs Actual</a:t>
            </a:r>
            <a:endParaRPr lang="en-US" sz="1050" dirty="0"/>
          </a:p>
        </p:txBody>
      </p:sp>
      <p:sp>
        <p:nvSpPr>
          <p:cNvPr id="45" name="Text 43"/>
          <p:cNvSpPr/>
          <p:nvPr/>
        </p:nvSpPr>
        <p:spPr>
          <a:xfrm>
            <a:off x="3319272" y="3776472"/>
            <a:ext cx="2423160" cy="685800"/>
          </a:xfrm>
          <a:prstGeom prst="rect">
            <a:avLst/>
          </a:prstGeom>
          <a:noFill/>
          <a:ln/>
        </p:spPr>
        <p:txBody>
          <a:bodyPr wrap="square" rtlCol="0" anchor="ctr"/>
          <a:lstStyle/>
          <a:p>
            <a:pPr marL="0" indent="0">
              <a:lnSpc>
                <a:spcPct val="135000"/>
              </a:lnSpc>
              <a:buNone/>
            </a:pPr>
            <a:r>
              <a:rPr lang="en-US" sz="800" dirty="0">
                <a:solidFill>
                  <a:srgbClr val="5F6368"/>
                </a:solidFill>
              </a:rPr>
              <a:t>Waterfall, line vs target, gauge, RAG status table</a:t>
            </a:r>
            <a:endParaRPr lang="en-US" sz="800" dirty="0"/>
          </a:p>
        </p:txBody>
      </p:sp>
      <p:sp>
        <p:nvSpPr>
          <p:cNvPr id="46" name="Shape 44"/>
          <p:cNvSpPr/>
          <p:nvPr/>
        </p:nvSpPr>
        <p:spPr>
          <a:xfrm>
            <a:off x="3319272" y="4526280"/>
            <a:ext cx="2423160" cy="164592"/>
          </a:xfrm>
          <a:prstGeom prst="rect">
            <a:avLst/>
          </a:prstGeom>
          <a:solidFill>
            <a:srgbClr val="4285F4">
              <a:alpha val="15000"/>
            </a:srgbClr>
          </a:solidFill>
          <a:ln w="12700">
            <a:solidFill>
              <a:srgbClr val="4285F4">
                <a:alpha val="30000"/>
              </a:srgbClr>
            </a:solidFill>
            <a:prstDash val="solid"/>
          </a:ln>
        </p:spPr>
      </p:sp>
      <p:sp>
        <p:nvSpPr>
          <p:cNvPr id="47" name="Shape 45"/>
          <p:cNvSpPr/>
          <p:nvPr/>
        </p:nvSpPr>
        <p:spPr>
          <a:xfrm>
            <a:off x="6035040" y="2862072"/>
            <a:ext cx="2697480" cy="1874520"/>
          </a:xfrm>
          <a:prstGeom prst="rect">
            <a:avLst/>
          </a:prstGeom>
          <a:solidFill>
            <a:srgbClr val="FFFFFF"/>
          </a:solidFill>
          <a:ln w="6350">
            <a:solidFill>
              <a:srgbClr val="DADDE1"/>
            </a:solidFill>
            <a:prstDash val="solid"/>
          </a:ln>
          <a:effectLst>
            <a:outerShdw blurRad="50800" dist="25400" dir="8100000" algn="bl" rotWithShape="0">
              <a:srgbClr val="000000">
                <a:alpha val="8000"/>
              </a:srgbClr>
            </a:outerShdw>
          </a:effectLst>
        </p:spPr>
      </p:sp>
      <p:sp>
        <p:nvSpPr>
          <p:cNvPr id="48" name="Shape 46"/>
          <p:cNvSpPr/>
          <p:nvPr/>
        </p:nvSpPr>
        <p:spPr>
          <a:xfrm>
            <a:off x="6035040" y="2862072"/>
            <a:ext cx="64008" cy="1874520"/>
          </a:xfrm>
          <a:prstGeom prst="rect">
            <a:avLst/>
          </a:prstGeom>
          <a:solidFill>
            <a:srgbClr val="34A853"/>
          </a:solidFill>
          <a:ln w="12700">
            <a:solidFill>
              <a:srgbClr val="34A853"/>
            </a:solidFill>
            <a:prstDash val="solid"/>
          </a:ln>
        </p:spPr>
      </p:sp>
      <p:sp>
        <p:nvSpPr>
          <p:cNvPr id="49" name="Shape 47"/>
          <p:cNvSpPr/>
          <p:nvPr/>
        </p:nvSpPr>
        <p:spPr>
          <a:xfrm>
            <a:off x="6199632" y="2971800"/>
            <a:ext cx="457200" cy="457200"/>
          </a:xfrm>
          <a:prstGeom prst="rect">
            <a:avLst/>
          </a:prstGeom>
          <a:solidFill>
            <a:srgbClr val="34A853">
              <a:alpha val="15000"/>
            </a:srgbClr>
          </a:solidFill>
          <a:ln w="12700">
            <a:solidFill>
              <a:srgbClr val="34A853">
                <a:alpha val="40000"/>
              </a:srgbClr>
            </a:solidFill>
            <a:prstDash val="solid"/>
          </a:ln>
        </p:spPr>
      </p:sp>
      <p:sp>
        <p:nvSpPr>
          <p:cNvPr id="50" name="Text 48"/>
          <p:cNvSpPr/>
          <p:nvPr/>
        </p:nvSpPr>
        <p:spPr>
          <a:xfrm>
            <a:off x="6199632" y="2971800"/>
            <a:ext cx="457200" cy="457200"/>
          </a:xfrm>
          <a:prstGeom prst="rect">
            <a:avLst/>
          </a:prstGeom>
          <a:noFill/>
          <a:ln/>
        </p:spPr>
        <p:txBody>
          <a:bodyPr wrap="square" rtlCol="0" anchor="ctr"/>
          <a:lstStyle/>
          <a:p>
            <a:pPr marL="0" indent="0" algn="ctr">
              <a:buNone/>
            </a:pPr>
            <a:r>
              <a:rPr lang="en-US" sz="1600" b="1" dirty="0">
                <a:solidFill>
                  <a:srgbClr val="34A853"/>
                </a:solidFill>
              </a:rPr>
              <a:t>◬</a:t>
            </a:r>
            <a:endParaRPr lang="en-US" sz="1600" dirty="0"/>
          </a:p>
        </p:txBody>
      </p:sp>
      <p:sp>
        <p:nvSpPr>
          <p:cNvPr id="51" name="Text 49"/>
          <p:cNvSpPr/>
          <p:nvPr/>
        </p:nvSpPr>
        <p:spPr>
          <a:xfrm>
            <a:off x="6748272" y="2990088"/>
            <a:ext cx="1874520" cy="201168"/>
          </a:xfrm>
          <a:prstGeom prst="rect">
            <a:avLst/>
          </a:prstGeom>
          <a:noFill/>
          <a:ln/>
        </p:spPr>
        <p:txBody>
          <a:bodyPr wrap="square" rtlCol="0" anchor="ctr"/>
          <a:lstStyle/>
          <a:p>
            <a:pPr marL="0" indent="0">
              <a:buNone/>
            </a:pPr>
            <a:r>
              <a:rPr lang="en-US" sz="800" b="1" dirty="0">
                <a:solidFill>
                  <a:srgbClr val="34A853"/>
                </a:solidFill>
              </a:rPr>
              <a:t>Page 6</a:t>
            </a:r>
            <a:endParaRPr lang="en-US" sz="800" dirty="0"/>
          </a:p>
        </p:txBody>
      </p:sp>
      <p:sp>
        <p:nvSpPr>
          <p:cNvPr id="52" name="Text 50"/>
          <p:cNvSpPr/>
          <p:nvPr/>
        </p:nvSpPr>
        <p:spPr>
          <a:xfrm>
            <a:off x="6199632" y="3483864"/>
            <a:ext cx="2423160" cy="256032"/>
          </a:xfrm>
          <a:prstGeom prst="rect">
            <a:avLst/>
          </a:prstGeom>
          <a:noFill/>
          <a:ln/>
        </p:spPr>
        <p:txBody>
          <a:bodyPr wrap="square" rtlCol="0" anchor="ctr"/>
          <a:lstStyle/>
          <a:p>
            <a:pPr marL="0" indent="0">
              <a:buNone/>
            </a:pPr>
            <a:r>
              <a:rPr lang="en-US" sz="1050" b="1" dirty="0">
                <a:solidFill>
                  <a:srgbClr val="202124"/>
                </a:solidFill>
              </a:rPr>
              <a:t>Anomaly Detection</a:t>
            </a:r>
            <a:endParaRPr lang="en-US" sz="1050" dirty="0"/>
          </a:p>
        </p:txBody>
      </p:sp>
      <p:sp>
        <p:nvSpPr>
          <p:cNvPr id="53" name="Text 51"/>
          <p:cNvSpPr/>
          <p:nvPr/>
        </p:nvSpPr>
        <p:spPr>
          <a:xfrm>
            <a:off x="6199632" y="3776472"/>
            <a:ext cx="2423160" cy="685800"/>
          </a:xfrm>
          <a:prstGeom prst="rect">
            <a:avLst/>
          </a:prstGeom>
          <a:noFill/>
          <a:ln/>
        </p:spPr>
        <p:txBody>
          <a:bodyPr wrap="square" rtlCol="0" anchor="ctr"/>
          <a:lstStyle/>
          <a:p>
            <a:pPr marL="0" indent="0">
              <a:lnSpc>
                <a:spcPct val="135000"/>
              </a:lnSpc>
              <a:buNone/>
            </a:pPr>
            <a:r>
              <a:rPr lang="en-US" sz="800" dirty="0">
                <a:solidFill>
                  <a:srgbClr val="5F6368"/>
                </a:solidFill>
              </a:rPr>
              <a:t>Daily + rolling avg line, spike table, network anomaly chart</a:t>
            </a:r>
            <a:endParaRPr lang="en-US" sz="800" dirty="0"/>
          </a:p>
        </p:txBody>
      </p:sp>
      <p:sp>
        <p:nvSpPr>
          <p:cNvPr id="54" name="Shape 52"/>
          <p:cNvSpPr/>
          <p:nvPr/>
        </p:nvSpPr>
        <p:spPr>
          <a:xfrm>
            <a:off x="6199632" y="4526280"/>
            <a:ext cx="2423160" cy="164592"/>
          </a:xfrm>
          <a:prstGeom prst="rect">
            <a:avLst/>
          </a:prstGeom>
          <a:solidFill>
            <a:srgbClr val="34A853">
              <a:alpha val="15000"/>
            </a:srgbClr>
          </a:solidFill>
          <a:ln w="12700">
            <a:solidFill>
              <a:srgbClr val="34A853">
                <a:alpha val="30000"/>
              </a:srgbClr>
            </a:solidFill>
            <a:prstDash val="solid"/>
          </a:ln>
        </p:spPr>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8FBFF"/>
        </a:solidFill>
        <a:effectLst/>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1A73E8"/>
          </a:solidFill>
          <a:ln w="12700">
            <a:solidFill>
              <a:srgbClr val="1A73E8"/>
            </a:solidFill>
            <a:prstDash val="solid"/>
          </a:ln>
        </p:spPr>
      </p:sp>
      <p:sp>
        <p:nvSpPr>
          <p:cNvPr id="3" name="Shape 1"/>
          <p:cNvSpPr/>
          <p:nvPr/>
        </p:nvSpPr>
        <p:spPr>
          <a:xfrm>
            <a:off x="0" y="0"/>
            <a:ext cx="685800" cy="685800"/>
          </a:xfrm>
          <a:prstGeom prst="rect">
            <a:avLst/>
          </a:prstGeom>
          <a:solidFill>
            <a:srgbClr val="0D47A1"/>
          </a:solidFill>
          <a:ln w="12700">
            <a:solidFill>
              <a:srgbClr val="0D47A1"/>
            </a:solidFill>
            <a:prstDash val="solid"/>
          </a:ln>
        </p:spPr>
      </p:sp>
      <p:sp>
        <p:nvSpPr>
          <p:cNvPr id="4" name="Text 2"/>
          <p:cNvSpPr/>
          <p:nvPr/>
        </p:nvSpPr>
        <p:spPr>
          <a:xfrm>
            <a:off x="0" y="0"/>
            <a:ext cx="685800" cy="685800"/>
          </a:xfrm>
          <a:prstGeom prst="rect">
            <a:avLst/>
          </a:prstGeom>
          <a:noFill/>
          <a:ln/>
        </p:spPr>
        <p:txBody>
          <a:bodyPr wrap="square" rtlCol="0" anchor="ctr"/>
          <a:lstStyle/>
          <a:p>
            <a:pPr marL="0" indent="0" algn="ctr">
              <a:buNone/>
            </a:pPr>
            <a:r>
              <a:rPr lang="en-US" sz="2000" b="1" dirty="0">
                <a:solidFill>
                  <a:srgbClr val="FFFFFF"/>
                </a:solidFill>
              </a:rPr>
              <a:t>G</a:t>
            </a:r>
            <a:endParaRPr lang="en-US" sz="2000" dirty="0"/>
          </a:p>
        </p:txBody>
      </p:sp>
      <p:sp>
        <p:nvSpPr>
          <p:cNvPr id="5" name="Text 3"/>
          <p:cNvSpPr/>
          <p:nvPr/>
        </p:nvSpPr>
        <p:spPr>
          <a:xfrm>
            <a:off x="777240" y="73152"/>
            <a:ext cx="6858000" cy="320040"/>
          </a:xfrm>
          <a:prstGeom prst="rect">
            <a:avLst/>
          </a:prstGeom>
          <a:noFill/>
          <a:ln/>
        </p:spPr>
        <p:txBody>
          <a:bodyPr wrap="square" rtlCol="0" anchor="ctr"/>
          <a:lstStyle/>
          <a:p>
            <a:pPr marL="0" indent="0">
              <a:buNone/>
            </a:pPr>
            <a:r>
              <a:rPr lang="en-US" sz="1400" b="1" dirty="0">
                <a:solidFill>
                  <a:srgbClr val="FFFFFF"/>
                </a:solidFill>
              </a:rPr>
              <a:t>Key Findings</a:t>
            </a:r>
            <a:endParaRPr lang="en-US" sz="1400" dirty="0"/>
          </a:p>
        </p:txBody>
      </p:sp>
      <p:sp>
        <p:nvSpPr>
          <p:cNvPr id="6" name="Text 4"/>
          <p:cNvSpPr/>
          <p:nvPr/>
        </p:nvSpPr>
        <p:spPr>
          <a:xfrm>
            <a:off x="777240" y="384048"/>
            <a:ext cx="6858000" cy="228600"/>
          </a:xfrm>
          <a:prstGeom prst="rect">
            <a:avLst/>
          </a:prstGeom>
          <a:noFill/>
          <a:ln/>
        </p:spPr>
        <p:txBody>
          <a:bodyPr wrap="square" rtlCol="0" anchor="ctr"/>
          <a:lstStyle/>
          <a:p>
            <a:pPr marL="0" indent="0">
              <a:buNone/>
            </a:pPr>
            <a:r>
              <a:rPr lang="en-US" sz="900" dirty="0">
                <a:solidFill>
                  <a:srgbClr val="FFFFFF"/>
                </a:solidFill>
              </a:rPr>
              <a:t>Real insights from 103,000+ rows of GCP billing data</a:t>
            </a:r>
            <a:endParaRPr lang="en-US" sz="900" dirty="0"/>
          </a:p>
        </p:txBody>
      </p:sp>
      <p:sp>
        <p:nvSpPr>
          <p:cNvPr id="7" name="Shape 5"/>
          <p:cNvSpPr/>
          <p:nvPr/>
        </p:nvSpPr>
        <p:spPr>
          <a:xfrm>
            <a:off x="274320" y="804672"/>
            <a:ext cx="2011680" cy="777240"/>
          </a:xfrm>
          <a:prstGeom prst="rect">
            <a:avLst/>
          </a:prstGeom>
          <a:solidFill>
            <a:srgbClr val="FFFFFF"/>
          </a:solidFill>
          <a:ln w="6350">
            <a:solidFill>
              <a:srgbClr val="DADDE1"/>
            </a:solidFill>
            <a:prstDash val="solid"/>
          </a:ln>
        </p:spPr>
      </p:sp>
      <p:sp>
        <p:nvSpPr>
          <p:cNvPr id="8" name="Shape 6"/>
          <p:cNvSpPr/>
          <p:nvPr/>
        </p:nvSpPr>
        <p:spPr>
          <a:xfrm>
            <a:off x="274320" y="804672"/>
            <a:ext cx="2011680" cy="45720"/>
          </a:xfrm>
          <a:prstGeom prst="rect">
            <a:avLst/>
          </a:prstGeom>
          <a:solidFill>
            <a:srgbClr val="1A73E8"/>
          </a:solidFill>
          <a:ln w="12700">
            <a:solidFill>
              <a:srgbClr val="1A73E8"/>
            </a:solidFill>
            <a:prstDash val="solid"/>
          </a:ln>
        </p:spPr>
      </p:sp>
      <p:sp>
        <p:nvSpPr>
          <p:cNvPr id="9" name="Text 7"/>
          <p:cNvSpPr/>
          <p:nvPr/>
        </p:nvSpPr>
        <p:spPr>
          <a:xfrm>
            <a:off x="384048" y="877824"/>
            <a:ext cx="1828800" cy="164592"/>
          </a:xfrm>
          <a:prstGeom prst="rect">
            <a:avLst/>
          </a:prstGeom>
          <a:noFill/>
          <a:ln/>
        </p:spPr>
        <p:txBody>
          <a:bodyPr wrap="square" rtlCol="0" anchor="ctr"/>
          <a:lstStyle/>
          <a:p>
            <a:pPr marL="0" indent="0">
              <a:buNone/>
            </a:pPr>
            <a:r>
              <a:rPr lang="en-US" sz="750" kern="0" spc="100" dirty="0">
                <a:solidFill>
                  <a:srgbClr val="5F6368"/>
                </a:solidFill>
              </a:rPr>
              <a:t>Total net cost · Jan 2025–May 2026</a:t>
            </a:r>
            <a:endParaRPr lang="en-US" sz="750" dirty="0"/>
          </a:p>
        </p:txBody>
      </p:sp>
      <p:sp>
        <p:nvSpPr>
          <p:cNvPr id="10" name="Text 8"/>
          <p:cNvSpPr/>
          <p:nvPr/>
        </p:nvSpPr>
        <p:spPr>
          <a:xfrm>
            <a:off x="384048" y="1042416"/>
            <a:ext cx="1828800" cy="274320"/>
          </a:xfrm>
          <a:prstGeom prst="rect">
            <a:avLst/>
          </a:prstGeom>
          <a:noFill/>
          <a:ln/>
        </p:spPr>
        <p:txBody>
          <a:bodyPr wrap="square" rtlCol="0" anchor="ctr"/>
          <a:lstStyle/>
          <a:p>
            <a:pPr marL="0" indent="0">
              <a:buNone/>
            </a:pPr>
            <a:r>
              <a:rPr lang="en-US" sz="1800" b="1" dirty="0">
                <a:solidFill>
                  <a:srgbClr val="202124"/>
                </a:solidFill>
              </a:rPr>
              <a:t>$74.3M</a:t>
            </a:r>
            <a:endParaRPr lang="en-US" sz="1800" dirty="0"/>
          </a:p>
        </p:txBody>
      </p:sp>
      <p:sp>
        <p:nvSpPr>
          <p:cNvPr id="11" name="Shape 9"/>
          <p:cNvSpPr/>
          <p:nvPr/>
        </p:nvSpPr>
        <p:spPr>
          <a:xfrm>
            <a:off x="2450592" y="804672"/>
            <a:ext cx="2011680" cy="777240"/>
          </a:xfrm>
          <a:prstGeom prst="rect">
            <a:avLst/>
          </a:prstGeom>
          <a:solidFill>
            <a:srgbClr val="FFFFFF"/>
          </a:solidFill>
          <a:ln w="6350">
            <a:solidFill>
              <a:srgbClr val="DADDE1"/>
            </a:solidFill>
            <a:prstDash val="solid"/>
          </a:ln>
        </p:spPr>
      </p:sp>
      <p:sp>
        <p:nvSpPr>
          <p:cNvPr id="12" name="Shape 10"/>
          <p:cNvSpPr/>
          <p:nvPr/>
        </p:nvSpPr>
        <p:spPr>
          <a:xfrm>
            <a:off x="2450592" y="804672"/>
            <a:ext cx="2011680" cy="45720"/>
          </a:xfrm>
          <a:prstGeom prst="rect">
            <a:avLst/>
          </a:prstGeom>
          <a:solidFill>
            <a:srgbClr val="34A853"/>
          </a:solidFill>
          <a:ln w="12700">
            <a:solidFill>
              <a:srgbClr val="34A853"/>
            </a:solidFill>
            <a:prstDash val="solid"/>
          </a:ln>
        </p:spPr>
      </p:sp>
      <p:sp>
        <p:nvSpPr>
          <p:cNvPr id="13" name="Text 11"/>
          <p:cNvSpPr/>
          <p:nvPr/>
        </p:nvSpPr>
        <p:spPr>
          <a:xfrm>
            <a:off x="2560320" y="877824"/>
            <a:ext cx="1828800" cy="164592"/>
          </a:xfrm>
          <a:prstGeom prst="rect">
            <a:avLst/>
          </a:prstGeom>
          <a:noFill/>
          <a:ln/>
        </p:spPr>
        <p:txBody>
          <a:bodyPr wrap="square" rtlCol="0" anchor="ctr"/>
          <a:lstStyle/>
          <a:p>
            <a:pPr marL="0" indent="0">
              <a:buNone/>
            </a:pPr>
            <a:r>
              <a:rPr lang="en-US" sz="750" kern="0" spc="100" dirty="0">
                <a:solidFill>
                  <a:srgbClr val="5F6368"/>
                </a:solidFill>
              </a:rPr>
              <a:t>Credits applied · committed use</a:t>
            </a:r>
            <a:endParaRPr lang="en-US" sz="750" dirty="0"/>
          </a:p>
        </p:txBody>
      </p:sp>
      <p:sp>
        <p:nvSpPr>
          <p:cNvPr id="14" name="Text 12"/>
          <p:cNvSpPr/>
          <p:nvPr/>
        </p:nvSpPr>
        <p:spPr>
          <a:xfrm>
            <a:off x="2560320" y="1042416"/>
            <a:ext cx="1828800" cy="274320"/>
          </a:xfrm>
          <a:prstGeom prst="rect">
            <a:avLst/>
          </a:prstGeom>
          <a:noFill/>
          <a:ln/>
        </p:spPr>
        <p:txBody>
          <a:bodyPr wrap="square" rtlCol="0" anchor="ctr"/>
          <a:lstStyle/>
          <a:p>
            <a:pPr marL="0" indent="0">
              <a:buNone/>
            </a:pPr>
            <a:r>
              <a:rPr lang="en-US" sz="1800" b="1" dirty="0">
                <a:solidFill>
                  <a:srgbClr val="202124"/>
                </a:solidFill>
              </a:rPr>
              <a:t>$3.1M</a:t>
            </a:r>
            <a:endParaRPr lang="en-US" sz="1800" dirty="0"/>
          </a:p>
        </p:txBody>
      </p:sp>
      <p:sp>
        <p:nvSpPr>
          <p:cNvPr id="15" name="Shape 13"/>
          <p:cNvSpPr/>
          <p:nvPr/>
        </p:nvSpPr>
        <p:spPr>
          <a:xfrm>
            <a:off x="4626864" y="804672"/>
            <a:ext cx="2011680" cy="777240"/>
          </a:xfrm>
          <a:prstGeom prst="rect">
            <a:avLst/>
          </a:prstGeom>
          <a:solidFill>
            <a:srgbClr val="FFFFFF"/>
          </a:solidFill>
          <a:ln w="6350">
            <a:solidFill>
              <a:srgbClr val="DADDE1"/>
            </a:solidFill>
            <a:prstDash val="solid"/>
          </a:ln>
        </p:spPr>
      </p:sp>
      <p:sp>
        <p:nvSpPr>
          <p:cNvPr id="16" name="Shape 14"/>
          <p:cNvSpPr/>
          <p:nvPr/>
        </p:nvSpPr>
        <p:spPr>
          <a:xfrm>
            <a:off x="4626864" y="804672"/>
            <a:ext cx="2011680" cy="45720"/>
          </a:xfrm>
          <a:prstGeom prst="rect">
            <a:avLst/>
          </a:prstGeom>
          <a:solidFill>
            <a:srgbClr val="EA4335"/>
          </a:solidFill>
          <a:ln w="12700">
            <a:solidFill>
              <a:srgbClr val="EA4335"/>
            </a:solidFill>
            <a:prstDash val="solid"/>
          </a:ln>
        </p:spPr>
      </p:sp>
      <p:sp>
        <p:nvSpPr>
          <p:cNvPr id="17" name="Text 15"/>
          <p:cNvSpPr/>
          <p:nvPr/>
        </p:nvSpPr>
        <p:spPr>
          <a:xfrm>
            <a:off x="4736592" y="877824"/>
            <a:ext cx="1828800" cy="164592"/>
          </a:xfrm>
          <a:prstGeom prst="rect">
            <a:avLst/>
          </a:prstGeom>
          <a:noFill/>
          <a:ln/>
        </p:spPr>
        <p:txBody>
          <a:bodyPr wrap="square" rtlCol="0" anchor="ctr"/>
          <a:lstStyle/>
          <a:p>
            <a:pPr marL="0" indent="0">
              <a:buNone/>
            </a:pPr>
            <a:r>
              <a:rPr lang="en-US" sz="750" kern="0" spc="100" dirty="0">
                <a:solidFill>
                  <a:srgbClr val="5F6368"/>
                </a:solidFill>
              </a:rPr>
              <a:t>Untagged resource billing rows</a:t>
            </a:r>
            <a:endParaRPr lang="en-US" sz="750" dirty="0"/>
          </a:p>
        </p:txBody>
      </p:sp>
      <p:sp>
        <p:nvSpPr>
          <p:cNvPr id="18" name="Text 16"/>
          <p:cNvSpPr/>
          <p:nvPr/>
        </p:nvSpPr>
        <p:spPr>
          <a:xfrm>
            <a:off x="4736592" y="1042416"/>
            <a:ext cx="1828800" cy="274320"/>
          </a:xfrm>
          <a:prstGeom prst="rect">
            <a:avLst/>
          </a:prstGeom>
          <a:noFill/>
          <a:ln/>
        </p:spPr>
        <p:txBody>
          <a:bodyPr wrap="square" rtlCol="0" anchor="ctr"/>
          <a:lstStyle/>
          <a:p>
            <a:pPr marL="0" indent="0">
              <a:buNone/>
            </a:pPr>
            <a:r>
              <a:rPr lang="en-US" sz="1800" b="1" dirty="0">
                <a:solidFill>
                  <a:srgbClr val="202124"/>
                </a:solidFill>
              </a:rPr>
              <a:t>1,029</a:t>
            </a:r>
            <a:endParaRPr lang="en-US" sz="1800" dirty="0"/>
          </a:p>
        </p:txBody>
      </p:sp>
      <p:sp>
        <p:nvSpPr>
          <p:cNvPr id="19" name="Shape 17"/>
          <p:cNvSpPr/>
          <p:nvPr/>
        </p:nvSpPr>
        <p:spPr>
          <a:xfrm>
            <a:off x="6803136" y="804672"/>
            <a:ext cx="2011680" cy="777240"/>
          </a:xfrm>
          <a:prstGeom prst="rect">
            <a:avLst/>
          </a:prstGeom>
          <a:solidFill>
            <a:srgbClr val="FFFFFF"/>
          </a:solidFill>
          <a:ln w="6350">
            <a:solidFill>
              <a:srgbClr val="DADDE1"/>
            </a:solidFill>
            <a:prstDash val="solid"/>
          </a:ln>
        </p:spPr>
      </p:sp>
      <p:sp>
        <p:nvSpPr>
          <p:cNvPr id="20" name="Shape 18"/>
          <p:cNvSpPr/>
          <p:nvPr/>
        </p:nvSpPr>
        <p:spPr>
          <a:xfrm>
            <a:off x="6803136" y="804672"/>
            <a:ext cx="2011680" cy="45720"/>
          </a:xfrm>
          <a:prstGeom prst="rect">
            <a:avLst/>
          </a:prstGeom>
          <a:solidFill>
            <a:srgbClr val="FBBC04"/>
          </a:solidFill>
          <a:ln w="12700">
            <a:solidFill>
              <a:srgbClr val="FBBC04"/>
            </a:solidFill>
            <a:prstDash val="solid"/>
          </a:ln>
        </p:spPr>
      </p:sp>
      <p:sp>
        <p:nvSpPr>
          <p:cNvPr id="21" name="Text 19"/>
          <p:cNvSpPr/>
          <p:nvPr/>
        </p:nvSpPr>
        <p:spPr>
          <a:xfrm>
            <a:off x="6912864" y="877824"/>
            <a:ext cx="1828800" cy="164592"/>
          </a:xfrm>
          <a:prstGeom prst="rect">
            <a:avLst/>
          </a:prstGeom>
          <a:noFill/>
          <a:ln/>
        </p:spPr>
        <p:txBody>
          <a:bodyPr wrap="square" rtlCol="0" anchor="ctr"/>
          <a:lstStyle/>
          <a:p>
            <a:pPr marL="0" indent="0">
              <a:buNone/>
            </a:pPr>
            <a:r>
              <a:rPr lang="en-US" sz="750" kern="0" spc="100" dirty="0">
                <a:solidFill>
                  <a:srgbClr val="5F6368"/>
                </a:solidFill>
              </a:rPr>
              <a:t>Worst anomaly spike · Apr 12 2026</a:t>
            </a:r>
            <a:endParaRPr lang="en-US" sz="750" dirty="0"/>
          </a:p>
        </p:txBody>
      </p:sp>
      <p:sp>
        <p:nvSpPr>
          <p:cNvPr id="22" name="Text 20"/>
          <p:cNvSpPr/>
          <p:nvPr/>
        </p:nvSpPr>
        <p:spPr>
          <a:xfrm>
            <a:off x="6912864" y="1042416"/>
            <a:ext cx="1828800" cy="274320"/>
          </a:xfrm>
          <a:prstGeom prst="rect">
            <a:avLst/>
          </a:prstGeom>
          <a:noFill/>
          <a:ln/>
        </p:spPr>
        <p:txBody>
          <a:bodyPr wrap="square" rtlCol="0" anchor="ctr"/>
          <a:lstStyle/>
          <a:p>
            <a:pPr marL="0" indent="0">
              <a:buNone/>
            </a:pPr>
            <a:r>
              <a:rPr lang="en-US" sz="1800" b="1" dirty="0">
                <a:solidFill>
                  <a:srgbClr val="202124"/>
                </a:solidFill>
              </a:rPr>
              <a:t>+71%</a:t>
            </a:r>
            <a:endParaRPr lang="en-US" sz="1800" dirty="0"/>
          </a:p>
        </p:txBody>
      </p:sp>
      <p:sp>
        <p:nvSpPr>
          <p:cNvPr id="23" name="Shape 21"/>
          <p:cNvSpPr/>
          <p:nvPr/>
        </p:nvSpPr>
        <p:spPr>
          <a:xfrm>
            <a:off x="274320" y="1719072"/>
            <a:ext cx="5029200" cy="3200400"/>
          </a:xfrm>
          <a:prstGeom prst="rect">
            <a:avLst/>
          </a:prstGeom>
          <a:solidFill>
            <a:srgbClr val="FFFFFF"/>
          </a:solidFill>
          <a:ln w="6350">
            <a:solidFill>
              <a:srgbClr val="DADDE1"/>
            </a:solidFill>
            <a:prstDash val="solid"/>
          </a:ln>
          <a:effectLst>
            <a:outerShdw blurRad="50800" dist="25400" dir="8100000" algn="bl" rotWithShape="0">
              <a:srgbClr val="000000">
                <a:alpha val="8000"/>
              </a:srgbClr>
            </a:outerShdw>
          </a:effectLst>
        </p:spPr>
      </p:sp>
      <p:sp>
        <p:nvSpPr>
          <p:cNvPr id="24" name="Shape 22"/>
          <p:cNvSpPr/>
          <p:nvPr/>
        </p:nvSpPr>
        <p:spPr>
          <a:xfrm>
            <a:off x="411480" y="1773936"/>
            <a:ext cx="45720" cy="201168"/>
          </a:xfrm>
          <a:prstGeom prst="rect">
            <a:avLst/>
          </a:prstGeom>
          <a:solidFill>
            <a:srgbClr val="1A73E8"/>
          </a:solidFill>
          <a:ln w="12700">
            <a:solidFill>
              <a:srgbClr val="1A73E8"/>
            </a:solidFill>
            <a:prstDash val="solid"/>
          </a:ln>
        </p:spPr>
      </p:sp>
      <p:sp>
        <p:nvSpPr>
          <p:cNvPr id="25" name="Text 23"/>
          <p:cNvSpPr/>
          <p:nvPr/>
        </p:nvSpPr>
        <p:spPr>
          <a:xfrm>
            <a:off x="502920" y="1773936"/>
            <a:ext cx="3657600" cy="201168"/>
          </a:xfrm>
          <a:prstGeom prst="rect">
            <a:avLst/>
          </a:prstGeom>
          <a:noFill/>
          <a:ln/>
        </p:spPr>
        <p:txBody>
          <a:bodyPr wrap="square" rtlCol="0" anchor="ctr"/>
          <a:lstStyle/>
          <a:p>
            <a:pPr marL="0" indent="0">
              <a:buNone/>
            </a:pPr>
            <a:r>
              <a:rPr lang="en-US" sz="1000" b="1" dirty="0">
                <a:solidFill>
                  <a:srgbClr val="202124"/>
                </a:solidFill>
              </a:rPr>
              <a:t>Top services by total net cost</a:t>
            </a:r>
            <a:endParaRPr lang="en-US" sz="1000" dirty="0"/>
          </a:p>
        </p:txBody>
      </p:sp>
      <p:graphicFrame>
        <p:nvGraphicFramePr>
          <p:cNvPr id="26" name="Chart 0"/>
          <p:cNvGraphicFramePr/>
          <p:nvPr>
            <p:extLst>
              <p:ext uri="{D42A27DB-BD31-4B8C-83A1-F6EECF244321}">
                <p14:modId xmlns:p14="http://schemas.microsoft.com/office/powerpoint/2010/main" val="2879284361"/>
              </p:ext>
            </p:extLst>
          </p:nvPr>
        </p:nvGraphicFramePr>
        <p:xfrm>
          <a:off x="365760" y="2057400"/>
          <a:ext cx="4754880" cy="2743200"/>
        </p:xfrm>
        <a:graphic>
          <a:graphicData uri="http://schemas.openxmlformats.org/drawingml/2006/chart">
            <c:chart xmlns:c="http://schemas.openxmlformats.org/drawingml/2006/chart" xmlns:r="http://schemas.openxmlformats.org/officeDocument/2006/relationships" r:id="rId3"/>
          </a:graphicData>
        </a:graphic>
      </p:graphicFrame>
      <p:sp>
        <p:nvSpPr>
          <p:cNvPr id="27" name="Shape 24"/>
          <p:cNvSpPr/>
          <p:nvPr/>
        </p:nvSpPr>
        <p:spPr>
          <a:xfrm>
            <a:off x="5486400" y="1719072"/>
            <a:ext cx="3383280" cy="3200400"/>
          </a:xfrm>
          <a:prstGeom prst="rect">
            <a:avLst/>
          </a:prstGeom>
          <a:solidFill>
            <a:srgbClr val="FFFFFF"/>
          </a:solidFill>
          <a:ln w="6350">
            <a:solidFill>
              <a:srgbClr val="DADDE1"/>
            </a:solidFill>
            <a:prstDash val="solid"/>
          </a:ln>
          <a:effectLst>
            <a:outerShdw blurRad="50800" dist="25400" dir="8100000" algn="bl" rotWithShape="0">
              <a:srgbClr val="000000">
                <a:alpha val="8000"/>
              </a:srgbClr>
            </a:outerShdw>
          </a:effectLst>
        </p:spPr>
      </p:sp>
      <p:sp>
        <p:nvSpPr>
          <p:cNvPr id="28" name="Shape 25"/>
          <p:cNvSpPr/>
          <p:nvPr/>
        </p:nvSpPr>
        <p:spPr>
          <a:xfrm>
            <a:off x="5623560" y="1773936"/>
            <a:ext cx="45720" cy="201168"/>
          </a:xfrm>
          <a:prstGeom prst="rect">
            <a:avLst/>
          </a:prstGeom>
          <a:solidFill>
            <a:srgbClr val="1A73E8"/>
          </a:solidFill>
          <a:ln w="12700">
            <a:solidFill>
              <a:srgbClr val="1A73E8"/>
            </a:solidFill>
            <a:prstDash val="solid"/>
          </a:ln>
        </p:spPr>
      </p:sp>
      <p:sp>
        <p:nvSpPr>
          <p:cNvPr id="29" name="Text 26"/>
          <p:cNvSpPr/>
          <p:nvPr/>
        </p:nvSpPr>
        <p:spPr>
          <a:xfrm>
            <a:off x="5715000" y="1773936"/>
            <a:ext cx="3657600" cy="201168"/>
          </a:xfrm>
          <a:prstGeom prst="rect">
            <a:avLst/>
          </a:prstGeom>
          <a:noFill/>
          <a:ln/>
        </p:spPr>
        <p:txBody>
          <a:bodyPr wrap="square" rtlCol="0" anchor="ctr"/>
          <a:lstStyle/>
          <a:p>
            <a:pPr marL="0" indent="0">
              <a:buNone/>
            </a:pPr>
            <a:r>
              <a:rPr lang="en-US" sz="1000" b="1" dirty="0">
                <a:solidFill>
                  <a:srgbClr val="202124"/>
                </a:solidFill>
              </a:rPr>
              <a:t>Cost by department</a:t>
            </a:r>
            <a:endParaRPr lang="en-US" sz="1000" dirty="0"/>
          </a:p>
        </p:txBody>
      </p:sp>
      <p:graphicFrame>
        <p:nvGraphicFramePr>
          <p:cNvPr id="30" name="Chart 1"/>
          <p:cNvGraphicFramePr/>
          <p:nvPr/>
        </p:nvGraphicFramePr>
        <p:xfrm>
          <a:off x="5532120" y="2057400"/>
          <a:ext cx="3246120" cy="2788920"/>
        </p:xfrm>
        <a:graphic>
          <a:graphicData uri="http://schemas.openxmlformats.org/drawingml/2006/chart">
            <c:chart xmlns:c="http://schemas.openxmlformats.org/drawingml/2006/chart" xmlns:r="http://schemas.openxmlformats.org/officeDocument/2006/relationships" r:id="rId4"/>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8FBFF"/>
        </a:solidFill>
        <a:effectLst/>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34A853"/>
          </a:solidFill>
          <a:ln w="12700">
            <a:solidFill>
              <a:srgbClr val="34A853"/>
            </a:solidFill>
            <a:prstDash val="solid"/>
          </a:ln>
        </p:spPr>
      </p:sp>
      <p:sp>
        <p:nvSpPr>
          <p:cNvPr id="3" name="Shape 1"/>
          <p:cNvSpPr/>
          <p:nvPr/>
        </p:nvSpPr>
        <p:spPr>
          <a:xfrm>
            <a:off x="0" y="0"/>
            <a:ext cx="685800" cy="685800"/>
          </a:xfrm>
          <a:prstGeom prst="rect">
            <a:avLst/>
          </a:prstGeom>
          <a:solidFill>
            <a:srgbClr val="0D47A1"/>
          </a:solidFill>
          <a:ln w="12700">
            <a:solidFill>
              <a:srgbClr val="0D47A1"/>
            </a:solidFill>
            <a:prstDash val="solid"/>
          </a:ln>
        </p:spPr>
      </p:sp>
      <p:sp>
        <p:nvSpPr>
          <p:cNvPr id="4" name="Text 2"/>
          <p:cNvSpPr/>
          <p:nvPr/>
        </p:nvSpPr>
        <p:spPr>
          <a:xfrm>
            <a:off x="0" y="0"/>
            <a:ext cx="685800" cy="685800"/>
          </a:xfrm>
          <a:prstGeom prst="rect">
            <a:avLst/>
          </a:prstGeom>
          <a:noFill/>
          <a:ln/>
        </p:spPr>
        <p:txBody>
          <a:bodyPr wrap="square" rtlCol="0" anchor="ctr"/>
          <a:lstStyle/>
          <a:p>
            <a:pPr marL="0" indent="0" algn="ctr">
              <a:buNone/>
            </a:pPr>
            <a:r>
              <a:rPr lang="en-US" sz="2000" b="1" dirty="0">
                <a:solidFill>
                  <a:srgbClr val="FFFFFF"/>
                </a:solidFill>
              </a:rPr>
              <a:t>G</a:t>
            </a:r>
            <a:endParaRPr lang="en-US" sz="2000" dirty="0"/>
          </a:p>
        </p:txBody>
      </p:sp>
      <p:sp>
        <p:nvSpPr>
          <p:cNvPr id="5" name="Text 3"/>
          <p:cNvSpPr/>
          <p:nvPr/>
        </p:nvSpPr>
        <p:spPr>
          <a:xfrm>
            <a:off x="777240" y="73152"/>
            <a:ext cx="6858000" cy="320040"/>
          </a:xfrm>
          <a:prstGeom prst="rect">
            <a:avLst/>
          </a:prstGeom>
          <a:noFill/>
          <a:ln/>
        </p:spPr>
        <p:txBody>
          <a:bodyPr wrap="square" rtlCol="0" anchor="ctr"/>
          <a:lstStyle/>
          <a:p>
            <a:pPr marL="0" indent="0">
              <a:buNone/>
            </a:pPr>
            <a:r>
              <a:rPr lang="en-US" sz="1400" b="1" dirty="0">
                <a:solidFill>
                  <a:srgbClr val="FFFFFF"/>
                </a:solidFill>
              </a:rPr>
              <a:t>Business Impact &amp; Next Steps</a:t>
            </a:r>
            <a:endParaRPr lang="en-US" sz="1400" dirty="0"/>
          </a:p>
        </p:txBody>
      </p:sp>
      <p:sp>
        <p:nvSpPr>
          <p:cNvPr id="6" name="Text 4"/>
          <p:cNvSpPr/>
          <p:nvPr/>
        </p:nvSpPr>
        <p:spPr>
          <a:xfrm>
            <a:off x="777240" y="384048"/>
            <a:ext cx="6858000" cy="228600"/>
          </a:xfrm>
          <a:prstGeom prst="rect">
            <a:avLst/>
          </a:prstGeom>
          <a:noFill/>
          <a:ln/>
        </p:spPr>
        <p:txBody>
          <a:bodyPr wrap="square" rtlCol="0" anchor="ctr"/>
          <a:lstStyle/>
          <a:p>
            <a:pPr marL="0" indent="0">
              <a:buNone/>
            </a:pPr>
            <a:r>
              <a:rPr lang="en-US" sz="900" dirty="0">
                <a:solidFill>
                  <a:srgbClr val="FFFFFF"/>
                </a:solidFill>
              </a:rPr>
              <a:t>Expected outcomes and recommended actions</a:t>
            </a:r>
            <a:endParaRPr lang="en-US" sz="900" dirty="0"/>
          </a:p>
        </p:txBody>
      </p:sp>
      <p:sp>
        <p:nvSpPr>
          <p:cNvPr id="7" name="Shape 5"/>
          <p:cNvSpPr/>
          <p:nvPr/>
        </p:nvSpPr>
        <p:spPr>
          <a:xfrm>
            <a:off x="274320" y="804672"/>
            <a:ext cx="2011680" cy="777240"/>
          </a:xfrm>
          <a:prstGeom prst="rect">
            <a:avLst/>
          </a:prstGeom>
          <a:solidFill>
            <a:srgbClr val="FFFFFF"/>
          </a:solidFill>
          <a:ln w="6350">
            <a:solidFill>
              <a:srgbClr val="DADDE1"/>
            </a:solidFill>
            <a:prstDash val="solid"/>
          </a:ln>
        </p:spPr>
      </p:sp>
      <p:sp>
        <p:nvSpPr>
          <p:cNvPr id="8" name="Shape 6"/>
          <p:cNvSpPr/>
          <p:nvPr/>
        </p:nvSpPr>
        <p:spPr>
          <a:xfrm>
            <a:off x="274320" y="804672"/>
            <a:ext cx="2011680" cy="45720"/>
          </a:xfrm>
          <a:prstGeom prst="rect">
            <a:avLst/>
          </a:prstGeom>
          <a:solidFill>
            <a:srgbClr val="34A853"/>
          </a:solidFill>
          <a:ln w="12700">
            <a:solidFill>
              <a:srgbClr val="34A853"/>
            </a:solidFill>
            <a:prstDash val="solid"/>
          </a:ln>
        </p:spPr>
      </p:sp>
      <p:sp>
        <p:nvSpPr>
          <p:cNvPr id="9" name="Text 7"/>
          <p:cNvSpPr/>
          <p:nvPr/>
        </p:nvSpPr>
        <p:spPr>
          <a:xfrm>
            <a:off x="384048" y="877824"/>
            <a:ext cx="1828800" cy="164592"/>
          </a:xfrm>
          <a:prstGeom prst="rect">
            <a:avLst/>
          </a:prstGeom>
          <a:noFill/>
          <a:ln/>
        </p:spPr>
        <p:txBody>
          <a:bodyPr wrap="square" rtlCol="0" anchor="ctr"/>
          <a:lstStyle/>
          <a:p>
            <a:pPr marL="0" indent="0">
              <a:buNone/>
            </a:pPr>
            <a:r>
              <a:rPr lang="en-US" sz="750" kern="0" spc="100" dirty="0">
                <a:solidFill>
                  <a:srgbClr val="5F6368"/>
                </a:solidFill>
              </a:rPr>
              <a:t>Annual savings · idle rightsizing</a:t>
            </a:r>
            <a:endParaRPr lang="en-US" sz="750" dirty="0"/>
          </a:p>
        </p:txBody>
      </p:sp>
      <p:sp>
        <p:nvSpPr>
          <p:cNvPr id="10" name="Text 8"/>
          <p:cNvSpPr/>
          <p:nvPr/>
        </p:nvSpPr>
        <p:spPr>
          <a:xfrm>
            <a:off x="384048" y="1042416"/>
            <a:ext cx="1828800" cy="274320"/>
          </a:xfrm>
          <a:prstGeom prst="rect">
            <a:avLst/>
          </a:prstGeom>
          <a:noFill/>
          <a:ln/>
        </p:spPr>
        <p:txBody>
          <a:bodyPr wrap="square" rtlCol="0" anchor="ctr"/>
          <a:lstStyle/>
          <a:p>
            <a:pPr marL="0" indent="0">
              <a:buNone/>
            </a:pPr>
            <a:r>
              <a:rPr lang="en-US" sz="1800" b="1" dirty="0">
                <a:solidFill>
                  <a:srgbClr val="202124"/>
                </a:solidFill>
              </a:rPr>
              <a:t>$377K</a:t>
            </a:r>
            <a:endParaRPr lang="en-US" sz="1800" dirty="0"/>
          </a:p>
        </p:txBody>
      </p:sp>
      <p:sp>
        <p:nvSpPr>
          <p:cNvPr id="11" name="Shape 9"/>
          <p:cNvSpPr/>
          <p:nvPr/>
        </p:nvSpPr>
        <p:spPr>
          <a:xfrm>
            <a:off x="2450592" y="804672"/>
            <a:ext cx="2011680" cy="777240"/>
          </a:xfrm>
          <a:prstGeom prst="rect">
            <a:avLst/>
          </a:prstGeom>
          <a:solidFill>
            <a:srgbClr val="FFFFFF"/>
          </a:solidFill>
          <a:ln w="6350">
            <a:solidFill>
              <a:srgbClr val="DADDE1"/>
            </a:solidFill>
            <a:prstDash val="solid"/>
          </a:ln>
        </p:spPr>
      </p:sp>
      <p:sp>
        <p:nvSpPr>
          <p:cNvPr id="12" name="Shape 10"/>
          <p:cNvSpPr/>
          <p:nvPr/>
        </p:nvSpPr>
        <p:spPr>
          <a:xfrm>
            <a:off x="2450592" y="804672"/>
            <a:ext cx="2011680" cy="45720"/>
          </a:xfrm>
          <a:prstGeom prst="rect">
            <a:avLst/>
          </a:prstGeom>
          <a:solidFill>
            <a:srgbClr val="34A853"/>
          </a:solidFill>
          <a:ln w="12700">
            <a:solidFill>
              <a:srgbClr val="34A853"/>
            </a:solidFill>
            <a:prstDash val="solid"/>
          </a:ln>
        </p:spPr>
      </p:sp>
      <p:sp>
        <p:nvSpPr>
          <p:cNvPr id="13" name="Text 11"/>
          <p:cNvSpPr/>
          <p:nvPr/>
        </p:nvSpPr>
        <p:spPr>
          <a:xfrm>
            <a:off x="2560320" y="877824"/>
            <a:ext cx="1828800" cy="164592"/>
          </a:xfrm>
          <a:prstGeom prst="rect">
            <a:avLst/>
          </a:prstGeom>
          <a:noFill/>
          <a:ln/>
        </p:spPr>
        <p:txBody>
          <a:bodyPr wrap="square" rtlCol="0" anchor="ctr"/>
          <a:lstStyle/>
          <a:p>
            <a:pPr marL="0" indent="0">
              <a:buNone/>
            </a:pPr>
            <a:r>
              <a:rPr lang="en-US" sz="750" kern="0" spc="100" dirty="0">
                <a:solidFill>
                  <a:srgbClr val="5F6368"/>
                </a:solidFill>
              </a:rPr>
              <a:t>Estimated cost reduction on idle spend</a:t>
            </a:r>
            <a:endParaRPr lang="en-US" sz="750" dirty="0"/>
          </a:p>
        </p:txBody>
      </p:sp>
      <p:sp>
        <p:nvSpPr>
          <p:cNvPr id="14" name="Text 12"/>
          <p:cNvSpPr/>
          <p:nvPr/>
        </p:nvSpPr>
        <p:spPr>
          <a:xfrm>
            <a:off x="2560320" y="1042416"/>
            <a:ext cx="1828800" cy="274320"/>
          </a:xfrm>
          <a:prstGeom prst="rect">
            <a:avLst/>
          </a:prstGeom>
          <a:noFill/>
          <a:ln/>
        </p:spPr>
        <p:txBody>
          <a:bodyPr wrap="square" rtlCol="0" anchor="ctr"/>
          <a:lstStyle/>
          <a:p>
            <a:pPr marL="0" indent="0">
              <a:buNone/>
            </a:pPr>
            <a:r>
              <a:rPr lang="en-US" sz="1800" b="1" dirty="0">
                <a:solidFill>
                  <a:srgbClr val="202124"/>
                </a:solidFill>
              </a:rPr>
              <a:t>70%</a:t>
            </a:r>
            <a:endParaRPr lang="en-US" sz="1800" dirty="0"/>
          </a:p>
        </p:txBody>
      </p:sp>
      <p:sp>
        <p:nvSpPr>
          <p:cNvPr id="15" name="Shape 13"/>
          <p:cNvSpPr/>
          <p:nvPr/>
        </p:nvSpPr>
        <p:spPr>
          <a:xfrm>
            <a:off x="4626864" y="804672"/>
            <a:ext cx="2011680" cy="777240"/>
          </a:xfrm>
          <a:prstGeom prst="rect">
            <a:avLst/>
          </a:prstGeom>
          <a:solidFill>
            <a:srgbClr val="FFFFFF"/>
          </a:solidFill>
          <a:ln w="6350">
            <a:solidFill>
              <a:srgbClr val="DADDE1"/>
            </a:solidFill>
            <a:prstDash val="solid"/>
          </a:ln>
        </p:spPr>
      </p:sp>
      <p:sp>
        <p:nvSpPr>
          <p:cNvPr id="16" name="Shape 14"/>
          <p:cNvSpPr/>
          <p:nvPr/>
        </p:nvSpPr>
        <p:spPr>
          <a:xfrm>
            <a:off x="4626864" y="804672"/>
            <a:ext cx="2011680" cy="45720"/>
          </a:xfrm>
          <a:prstGeom prst="rect">
            <a:avLst/>
          </a:prstGeom>
          <a:solidFill>
            <a:srgbClr val="1A73E8"/>
          </a:solidFill>
          <a:ln w="12700">
            <a:solidFill>
              <a:srgbClr val="1A73E8"/>
            </a:solidFill>
            <a:prstDash val="solid"/>
          </a:ln>
        </p:spPr>
      </p:sp>
      <p:sp>
        <p:nvSpPr>
          <p:cNvPr id="17" name="Text 15"/>
          <p:cNvSpPr/>
          <p:nvPr/>
        </p:nvSpPr>
        <p:spPr>
          <a:xfrm>
            <a:off x="4736592" y="877824"/>
            <a:ext cx="1828800" cy="164592"/>
          </a:xfrm>
          <a:prstGeom prst="rect">
            <a:avLst/>
          </a:prstGeom>
          <a:noFill/>
          <a:ln/>
        </p:spPr>
        <p:txBody>
          <a:bodyPr wrap="square" rtlCol="0" anchor="ctr"/>
          <a:lstStyle/>
          <a:p>
            <a:pPr marL="0" indent="0">
              <a:buNone/>
            </a:pPr>
            <a:r>
              <a:rPr lang="en-US" sz="750" kern="0" spc="100" dirty="0">
                <a:solidFill>
                  <a:srgbClr val="5F6368"/>
                </a:solidFill>
              </a:rPr>
              <a:t>Time to detect cost anomaly spikes</a:t>
            </a:r>
            <a:endParaRPr lang="en-US" sz="750" dirty="0"/>
          </a:p>
        </p:txBody>
      </p:sp>
      <p:sp>
        <p:nvSpPr>
          <p:cNvPr id="18" name="Text 16"/>
          <p:cNvSpPr/>
          <p:nvPr/>
        </p:nvSpPr>
        <p:spPr>
          <a:xfrm>
            <a:off x="4736592" y="1042416"/>
            <a:ext cx="1828800" cy="274320"/>
          </a:xfrm>
          <a:prstGeom prst="rect">
            <a:avLst/>
          </a:prstGeom>
          <a:noFill/>
          <a:ln/>
        </p:spPr>
        <p:txBody>
          <a:bodyPr wrap="square" rtlCol="0" anchor="ctr"/>
          <a:lstStyle/>
          <a:p>
            <a:pPr marL="0" indent="0">
              <a:buNone/>
            </a:pPr>
            <a:r>
              <a:rPr lang="en-US" sz="1800" b="1" dirty="0">
                <a:solidFill>
                  <a:srgbClr val="202124"/>
                </a:solidFill>
              </a:rPr>
              <a:t>&lt;1 hr</a:t>
            </a:r>
            <a:endParaRPr lang="en-US" sz="1800" dirty="0"/>
          </a:p>
        </p:txBody>
      </p:sp>
      <p:sp>
        <p:nvSpPr>
          <p:cNvPr id="19" name="Shape 17"/>
          <p:cNvSpPr/>
          <p:nvPr/>
        </p:nvSpPr>
        <p:spPr>
          <a:xfrm>
            <a:off x="6803136" y="804672"/>
            <a:ext cx="2011680" cy="777240"/>
          </a:xfrm>
          <a:prstGeom prst="rect">
            <a:avLst/>
          </a:prstGeom>
          <a:solidFill>
            <a:srgbClr val="FFFFFF"/>
          </a:solidFill>
          <a:ln w="6350">
            <a:solidFill>
              <a:srgbClr val="DADDE1"/>
            </a:solidFill>
            <a:prstDash val="solid"/>
          </a:ln>
        </p:spPr>
      </p:sp>
      <p:sp>
        <p:nvSpPr>
          <p:cNvPr id="20" name="Shape 18"/>
          <p:cNvSpPr/>
          <p:nvPr/>
        </p:nvSpPr>
        <p:spPr>
          <a:xfrm>
            <a:off x="6803136" y="804672"/>
            <a:ext cx="2011680" cy="45720"/>
          </a:xfrm>
          <a:prstGeom prst="rect">
            <a:avLst/>
          </a:prstGeom>
          <a:solidFill>
            <a:srgbClr val="1A73E8"/>
          </a:solidFill>
          <a:ln w="12700">
            <a:solidFill>
              <a:srgbClr val="1A73E8"/>
            </a:solidFill>
            <a:prstDash val="solid"/>
          </a:ln>
        </p:spPr>
      </p:sp>
      <p:sp>
        <p:nvSpPr>
          <p:cNvPr id="21" name="Text 19"/>
          <p:cNvSpPr/>
          <p:nvPr/>
        </p:nvSpPr>
        <p:spPr>
          <a:xfrm>
            <a:off x="6912864" y="877824"/>
            <a:ext cx="1828800" cy="164592"/>
          </a:xfrm>
          <a:prstGeom prst="rect">
            <a:avLst/>
          </a:prstGeom>
          <a:noFill/>
          <a:ln/>
        </p:spPr>
        <p:txBody>
          <a:bodyPr wrap="square" rtlCol="0" anchor="ctr"/>
          <a:lstStyle/>
          <a:p>
            <a:pPr marL="0" indent="0">
              <a:buNone/>
            </a:pPr>
            <a:r>
              <a:rPr lang="en-US" sz="750" kern="0" spc="100" dirty="0">
                <a:solidFill>
                  <a:srgbClr val="5F6368"/>
                </a:solidFill>
              </a:rPr>
              <a:t>Cost attribution after tagging policy</a:t>
            </a:r>
            <a:endParaRPr lang="en-US" sz="750" dirty="0"/>
          </a:p>
        </p:txBody>
      </p:sp>
      <p:sp>
        <p:nvSpPr>
          <p:cNvPr id="22" name="Text 20"/>
          <p:cNvSpPr/>
          <p:nvPr/>
        </p:nvSpPr>
        <p:spPr>
          <a:xfrm>
            <a:off x="6912864" y="1042416"/>
            <a:ext cx="1828800" cy="274320"/>
          </a:xfrm>
          <a:prstGeom prst="rect">
            <a:avLst/>
          </a:prstGeom>
          <a:noFill/>
          <a:ln/>
        </p:spPr>
        <p:txBody>
          <a:bodyPr wrap="square" rtlCol="0" anchor="ctr"/>
          <a:lstStyle/>
          <a:p>
            <a:pPr marL="0" indent="0">
              <a:buNone/>
            </a:pPr>
            <a:r>
              <a:rPr lang="en-US" sz="1800" b="1" dirty="0">
                <a:solidFill>
                  <a:srgbClr val="202124"/>
                </a:solidFill>
              </a:rPr>
              <a:t>100%</a:t>
            </a:r>
            <a:endParaRPr lang="en-US" sz="1800" dirty="0"/>
          </a:p>
        </p:txBody>
      </p:sp>
      <p:sp>
        <p:nvSpPr>
          <p:cNvPr id="23" name="Shape 21"/>
          <p:cNvSpPr/>
          <p:nvPr/>
        </p:nvSpPr>
        <p:spPr>
          <a:xfrm>
            <a:off x="274320" y="1719072"/>
            <a:ext cx="4206240" cy="3200400"/>
          </a:xfrm>
          <a:prstGeom prst="rect">
            <a:avLst/>
          </a:prstGeom>
          <a:solidFill>
            <a:srgbClr val="FFFFFF"/>
          </a:solidFill>
          <a:ln w="6350">
            <a:solidFill>
              <a:srgbClr val="DADDE1"/>
            </a:solidFill>
            <a:prstDash val="solid"/>
          </a:ln>
          <a:effectLst>
            <a:outerShdw blurRad="50800" dist="25400" dir="8100000" algn="bl" rotWithShape="0">
              <a:srgbClr val="000000">
                <a:alpha val="8000"/>
              </a:srgbClr>
            </a:outerShdw>
          </a:effectLst>
        </p:spPr>
      </p:sp>
      <p:sp>
        <p:nvSpPr>
          <p:cNvPr id="24" name="Shape 22"/>
          <p:cNvSpPr/>
          <p:nvPr/>
        </p:nvSpPr>
        <p:spPr>
          <a:xfrm>
            <a:off x="411480" y="1773936"/>
            <a:ext cx="45720" cy="201168"/>
          </a:xfrm>
          <a:prstGeom prst="rect">
            <a:avLst/>
          </a:prstGeom>
          <a:solidFill>
            <a:srgbClr val="1A73E8"/>
          </a:solidFill>
          <a:ln w="12700">
            <a:solidFill>
              <a:srgbClr val="1A73E8"/>
            </a:solidFill>
            <a:prstDash val="solid"/>
          </a:ln>
        </p:spPr>
      </p:sp>
      <p:sp>
        <p:nvSpPr>
          <p:cNvPr id="25" name="Text 23"/>
          <p:cNvSpPr/>
          <p:nvPr/>
        </p:nvSpPr>
        <p:spPr>
          <a:xfrm>
            <a:off x="502920" y="1773936"/>
            <a:ext cx="3657600" cy="201168"/>
          </a:xfrm>
          <a:prstGeom prst="rect">
            <a:avLst/>
          </a:prstGeom>
          <a:noFill/>
          <a:ln/>
        </p:spPr>
        <p:txBody>
          <a:bodyPr wrap="square" rtlCol="0" anchor="ctr"/>
          <a:lstStyle/>
          <a:p>
            <a:pPr marL="0" indent="0">
              <a:buNone/>
            </a:pPr>
            <a:r>
              <a:rPr lang="en-US" sz="1000" b="1" dirty="0">
                <a:solidFill>
                  <a:srgbClr val="202124"/>
                </a:solidFill>
              </a:rPr>
              <a:t>Business outcomes delivered</a:t>
            </a:r>
            <a:endParaRPr lang="en-US" sz="1000" dirty="0"/>
          </a:p>
        </p:txBody>
      </p:sp>
      <p:sp>
        <p:nvSpPr>
          <p:cNvPr id="26" name="Shape 24"/>
          <p:cNvSpPr/>
          <p:nvPr/>
        </p:nvSpPr>
        <p:spPr>
          <a:xfrm>
            <a:off x="411480" y="2176272"/>
            <a:ext cx="109728" cy="109728"/>
          </a:xfrm>
          <a:prstGeom prst="rect">
            <a:avLst/>
          </a:prstGeom>
          <a:solidFill>
            <a:srgbClr val="1A73E8"/>
          </a:solidFill>
          <a:ln w="12700">
            <a:solidFill>
              <a:srgbClr val="1A73E8"/>
            </a:solidFill>
            <a:prstDash val="solid"/>
          </a:ln>
        </p:spPr>
      </p:sp>
      <p:sp>
        <p:nvSpPr>
          <p:cNvPr id="27" name="Text 25"/>
          <p:cNvSpPr/>
          <p:nvPr/>
        </p:nvSpPr>
        <p:spPr>
          <a:xfrm>
            <a:off x="594360" y="2121408"/>
            <a:ext cx="3703320" cy="219456"/>
          </a:xfrm>
          <a:prstGeom prst="rect">
            <a:avLst/>
          </a:prstGeom>
          <a:noFill/>
          <a:ln/>
        </p:spPr>
        <p:txBody>
          <a:bodyPr wrap="square" rtlCol="0" anchor="ctr"/>
          <a:lstStyle/>
          <a:p>
            <a:pPr marL="0" indent="0">
              <a:buNone/>
            </a:pPr>
            <a:r>
              <a:rPr lang="en-US" sz="900" b="1" dirty="0">
                <a:solidFill>
                  <a:srgbClr val="202124"/>
                </a:solidFill>
              </a:rPr>
              <a:t>Real-time cost visibility</a:t>
            </a:r>
            <a:endParaRPr lang="en-US" sz="900" dirty="0"/>
          </a:p>
        </p:txBody>
      </p:sp>
      <p:sp>
        <p:nvSpPr>
          <p:cNvPr id="28" name="Text 26"/>
          <p:cNvSpPr/>
          <p:nvPr/>
        </p:nvSpPr>
        <p:spPr>
          <a:xfrm>
            <a:off x="594360" y="2359152"/>
            <a:ext cx="3703320" cy="201168"/>
          </a:xfrm>
          <a:prstGeom prst="rect">
            <a:avLst/>
          </a:prstGeom>
          <a:noFill/>
          <a:ln/>
        </p:spPr>
        <p:txBody>
          <a:bodyPr wrap="square" rtlCol="0" anchor="ctr"/>
          <a:lstStyle/>
          <a:p>
            <a:pPr marL="0" indent="0">
              <a:buNone/>
            </a:pPr>
            <a:r>
              <a:rPr lang="en-US" sz="800" dirty="0">
                <a:solidFill>
                  <a:srgbClr val="5F6368"/>
                </a:solidFill>
              </a:rPr>
              <a:t>Live BigQuery connection — data refreshes on-demand</a:t>
            </a:r>
            <a:endParaRPr lang="en-US" sz="800" dirty="0"/>
          </a:p>
        </p:txBody>
      </p:sp>
      <p:sp>
        <p:nvSpPr>
          <p:cNvPr id="29" name="Shape 27"/>
          <p:cNvSpPr/>
          <p:nvPr/>
        </p:nvSpPr>
        <p:spPr>
          <a:xfrm>
            <a:off x="411480" y="2724912"/>
            <a:ext cx="109728" cy="109728"/>
          </a:xfrm>
          <a:prstGeom prst="rect">
            <a:avLst/>
          </a:prstGeom>
          <a:solidFill>
            <a:srgbClr val="34A853"/>
          </a:solidFill>
          <a:ln w="12700">
            <a:solidFill>
              <a:srgbClr val="34A853"/>
            </a:solidFill>
            <a:prstDash val="solid"/>
          </a:ln>
        </p:spPr>
      </p:sp>
      <p:sp>
        <p:nvSpPr>
          <p:cNvPr id="30" name="Text 28"/>
          <p:cNvSpPr/>
          <p:nvPr/>
        </p:nvSpPr>
        <p:spPr>
          <a:xfrm>
            <a:off x="594360" y="2670048"/>
            <a:ext cx="3703320" cy="219456"/>
          </a:xfrm>
          <a:prstGeom prst="rect">
            <a:avLst/>
          </a:prstGeom>
          <a:noFill/>
          <a:ln/>
        </p:spPr>
        <p:txBody>
          <a:bodyPr wrap="square" rtlCol="0" anchor="ctr"/>
          <a:lstStyle/>
          <a:p>
            <a:pPr marL="0" indent="0">
              <a:buNone/>
            </a:pPr>
            <a:r>
              <a:rPr lang="en-US" sz="900" b="1" dirty="0">
                <a:solidFill>
                  <a:srgbClr val="202124"/>
                </a:solidFill>
              </a:rPr>
              <a:t>Team accountability</a:t>
            </a:r>
            <a:endParaRPr lang="en-US" sz="900" dirty="0"/>
          </a:p>
        </p:txBody>
      </p:sp>
      <p:sp>
        <p:nvSpPr>
          <p:cNvPr id="31" name="Text 29"/>
          <p:cNvSpPr/>
          <p:nvPr/>
        </p:nvSpPr>
        <p:spPr>
          <a:xfrm>
            <a:off x="594360" y="2907792"/>
            <a:ext cx="3703320" cy="201168"/>
          </a:xfrm>
          <a:prstGeom prst="rect">
            <a:avLst/>
          </a:prstGeom>
          <a:noFill/>
          <a:ln/>
        </p:spPr>
        <p:txBody>
          <a:bodyPr wrap="square" rtlCol="0" anchor="ctr"/>
          <a:lstStyle/>
          <a:p>
            <a:pPr marL="0" indent="0">
              <a:buNone/>
            </a:pPr>
            <a:r>
              <a:rPr lang="en-US" sz="800" dirty="0">
                <a:solidFill>
                  <a:srgbClr val="5F6368"/>
                </a:solidFill>
              </a:rPr>
              <a:t>Department-level chargeback across 10 teams</a:t>
            </a:r>
            <a:endParaRPr lang="en-US" sz="800" dirty="0"/>
          </a:p>
        </p:txBody>
      </p:sp>
      <p:sp>
        <p:nvSpPr>
          <p:cNvPr id="32" name="Shape 30"/>
          <p:cNvSpPr/>
          <p:nvPr/>
        </p:nvSpPr>
        <p:spPr>
          <a:xfrm>
            <a:off x="411480" y="3273552"/>
            <a:ext cx="109728" cy="109728"/>
          </a:xfrm>
          <a:prstGeom prst="rect">
            <a:avLst/>
          </a:prstGeom>
          <a:solidFill>
            <a:srgbClr val="FBBC04"/>
          </a:solidFill>
          <a:ln w="12700">
            <a:solidFill>
              <a:srgbClr val="FBBC04"/>
            </a:solidFill>
            <a:prstDash val="solid"/>
          </a:ln>
        </p:spPr>
      </p:sp>
      <p:sp>
        <p:nvSpPr>
          <p:cNvPr id="33" name="Text 31"/>
          <p:cNvSpPr/>
          <p:nvPr/>
        </p:nvSpPr>
        <p:spPr>
          <a:xfrm>
            <a:off x="594360" y="3218688"/>
            <a:ext cx="3703320" cy="219456"/>
          </a:xfrm>
          <a:prstGeom prst="rect">
            <a:avLst/>
          </a:prstGeom>
          <a:noFill/>
          <a:ln/>
        </p:spPr>
        <p:txBody>
          <a:bodyPr wrap="square" rtlCol="0" anchor="ctr"/>
          <a:lstStyle/>
          <a:p>
            <a:pPr marL="0" indent="0">
              <a:buNone/>
            </a:pPr>
            <a:r>
              <a:rPr lang="en-US" sz="900" b="1" dirty="0">
                <a:solidFill>
                  <a:srgbClr val="202124"/>
                </a:solidFill>
              </a:rPr>
              <a:t>Proactive budget control</a:t>
            </a:r>
            <a:endParaRPr lang="en-US" sz="900" dirty="0"/>
          </a:p>
        </p:txBody>
      </p:sp>
      <p:sp>
        <p:nvSpPr>
          <p:cNvPr id="34" name="Text 32"/>
          <p:cNvSpPr/>
          <p:nvPr/>
        </p:nvSpPr>
        <p:spPr>
          <a:xfrm>
            <a:off x="594360" y="3456432"/>
            <a:ext cx="3703320" cy="201168"/>
          </a:xfrm>
          <a:prstGeom prst="rect">
            <a:avLst/>
          </a:prstGeom>
          <a:noFill/>
          <a:ln/>
        </p:spPr>
        <p:txBody>
          <a:bodyPr wrap="square" rtlCol="0" anchor="ctr"/>
          <a:lstStyle/>
          <a:p>
            <a:pPr marL="0" indent="0">
              <a:buNone/>
            </a:pPr>
            <a:r>
              <a:rPr lang="en-US" sz="800" dirty="0">
                <a:solidFill>
                  <a:srgbClr val="5F6368"/>
                </a:solidFill>
              </a:rPr>
              <a:t>RAG alerts before overspend occurs</a:t>
            </a:r>
            <a:endParaRPr lang="en-US" sz="800" dirty="0"/>
          </a:p>
        </p:txBody>
      </p:sp>
      <p:sp>
        <p:nvSpPr>
          <p:cNvPr id="35" name="Shape 33"/>
          <p:cNvSpPr/>
          <p:nvPr/>
        </p:nvSpPr>
        <p:spPr>
          <a:xfrm>
            <a:off x="411480" y="3822192"/>
            <a:ext cx="109728" cy="109728"/>
          </a:xfrm>
          <a:prstGeom prst="rect">
            <a:avLst/>
          </a:prstGeom>
          <a:solidFill>
            <a:srgbClr val="EA4335"/>
          </a:solidFill>
          <a:ln w="12700">
            <a:solidFill>
              <a:srgbClr val="EA4335"/>
            </a:solidFill>
            <a:prstDash val="solid"/>
          </a:ln>
        </p:spPr>
      </p:sp>
      <p:sp>
        <p:nvSpPr>
          <p:cNvPr id="36" name="Text 34"/>
          <p:cNvSpPr/>
          <p:nvPr/>
        </p:nvSpPr>
        <p:spPr>
          <a:xfrm>
            <a:off x="594360" y="3767328"/>
            <a:ext cx="3703320" cy="219456"/>
          </a:xfrm>
          <a:prstGeom prst="rect">
            <a:avLst/>
          </a:prstGeom>
          <a:noFill/>
          <a:ln/>
        </p:spPr>
        <p:txBody>
          <a:bodyPr wrap="square" rtlCol="0" anchor="ctr"/>
          <a:lstStyle/>
          <a:p>
            <a:pPr marL="0" indent="0">
              <a:buNone/>
            </a:pPr>
            <a:r>
              <a:rPr lang="en-US" sz="900" b="1" dirty="0">
                <a:solidFill>
                  <a:srgbClr val="202124"/>
                </a:solidFill>
              </a:rPr>
              <a:t>Waste elimination</a:t>
            </a:r>
            <a:endParaRPr lang="en-US" sz="900" dirty="0"/>
          </a:p>
        </p:txBody>
      </p:sp>
      <p:sp>
        <p:nvSpPr>
          <p:cNvPr id="37" name="Text 35"/>
          <p:cNvSpPr/>
          <p:nvPr/>
        </p:nvSpPr>
        <p:spPr>
          <a:xfrm>
            <a:off x="594360" y="4005072"/>
            <a:ext cx="3703320" cy="201168"/>
          </a:xfrm>
          <a:prstGeom prst="rect">
            <a:avLst/>
          </a:prstGeom>
          <a:noFill/>
          <a:ln/>
        </p:spPr>
        <p:txBody>
          <a:bodyPr wrap="square" rtlCol="0" anchor="ctr"/>
          <a:lstStyle/>
          <a:p>
            <a:pPr marL="0" indent="0">
              <a:buNone/>
            </a:pPr>
            <a:r>
              <a:rPr lang="en-US" sz="800" dirty="0">
                <a:solidFill>
                  <a:srgbClr val="5F6368"/>
                </a:solidFill>
              </a:rPr>
              <a:t>Scatter-based idle detection with $377K savings estimate</a:t>
            </a:r>
            <a:endParaRPr lang="en-US" sz="800" dirty="0"/>
          </a:p>
        </p:txBody>
      </p:sp>
      <p:sp>
        <p:nvSpPr>
          <p:cNvPr id="38" name="Shape 36"/>
          <p:cNvSpPr/>
          <p:nvPr/>
        </p:nvSpPr>
        <p:spPr>
          <a:xfrm>
            <a:off x="411480" y="4370832"/>
            <a:ext cx="109728" cy="109728"/>
          </a:xfrm>
          <a:prstGeom prst="rect">
            <a:avLst/>
          </a:prstGeom>
          <a:solidFill>
            <a:srgbClr val="4285F4"/>
          </a:solidFill>
          <a:ln w="12700">
            <a:solidFill>
              <a:srgbClr val="4285F4"/>
            </a:solidFill>
            <a:prstDash val="solid"/>
          </a:ln>
        </p:spPr>
      </p:sp>
      <p:sp>
        <p:nvSpPr>
          <p:cNvPr id="39" name="Text 37"/>
          <p:cNvSpPr/>
          <p:nvPr/>
        </p:nvSpPr>
        <p:spPr>
          <a:xfrm>
            <a:off x="594360" y="4315968"/>
            <a:ext cx="3703320" cy="219456"/>
          </a:xfrm>
          <a:prstGeom prst="rect">
            <a:avLst/>
          </a:prstGeom>
          <a:noFill/>
          <a:ln/>
        </p:spPr>
        <p:txBody>
          <a:bodyPr wrap="square" rtlCol="0" anchor="ctr"/>
          <a:lstStyle/>
          <a:p>
            <a:pPr marL="0" indent="0">
              <a:buNone/>
            </a:pPr>
            <a:r>
              <a:rPr lang="en-US" sz="900" b="1" dirty="0">
                <a:solidFill>
                  <a:srgbClr val="202124"/>
                </a:solidFill>
              </a:rPr>
              <a:t>Anomaly response</a:t>
            </a:r>
            <a:endParaRPr lang="en-US" sz="900" dirty="0"/>
          </a:p>
        </p:txBody>
      </p:sp>
      <p:sp>
        <p:nvSpPr>
          <p:cNvPr id="40" name="Text 38"/>
          <p:cNvSpPr/>
          <p:nvPr/>
        </p:nvSpPr>
        <p:spPr>
          <a:xfrm>
            <a:off x="594360" y="4553712"/>
            <a:ext cx="3703320" cy="201168"/>
          </a:xfrm>
          <a:prstGeom prst="rect">
            <a:avLst/>
          </a:prstGeom>
          <a:noFill/>
          <a:ln/>
        </p:spPr>
        <p:txBody>
          <a:bodyPr wrap="square" rtlCol="0" anchor="ctr"/>
          <a:lstStyle/>
          <a:p>
            <a:pPr marL="0" indent="0">
              <a:buNone/>
            </a:pPr>
            <a:r>
              <a:rPr lang="en-US" sz="800" dirty="0">
                <a:solidFill>
                  <a:srgbClr val="5F6368"/>
                </a:solidFill>
              </a:rPr>
              <a:t>Hours to detect vs days before — 14 spikes caught</a:t>
            </a:r>
            <a:endParaRPr lang="en-US" sz="800" dirty="0"/>
          </a:p>
        </p:txBody>
      </p:sp>
      <p:sp>
        <p:nvSpPr>
          <p:cNvPr id="41" name="Shape 39"/>
          <p:cNvSpPr/>
          <p:nvPr/>
        </p:nvSpPr>
        <p:spPr>
          <a:xfrm>
            <a:off x="4663440" y="1719072"/>
            <a:ext cx="4206240" cy="3200400"/>
          </a:xfrm>
          <a:prstGeom prst="rect">
            <a:avLst/>
          </a:prstGeom>
          <a:solidFill>
            <a:srgbClr val="FFFFFF"/>
          </a:solidFill>
          <a:ln w="6350">
            <a:solidFill>
              <a:srgbClr val="DADDE1"/>
            </a:solidFill>
            <a:prstDash val="solid"/>
          </a:ln>
          <a:effectLst>
            <a:outerShdw blurRad="50800" dist="25400" dir="8100000" algn="bl" rotWithShape="0">
              <a:srgbClr val="000000">
                <a:alpha val="8000"/>
              </a:srgbClr>
            </a:outerShdw>
          </a:effectLst>
        </p:spPr>
      </p:sp>
      <p:sp>
        <p:nvSpPr>
          <p:cNvPr id="42" name="Shape 40"/>
          <p:cNvSpPr/>
          <p:nvPr/>
        </p:nvSpPr>
        <p:spPr>
          <a:xfrm>
            <a:off x="4800600" y="1773936"/>
            <a:ext cx="45720" cy="201168"/>
          </a:xfrm>
          <a:prstGeom prst="rect">
            <a:avLst/>
          </a:prstGeom>
          <a:solidFill>
            <a:srgbClr val="34A853"/>
          </a:solidFill>
          <a:ln w="12700">
            <a:solidFill>
              <a:srgbClr val="34A853"/>
            </a:solidFill>
            <a:prstDash val="solid"/>
          </a:ln>
        </p:spPr>
      </p:sp>
      <p:sp>
        <p:nvSpPr>
          <p:cNvPr id="43" name="Text 41"/>
          <p:cNvSpPr/>
          <p:nvPr/>
        </p:nvSpPr>
        <p:spPr>
          <a:xfrm>
            <a:off x="4892040" y="1773936"/>
            <a:ext cx="3657600" cy="201168"/>
          </a:xfrm>
          <a:prstGeom prst="rect">
            <a:avLst/>
          </a:prstGeom>
          <a:noFill/>
          <a:ln/>
        </p:spPr>
        <p:txBody>
          <a:bodyPr wrap="square" rtlCol="0" anchor="ctr"/>
          <a:lstStyle/>
          <a:p>
            <a:pPr marL="0" indent="0">
              <a:buNone/>
            </a:pPr>
            <a:r>
              <a:rPr lang="en-US" sz="1000" b="1" dirty="0">
                <a:solidFill>
                  <a:srgbClr val="202124"/>
                </a:solidFill>
              </a:rPr>
              <a:t>Recommended next steps for GCP</a:t>
            </a:r>
            <a:endParaRPr lang="en-US" sz="1000" dirty="0"/>
          </a:p>
        </p:txBody>
      </p:sp>
      <p:sp>
        <p:nvSpPr>
          <p:cNvPr id="44" name="Shape 42"/>
          <p:cNvSpPr/>
          <p:nvPr/>
        </p:nvSpPr>
        <p:spPr>
          <a:xfrm>
            <a:off x="4800600" y="2157984"/>
            <a:ext cx="201168" cy="201168"/>
          </a:xfrm>
          <a:prstGeom prst="ellipse">
            <a:avLst/>
          </a:prstGeom>
          <a:solidFill>
            <a:srgbClr val="34A853">
              <a:alpha val="18000"/>
            </a:srgbClr>
          </a:solidFill>
          <a:ln w="12700">
            <a:solidFill>
              <a:srgbClr val="34A853"/>
            </a:solidFill>
            <a:prstDash val="solid"/>
          </a:ln>
        </p:spPr>
      </p:sp>
      <p:sp>
        <p:nvSpPr>
          <p:cNvPr id="45" name="Text 43"/>
          <p:cNvSpPr/>
          <p:nvPr/>
        </p:nvSpPr>
        <p:spPr>
          <a:xfrm>
            <a:off x="4800600" y="2157984"/>
            <a:ext cx="201168" cy="201168"/>
          </a:xfrm>
          <a:prstGeom prst="rect">
            <a:avLst/>
          </a:prstGeom>
          <a:noFill/>
          <a:ln/>
        </p:spPr>
        <p:txBody>
          <a:bodyPr wrap="square" rtlCol="0" anchor="ctr"/>
          <a:lstStyle/>
          <a:p>
            <a:pPr marL="0" indent="0" algn="ctr">
              <a:buNone/>
            </a:pPr>
            <a:r>
              <a:rPr lang="en-US" sz="800" b="1" dirty="0">
                <a:solidFill>
                  <a:srgbClr val="34A853"/>
                </a:solidFill>
              </a:rPr>
              <a:t>1</a:t>
            </a:r>
            <a:endParaRPr lang="en-US" sz="800" dirty="0"/>
          </a:p>
        </p:txBody>
      </p:sp>
      <p:sp>
        <p:nvSpPr>
          <p:cNvPr id="46" name="Text 44"/>
          <p:cNvSpPr/>
          <p:nvPr/>
        </p:nvSpPr>
        <p:spPr>
          <a:xfrm>
            <a:off x="5074920" y="2121408"/>
            <a:ext cx="3611880" cy="219456"/>
          </a:xfrm>
          <a:prstGeom prst="rect">
            <a:avLst/>
          </a:prstGeom>
          <a:noFill/>
          <a:ln/>
        </p:spPr>
        <p:txBody>
          <a:bodyPr wrap="square" rtlCol="0" anchor="ctr"/>
          <a:lstStyle/>
          <a:p>
            <a:pPr marL="0" indent="0">
              <a:buNone/>
            </a:pPr>
            <a:r>
              <a:rPr lang="en-US" sz="900" b="1" dirty="0">
                <a:solidFill>
                  <a:srgbClr val="202124"/>
                </a:solidFill>
              </a:rPr>
              <a:t>Enable GCP billing export to BigQuery</a:t>
            </a:r>
            <a:endParaRPr lang="en-US" sz="900" dirty="0"/>
          </a:p>
        </p:txBody>
      </p:sp>
      <p:sp>
        <p:nvSpPr>
          <p:cNvPr id="47" name="Text 45"/>
          <p:cNvSpPr/>
          <p:nvPr/>
        </p:nvSpPr>
        <p:spPr>
          <a:xfrm>
            <a:off x="5074920" y="2359152"/>
            <a:ext cx="3611880" cy="201168"/>
          </a:xfrm>
          <a:prstGeom prst="rect">
            <a:avLst/>
          </a:prstGeom>
          <a:noFill/>
          <a:ln/>
        </p:spPr>
        <p:txBody>
          <a:bodyPr wrap="square" rtlCol="0" anchor="ctr"/>
          <a:lstStyle/>
          <a:p>
            <a:pPr marL="0" indent="0">
              <a:buNone/>
            </a:pPr>
            <a:r>
              <a:rPr lang="en-US" sz="800" dirty="0">
                <a:solidFill>
                  <a:srgbClr val="5F6368"/>
                </a:solidFill>
              </a:rPr>
              <a:t>Activate automatic daily export from GCP Console → Billing</a:t>
            </a:r>
            <a:endParaRPr lang="en-US" sz="800" dirty="0"/>
          </a:p>
        </p:txBody>
      </p:sp>
      <p:sp>
        <p:nvSpPr>
          <p:cNvPr id="48" name="Shape 46"/>
          <p:cNvSpPr/>
          <p:nvPr/>
        </p:nvSpPr>
        <p:spPr>
          <a:xfrm>
            <a:off x="4800600" y="2706624"/>
            <a:ext cx="201168" cy="201168"/>
          </a:xfrm>
          <a:prstGeom prst="ellipse">
            <a:avLst/>
          </a:prstGeom>
          <a:solidFill>
            <a:srgbClr val="34A853">
              <a:alpha val="18000"/>
            </a:srgbClr>
          </a:solidFill>
          <a:ln w="12700">
            <a:solidFill>
              <a:srgbClr val="34A853"/>
            </a:solidFill>
            <a:prstDash val="solid"/>
          </a:ln>
        </p:spPr>
      </p:sp>
      <p:sp>
        <p:nvSpPr>
          <p:cNvPr id="49" name="Text 47"/>
          <p:cNvSpPr/>
          <p:nvPr/>
        </p:nvSpPr>
        <p:spPr>
          <a:xfrm>
            <a:off x="4800600" y="2706624"/>
            <a:ext cx="201168" cy="201168"/>
          </a:xfrm>
          <a:prstGeom prst="rect">
            <a:avLst/>
          </a:prstGeom>
          <a:noFill/>
          <a:ln/>
        </p:spPr>
        <p:txBody>
          <a:bodyPr wrap="square" rtlCol="0" anchor="ctr"/>
          <a:lstStyle/>
          <a:p>
            <a:pPr marL="0" indent="0" algn="ctr">
              <a:buNone/>
            </a:pPr>
            <a:r>
              <a:rPr lang="en-US" sz="800" b="1" dirty="0">
                <a:solidFill>
                  <a:srgbClr val="34A853"/>
                </a:solidFill>
              </a:rPr>
              <a:t>2</a:t>
            </a:r>
            <a:endParaRPr lang="en-US" sz="800" dirty="0"/>
          </a:p>
        </p:txBody>
      </p:sp>
      <p:sp>
        <p:nvSpPr>
          <p:cNvPr id="50" name="Text 48"/>
          <p:cNvSpPr/>
          <p:nvPr/>
        </p:nvSpPr>
        <p:spPr>
          <a:xfrm>
            <a:off x="5074920" y="2670048"/>
            <a:ext cx="3611880" cy="219456"/>
          </a:xfrm>
          <a:prstGeom prst="rect">
            <a:avLst/>
          </a:prstGeom>
          <a:noFill/>
          <a:ln/>
        </p:spPr>
        <p:txBody>
          <a:bodyPr wrap="square" rtlCol="0" anchor="ctr"/>
          <a:lstStyle/>
          <a:p>
            <a:pPr marL="0" indent="0">
              <a:buNone/>
            </a:pPr>
            <a:r>
              <a:rPr lang="en-US" sz="900" b="1" dirty="0">
                <a:solidFill>
                  <a:srgbClr val="202124"/>
                </a:solidFill>
              </a:rPr>
              <a:t>Enforce org-level resource tagging policy</a:t>
            </a:r>
            <a:endParaRPr lang="en-US" sz="900" dirty="0"/>
          </a:p>
        </p:txBody>
      </p:sp>
      <p:sp>
        <p:nvSpPr>
          <p:cNvPr id="51" name="Text 49"/>
          <p:cNvSpPr/>
          <p:nvPr/>
        </p:nvSpPr>
        <p:spPr>
          <a:xfrm>
            <a:off x="5074920" y="2907792"/>
            <a:ext cx="3611880" cy="201168"/>
          </a:xfrm>
          <a:prstGeom prst="rect">
            <a:avLst/>
          </a:prstGeom>
          <a:noFill/>
          <a:ln/>
        </p:spPr>
        <p:txBody>
          <a:bodyPr wrap="square" rtlCol="0" anchor="ctr"/>
          <a:lstStyle/>
          <a:p>
            <a:pPr marL="0" indent="0">
              <a:buNone/>
            </a:pPr>
            <a:r>
              <a:rPr lang="en-US" sz="800" dirty="0">
                <a:solidFill>
                  <a:srgbClr val="5F6368"/>
                </a:solidFill>
              </a:rPr>
              <a:t>Use GCP org policies to block untagged resource creation</a:t>
            </a:r>
            <a:endParaRPr lang="en-US" sz="800" dirty="0"/>
          </a:p>
        </p:txBody>
      </p:sp>
      <p:sp>
        <p:nvSpPr>
          <p:cNvPr id="52" name="Shape 50"/>
          <p:cNvSpPr/>
          <p:nvPr/>
        </p:nvSpPr>
        <p:spPr>
          <a:xfrm>
            <a:off x="4800600" y="3255264"/>
            <a:ext cx="201168" cy="201168"/>
          </a:xfrm>
          <a:prstGeom prst="ellipse">
            <a:avLst/>
          </a:prstGeom>
          <a:solidFill>
            <a:srgbClr val="34A853">
              <a:alpha val="18000"/>
            </a:srgbClr>
          </a:solidFill>
          <a:ln w="12700">
            <a:solidFill>
              <a:srgbClr val="34A853"/>
            </a:solidFill>
            <a:prstDash val="solid"/>
          </a:ln>
        </p:spPr>
      </p:sp>
      <p:sp>
        <p:nvSpPr>
          <p:cNvPr id="53" name="Text 51"/>
          <p:cNvSpPr/>
          <p:nvPr/>
        </p:nvSpPr>
        <p:spPr>
          <a:xfrm>
            <a:off x="4800600" y="3255264"/>
            <a:ext cx="201168" cy="201168"/>
          </a:xfrm>
          <a:prstGeom prst="rect">
            <a:avLst/>
          </a:prstGeom>
          <a:noFill/>
          <a:ln/>
        </p:spPr>
        <p:txBody>
          <a:bodyPr wrap="square" rtlCol="0" anchor="ctr"/>
          <a:lstStyle/>
          <a:p>
            <a:pPr marL="0" indent="0" algn="ctr">
              <a:buNone/>
            </a:pPr>
            <a:r>
              <a:rPr lang="en-US" sz="800" b="1" dirty="0">
                <a:solidFill>
                  <a:srgbClr val="34A853"/>
                </a:solidFill>
              </a:rPr>
              <a:t>3</a:t>
            </a:r>
            <a:endParaRPr lang="en-US" sz="800" dirty="0"/>
          </a:p>
        </p:txBody>
      </p:sp>
      <p:sp>
        <p:nvSpPr>
          <p:cNvPr id="54" name="Text 52"/>
          <p:cNvSpPr/>
          <p:nvPr/>
        </p:nvSpPr>
        <p:spPr>
          <a:xfrm>
            <a:off x="5074920" y="3218688"/>
            <a:ext cx="3611880" cy="219456"/>
          </a:xfrm>
          <a:prstGeom prst="rect">
            <a:avLst/>
          </a:prstGeom>
          <a:noFill/>
          <a:ln/>
        </p:spPr>
        <p:txBody>
          <a:bodyPr wrap="square" rtlCol="0" anchor="ctr"/>
          <a:lstStyle/>
          <a:p>
            <a:pPr marL="0" indent="0">
              <a:buNone/>
            </a:pPr>
            <a:r>
              <a:rPr lang="en-US" sz="900" b="1" dirty="0">
                <a:solidFill>
                  <a:srgbClr val="202124"/>
                </a:solidFill>
              </a:rPr>
              <a:t>Schedule Power BI refresh daily</a:t>
            </a:r>
            <a:endParaRPr lang="en-US" sz="900" dirty="0"/>
          </a:p>
        </p:txBody>
      </p:sp>
      <p:sp>
        <p:nvSpPr>
          <p:cNvPr id="55" name="Text 53"/>
          <p:cNvSpPr/>
          <p:nvPr/>
        </p:nvSpPr>
        <p:spPr>
          <a:xfrm>
            <a:off x="5074920" y="3456432"/>
            <a:ext cx="3611880" cy="201168"/>
          </a:xfrm>
          <a:prstGeom prst="rect">
            <a:avLst/>
          </a:prstGeom>
          <a:noFill/>
          <a:ln/>
        </p:spPr>
        <p:txBody>
          <a:bodyPr wrap="square" rtlCol="0" anchor="ctr"/>
          <a:lstStyle/>
          <a:p>
            <a:pPr marL="0" indent="0">
              <a:buNone/>
            </a:pPr>
            <a:r>
              <a:rPr lang="en-US" sz="800" dirty="0">
                <a:solidFill>
                  <a:srgbClr val="5F6368"/>
                </a:solidFill>
              </a:rPr>
              <a:t>Automate data refresh to keep dashboard current</a:t>
            </a:r>
            <a:endParaRPr lang="en-US" sz="800" dirty="0"/>
          </a:p>
        </p:txBody>
      </p:sp>
      <p:sp>
        <p:nvSpPr>
          <p:cNvPr id="56" name="Shape 54"/>
          <p:cNvSpPr/>
          <p:nvPr/>
        </p:nvSpPr>
        <p:spPr>
          <a:xfrm>
            <a:off x="4800600" y="3803904"/>
            <a:ext cx="201168" cy="201168"/>
          </a:xfrm>
          <a:prstGeom prst="ellipse">
            <a:avLst/>
          </a:prstGeom>
          <a:solidFill>
            <a:srgbClr val="34A853">
              <a:alpha val="18000"/>
            </a:srgbClr>
          </a:solidFill>
          <a:ln w="12700">
            <a:solidFill>
              <a:srgbClr val="34A853"/>
            </a:solidFill>
            <a:prstDash val="solid"/>
          </a:ln>
        </p:spPr>
      </p:sp>
      <p:sp>
        <p:nvSpPr>
          <p:cNvPr id="57" name="Text 55"/>
          <p:cNvSpPr/>
          <p:nvPr/>
        </p:nvSpPr>
        <p:spPr>
          <a:xfrm>
            <a:off x="4800600" y="3803904"/>
            <a:ext cx="201168" cy="201168"/>
          </a:xfrm>
          <a:prstGeom prst="rect">
            <a:avLst/>
          </a:prstGeom>
          <a:noFill/>
          <a:ln/>
        </p:spPr>
        <p:txBody>
          <a:bodyPr wrap="square" rtlCol="0" anchor="ctr"/>
          <a:lstStyle/>
          <a:p>
            <a:pPr marL="0" indent="0" algn="ctr">
              <a:buNone/>
            </a:pPr>
            <a:r>
              <a:rPr lang="en-US" sz="800" b="1" dirty="0">
                <a:solidFill>
                  <a:srgbClr val="34A853"/>
                </a:solidFill>
              </a:rPr>
              <a:t>4</a:t>
            </a:r>
            <a:endParaRPr lang="en-US" sz="800" dirty="0"/>
          </a:p>
        </p:txBody>
      </p:sp>
      <p:sp>
        <p:nvSpPr>
          <p:cNvPr id="58" name="Text 56"/>
          <p:cNvSpPr/>
          <p:nvPr/>
        </p:nvSpPr>
        <p:spPr>
          <a:xfrm>
            <a:off x="5074920" y="3767328"/>
            <a:ext cx="3611880" cy="219456"/>
          </a:xfrm>
          <a:prstGeom prst="rect">
            <a:avLst/>
          </a:prstGeom>
          <a:noFill/>
          <a:ln/>
        </p:spPr>
        <p:txBody>
          <a:bodyPr wrap="square" rtlCol="0" anchor="ctr"/>
          <a:lstStyle/>
          <a:p>
            <a:pPr marL="0" indent="0">
              <a:buNone/>
            </a:pPr>
            <a:r>
              <a:rPr lang="en-US" sz="900" b="1" dirty="0">
                <a:solidFill>
                  <a:srgbClr val="202124"/>
                </a:solidFill>
              </a:rPr>
              <a:t>Set budget alerts in GCP Console</a:t>
            </a:r>
            <a:endParaRPr lang="en-US" sz="900" dirty="0"/>
          </a:p>
        </p:txBody>
      </p:sp>
      <p:sp>
        <p:nvSpPr>
          <p:cNvPr id="59" name="Text 57"/>
          <p:cNvSpPr/>
          <p:nvPr/>
        </p:nvSpPr>
        <p:spPr>
          <a:xfrm>
            <a:off x="5074920" y="4005072"/>
            <a:ext cx="3611880" cy="201168"/>
          </a:xfrm>
          <a:prstGeom prst="rect">
            <a:avLst/>
          </a:prstGeom>
          <a:noFill/>
          <a:ln/>
        </p:spPr>
        <p:txBody>
          <a:bodyPr wrap="square" rtlCol="0" anchor="ctr"/>
          <a:lstStyle/>
          <a:p>
            <a:pPr marL="0" indent="0">
              <a:buNone/>
            </a:pPr>
            <a:r>
              <a:rPr lang="en-US" sz="800" dirty="0">
                <a:solidFill>
                  <a:srgbClr val="5F6368"/>
                </a:solidFill>
              </a:rPr>
              <a:t>Layer GCP native alerts on top of Power BI monitoring</a:t>
            </a:r>
            <a:endParaRPr lang="en-US" sz="800" dirty="0"/>
          </a:p>
        </p:txBody>
      </p:sp>
      <p:sp>
        <p:nvSpPr>
          <p:cNvPr id="60" name="Shape 58"/>
          <p:cNvSpPr/>
          <p:nvPr/>
        </p:nvSpPr>
        <p:spPr>
          <a:xfrm>
            <a:off x="4800600" y="4352544"/>
            <a:ext cx="201168" cy="201168"/>
          </a:xfrm>
          <a:prstGeom prst="ellipse">
            <a:avLst/>
          </a:prstGeom>
          <a:solidFill>
            <a:srgbClr val="34A853">
              <a:alpha val="18000"/>
            </a:srgbClr>
          </a:solidFill>
          <a:ln w="12700">
            <a:solidFill>
              <a:srgbClr val="34A853"/>
            </a:solidFill>
            <a:prstDash val="solid"/>
          </a:ln>
        </p:spPr>
      </p:sp>
      <p:sp>
        <p:nvSpPr>
          <p:cNvPr id="61" name="Text 59"/>
          <p:cNvSpPr/>
          <p:nvPr/>
        </p:nvSpPr>
        <p:spPr>
          <a:xfrm>
            <a:off x="4800600" y="4352544"/>
            <a:ext cx="201168" cy="201168"/>
          </a:xfrm>
          <a:prstGeom prst="rect">
            <a:avLst/>
          </a:prstGeom>
          <a:noFill/>
          <a:ln/>
        </p:spPr>
        <p:txBody>
          <a:bodyPr wrap="square" rtlCol="0" anchor="ctr"/>
          <a:lstStyle/>
          <a:p>
            <a:pPr marL="0" indent="0" algn="ctr">
              <a:buNone/>
            </a:pPr>
            <a:r>
              <a:rPr lang="en-US" sz="800" b="1" dirty="0">
                <a:solidFill>
                  <a:srgbClr val="34A853"/>
                </a:solidFill>
              </a:rPr>
              <a:t>5</a:t>
            </a:r>
            <a:endParaRPr lang="en-US" sz="800" dirty="0"/>
          </a:p>
        </p:txBody>
      </p:sp>
      <p:sp>
        <p:nvSpPr>
          <p:cNvPr id="62" name="Text 60"/>
          <p:cNvSpPr/>
          <p:nvPr/>
        </p:nvSpPr>
        <p:spPr>
          <a:xfrm>
            <a:off x="5074920" y="4315968"/>
            <a:ext cx="3611880" cy="219456"/>
          </a:xfrm>
          <a:prstGeom prst="rect">
            <a:avLst/>
          </a:prstGeom>
          <a:noFill/>
          <a:ln/>
        </p:spPr>
        <p:txBody>
          <a:bodyPr wrap="square" rtlCol="0" anchor="ctr"/>
          <a:lstStyle/>
          <a:p>
            <a:pPr marL="0" indent="0">
              <a:buNone/>
            </a:pPr>
            <a:r>
              <a:rPr lang="en-US" sz="900" b="1" dirty="0">
                <a:solidFill>
                  <a:srgbClr val="202124"/>
                </a:solidFill>
              </a:rPr>
              <a:t>Review idle resources monthly</a:t>
            </a:r>
            <a:endParaRPr lang="en-US" sz="900" dirty="0"/>
          </a:p>
        </p:txBody>
      </p:sp>
      <p:sp>
        <p:nvSpPr>
          <p:cNvPr id="63" name="Text 61"/>
          <p:cNvSpPr/>
          <p:nvPr/>
        </p:nvSpPr>
        <p:spPr>
          <a:xfrm>
            <a:off x="5074920" y="4553712"/>
            <a:ext cx="3611880" cy="201168"/>
          </a:xfrm>
          <a:prstGeom prst="rect">
            <a:avLst/>
          </a:prstGeom>
          <a:noFill/>
          <a:ln/>
        </p:spPr>
        <p:txBody>
          <a:bodyPr wrap="square" rtlCol="0" anchor="ctr"/>
          <a:lstStyle/>
          <a:p>
            <a:pPr marL="0" indent="0">
              <a:buNone/>
            </a:pPr>
            <a:r>
              <a:rPr lang="en-US" sz="800" dirty="0">
                <a:solidFill>
                  <a:srgbClr val="5F6368"/>
                </a:solidFill>
              </a:rPr>
              <a:t>Rightsize or terminate high-cost, low-usage instances</a:t>
            </a:r>
            <a:endParaRPr lang="en-US" sz="8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D2B6B"/>
        </a:solidFill>
        <a:effectLst/>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0D2B6B"/>
          </a:solidFill>
          <a:ln w="12700">
            <a:solidFill>
              <a:srgbClr val="0D2B6B"/>
            </a:solidFill>
            <a:prstDash val="solid"/>
          </a:ln>
        </p:spPr>
      </p:sp>
      <p:sp>
        <p:nvSpPr>
          <p:cNvPr id="3" name="Shape 1"/>
          <p:cNvSpPr/>
          <p:nvPr/>
        </p:nvSpPr>
        <p:spPr>
          <a:xfrm>
            <a:off x="0" y="4736592"/>
            <a:ext cx="9144000" cy="64008"/>
          </a:xfrm>
          <a:prstGeom prst="rect">
            <a:avLst/>
          </a:prstGeom>
          <a:solidFill>
            <a:srgbClr val="34A853"/>
          </a:solidFill>
          <a:ln w="12700">
            <a:solidFill>
              <a:srgbClr val="34A853"/>
            </a:solidFill>
            <a:prstDash val="solid"/>
          </a:ln>
        </p:spPr>
      </p:sp>
      <p:sp>
        <p:nvSpPr>
          <p:cNvPr id="4" name="Shape 2"/>
          <p:cNvSpPr/>
          <p:nvPr/>
        </p:nvSpPr>
        <p:spPr>
          <a:xfrm>
            <a:off x="0" y="4800600"/>
            <a:ext cx="9144000" cy="64008"/>
          </a:xfrm>
          <a:prstGeom prst="rect">
            <a:avLst/>
          </a:prstGeom>
          <a:solidFill>
            <a:srgbClr val="FBBC04"/>
          </a:solidFill>
          <a:ln w="12700">
            <a:solidFill>
              <a:srgbClr val="FBBC04"/>
            </a:solidFill>
            <a:prstDash val="solid"/>
          </a:ln>
        </p:spPr>
      </p:sp>
      <p:sp>
        <p:nvSpPr>
          <p:cNvPr id="5" name="Shape 3"/>
          <p:cNvSpPr/>
          <p:nvPr/>
        </p:nvSpPr>
        <p:spPr>
          <a:xfrm>
            <a:off x="0" y="4864608"/>
            <a:ext cx="9144000" cy="64008"/>
          </a:xfrm>
          <a:prstGeom prst="rect">
            <a:avLst/>
          </a:prstGeom>
          <a:solidFill>
            <a:srgbClr val="EA4335"/>
          </a:solidFill>
          <a:ln w="12700">
            <a:solidFill>
              <a:srgbClr val="EA4335"/>
            </a:solidFill>
            <a:prstDash val="solid"/>
          </a:ln>
        </p:spPr>
      </p:sp>
      <p:sp>
        <p:nvSpPr>
          <p:cNvPr id="6" name="Shape 4"/>
          <p:cNvSpPr/>
          <p:nvPr/>
        </p:nvSpPr>
        <p:spPr>
          <a:xfrm>
            <a:off x="0" y="4928616"/>
            <a:ext cx="9144000" cy="64008"/>
          </a:xfrm>
          <a:prstGeom prst="rect">
            <a:avLst/>
          </a:prstGeom>
          <a:solidFill>
            <a:srgbClr val="1A73E8"/>
          </a:solidFill>
          <a:ln w="12700">
            <a:solidFill>
              <a:srgbClr val="1A73E8"/>
            </a:solidFill>
            <a:prstDash val="solid"/>
          </a:ln>
        </p:spPr>
      </p:sp>
      <p:sp>
        <p:nvSpPr>
          <p:cNvPr id="7" name="Shape 5"/>
          <p:cNvSpPr/>
          <p:nvPr/>
        </p:nvSpPr>
        <p:spPr>
          <a:xfrm>
            <a:off x="548640" y="457200"/>
            <a:ext cx="640080" cy="640080"/>
          </a:xfrm>
          <a:prstGeom prst="rect">
            <a:avLst/>
          </a:prstGeom>
          <a:solidFill>
            <a:srgbClr val="1A73E8"/>
          </a:solidFill>
          <a:ln w="12700">
            <a:solidFill>
              <a:srgbClr val="1A73E8"/>
            </a:solidFill>
            <a:prstDash val="solid"/>
          </a:ln>
        </p:spPr>
      </p:sp>
      <p:sp>
        <p:nvSpPr>
          <p:cNvPr id="8" name="Text 6"/>
          <p:cNvSpPr/>
          <p:nvPr/>
        </p:nvSpPr>
        <p:spPr>
          <a:xfrm>
            <a:off x="548640" y="457200"/>
            <a:ext cx="640080" cy="640080"/>
          </a:xfrm>
          <a:prstGeom prst="rect">
            <a:avLst/>
          </a:prstGeom>
          <a:noFill/>
          <a:ln/>
        </p:spPr>
        <p:txBody>
          <a:bodyPr wrap="square" rtlCol="0" anchor="ctr"/>
          <a:lstStyle/>
          <a:p>
            <a:pPr marL="0" indent="0" algn="ctr">
              <a:buNone/>
            </a:pPr>
            <a:r>
              <a:rPr lang="en-US" sz="2200" b="1" dirty="0">
                <a:solidFill>
                  <a:srgbClr val="FFFFFF"/>
                </a:solidFill>
              </a:rPr>
              <a:t>G</a:t>
            </a:r>
            <a:endParaRPr lang="en-US" sz="2200" dirty="0"/>
          </a:p>
        </p:txBody>
      </p:sp>
      <p:sp>
        <p:nvSpPr>
          <p:cNvPr id="9" name="Text 7"/>
          <p:cNvSpPr/>
          <p:nvPr/>
        </p:nvSpPr>
        <p:spPr>
          <a:xfrm>
            <a:off x="548640" y="1280160"/>
            <a:ext cx="8229600" cy="822960"/>
          </a:xfrm>
          <a:prstGeom prst="rect">
            <a:avLst/>
          </a:prstGeom>
          <a:noFill/>
          <a:ln/>
        </p:spPr>
        <p:txBody>
          <a:bodyPr wrap="square" rtlCol="0" anchor="ctr"/>
          <a:lstStyle/>
          <a:p>
            <a:pPr marL="0" indent="0" algn="ctr">
              <a:buNone/>
            </a:pPr>
            <a:r>
              <a:rPr lang="en-US" sz="4600" b="1" dirty="0">
                <a:solidFill>
                  <a:srgbClr val="FFFFFF"/>
                </a:solidFill>
              </a:rPr>
              <a:t>Thank You</a:t>
            </a:r>
            <a:endParaRPr lang="en-US" sz="4600" dirty="0"/>
          </a:p>
        </p:txBody>
      </p:sp>
      <p:sp>
        <p:nvSpPr>
          <p:cNvPr id="10" name="Text 8"/>
          <p:cNvSpPr/>
          <p:nvPr/>
        </p:nvSpPr>
        <p:spPr>
          <a:xfrm>
            <a:off x="548640" y="2176272"/>
            <a:ext cx="8229600" cy="365760"/>
          </a:xfrm>
          <a:prstGeom prst="rect">
            <a:avLst/>
          </a:prstGeom>
          <a:noFill/>
          <a:ln/>
        </p:spPr>
        <p:txBody>
          <a:bodyPr wrap="square" rtlCol="0" anchor="ctr"/>
          <a:lstStyle/>
          <a:p>
            <a:pPr marL="0" indent="0" algn="ctr">
              <a:buNone/>
            </a:pPr>
            <a:r>
              <a:rPr lang="en-US" sz="1400" i="1" dirty="0">
                <a:solidFill>
                  <a:srgbClr val="8AB4F8"/>
                </a:solidFill>
              </a:rPr>
              <a:t>GCP Cloud Cost Optimization Dashboard</a:t>
            </a:r>
            <a:endParaRPr lang="en-US" sz="1400" dirty="0"/>
          </a:p>
        </p:txBody>
      </p:sp>
      <p:sp>
        <p:nvSpPr>
          <p:cNvPr id="11" name="Shape 9"/>
          <p:cNvSpPr/>
          <p:nvPr/>
        </p:nvSpPr>
        <p:spPr>
          <a:xfrm>
            <a:off x="731520" y="2788920"/>
            <a:ext cx="1783080" cy="548640"/>
          </a:xfrm>
          <a:prstGeom prst="rect">
            <a:avLst/>
          </a:prstGeom>
          <a:solidFill>
            <a:srgbClr val="1A73E8">
              <a:alpha val="15000"/>
            </a:srgbClr>
          </a:solidFill>
          <a:ln w="12700">
            <a:solidFill>
              <a:srgbClr val="1A73E8">
                <a:alpha val="40000"/>
              </a:srgbClr>
            </a:solidFill>
            <a:prstDash val="solid"/>
          </a:ln>
        </p:spPr>
      </p:sp>
      <p:sp>
        <p:nvSpPr>
          <p:cNvPr id="12" name="Text 10"/>
          <p:cNvSpPr/>
          <p:nvPr/>
        </p:nvSpPr>
        <p:spPr>
          <a:xfrm>
            <a:off x="731520" y="2816352"/>
            <a:ext cx="1783080" cy="201168"/>
          </a:xfrm>
          <a:prstGeom prst="rect">
            <a:avLst/>
          </a:prstGeom>
          <a:noFill/>
          <a:ln/>
        </p:spPr>
        <p:txBody>
          <a:bodyPr wrap="square" rtlCol="0" anchor="ctr"/>
          <a:lstStyle/>
          <a:p>
            <a:pPr marL="0" indent="0" algn="ctr">
              <a:buNone/>
            </a:pPr>
            <a:r>
              <a:rPr lang="en-US" sz="850" b="1" dirty="0">
                <a:solidFill>
                  <a:srgbClr val="8AB4F8"/>
                </a:solidFill>
              </a:rPr>
              <a:t>Dataset</a:t>
            </a:r>
            <a:endParaRPr lang="en-US" sz="850" dirty="0"/>
          </a:p>
        </p:txBody>
      </p:sp>
      <p:sp>
        <p:nvSpPr>
          <p:cNvPr id="13" name="Text 11"/>
          <p:cNvSpPr/>
          <p:nvPr/>
        </p:nvSpPr>
        <p:spPr>
          <a:xfrm>
            <a:off x="731520" y="3017520"/>
            <a:ext cx="1783080" cy="256032"/>
          </a:xfrm>
          <a:prstGeom prst="rect">
            <a:avLst/>
          </a:prstGeom>
          <a:noFill/>
          <a:ln/>
        </p:spPr>
        <p:txBody>
          <a:bodyPr wrap="square" rtlCol="0" anchor="ctr"/>
          <a:lstStyle/>
          <a:p>
            <a:pPr marL="0" indent="0" algn="ctr">
              <a:buNone/>
            </a:pPr>
            <a:r>
              <a:rPr lang="en-US" sz="700" dirty="0">
                <a:solidFill>
                  <a:srgbClr val="CADCFC"/>
                </a:solidFill>
              </a:rPr>
              <a:t>103,000+ rows · 17 months · 5 tables · BigQuery</a:t>
            </a:r>
            <a:endParaRPr lang="en-US" sz="700" dirty="0"/>
          </a:p>
        </p:txBody>
      </p:sp>
      <p:sp>
        <p:nvSpPr>
          <p:cNvPr id="14" name="Shape 12"/>
          <p:cNvSpPr/>
          <p:nvPr/>
        </p:nvSpPr>
        <p:spPr>
          <a:xfrm>
            <a:off x="2670048" y="2788920"/>
            <a:ext cx="1783080" cy="548640"/>
          </a:xfrm>
          <a:prstGeom prst="rect">
            <a:avLst/>
          </a:prstGeom>
          <a:solidFill>
            <a:srgbClr val="1A73E8">
              <a:alpha val="15000"/>
            </a:srgbClr>
          </a:solidFill>
          <a:ln w="12700">
            <a:solidFill>
              <a:srgbClr val="1A73E8">
                <a:alpha val="40000"/>
              </a:srgbClr>
            </a:solidFill>
            <a:prstDash val="solid"/>
          </a:ln>
        </p:spPr>
      </p:sp>
      <p:sp>
        <p:nvSpPr>
          <p:cNvPr id="15" name="Text 13"/>
          <p:cNvSpPr/>
          <p:nvPr/>
        </p:nvSpPr>
        <p:spPr>
          <a:xfrm>
            <a:off x="2670048" y="2816352"/>
            <a:ext cx="1783080" cy="201168"/>
          </a:xfrm>
          <a:prstGeom prst="rect">
            <a:avLst/>
          </a:prstGeom>
          <a:noFill/>
          <a:ln/>
        </p:spPr>
        <p:txBody>
          <a:bodyPr wrap="square" rtlCol="0" anchor="ctr"/>
          <a:lstStyle/>
          <a:p>
            <a:pPr marL="0" indent="0" algn="ctr">
              <a:buNone/>
            </a:pPr>
            <a:r>
              <a:rPr lang="en-US" sz="850" b="1" dirty="0">
                <a:solidFill>
                  <a:srgbClr val="8AB4F8"/>
                </a:solidFill>
              </a:rPr>
              <a:t>Tools</a:t>
            </a:r>
            <a:endParaRPr lang="en-US" sz="850" dirty="0"/>
          </a:p>
        </p:txBody>
      </p:sp>
      <p:sp>
        <p:nvSpPr>
          <p:cNvPr id="16" name="Text 14"/>
          <p:cNvSpPr/>
          <p:nvPr/>
        </p:nvSpPr>
        <p:spPr>
          <a:xfrm>
            <a:off x="2670048" y="3017520"/>
            <a:ext cx="1783080" cy="256032"/>
          </a:xfrm>
          <a:prstGeom prst="rect">
            <a:avLst/>
          </a:prstGeom>
          <a:noFill/>
          <a:ln/>
        </p:spPr>
        <p:txBody>
          <a:bodyPr wrap="square" rtlCol="0" anchor="ctr"/>
          <a:lstStyle/>
          <a:p>
            <a:pPr marL="0" indent="0" algn="ctr">
              <a:buNone/>
            </a:pPr>
            <a:r>
              <a:rPr lang="en-US" sz="700" dirty="0">
                <a:solidFill>
                  <a:srgbClr val="CADCFC"/>
                </a:solidFill>
              </a:rPr>
              <a:t>Power BI Desktop · BigQuery · Power Query · DAX</a:t>
            </a:r>
            <a:endParaRPr lang="en-US" sz="700" dirty="0"/>
          </a:p>
        </p:txBody>
      </p:sp>
      <p:sp>
        <p:nvSpPr>
          <p:cNvPr id="17" name="Shape 15"/>
          <p:cNvSpPr/>
          <p:nvPr/>
        </p:nvSpPr>
        <p:spPr>
          <a:xfrm>
            <a:off x="4608576" y="2788920"/>
            <a:ext cx="1783080" cy="548640"/>
          </a:xfrm>
          <a:prstGeom prst="rect">
            <a:avLst/>
          </a:prstGeom>
          <a:solidFill>
            <a:srgbClr val="1A73E8">
              <a:alpha val="15000"/>
            </a:srgbClr>
          </a:solidFill>
          <a:ln w="12700">
            <a:solidFill>
              <a:srgbClr val="1A73E8">
                <a:alpha val="40000"/>
              </a:srgbClr>
            </a:solidFill>
            <a:prstDash val="solid"/>
          </a:ln>
        </p:spPr>
      </p:sp>
      <p:sp>
        <p:nvSpPr>
          <p:cNvPr id="18" name="Text 16"/>
          <p:cNvSpPr/>
          <p:nvPr/>
        </p:nvSpPr>
        <p:spPr>
          <a:xfrm>
            <a:off x="4608576" y="2816352"/>
            <a:ext cx="1783080" cy="201168"/>
          </a:xfrm>
          <a:prstGeom prst="rect">
            <a:avLst/>
          </a:prstGeom>
          <a:noFill/>
          <a:ln/>
        </p:spPr>
        <p:txBody>
          <a:bodyPr wrap="square" rtlCol="0" anchor="ctr"/>
          <a:lstStyle/>
          <a:p>
            <a:pPr marL="0" indent="0" algn="ctr">
              <a:buNone/>
            </a:pPr>
            <a:r>
              <a:rPr lang="en-US" sz="850" b="1" dirty="0">
                <a:solidFill>
                  <a:srgbClr val="8AB4F8"/>
                </a:solidFill>
              </a:rPr>
              <a:t>Pages</a:t>
            </a:r>
            <a:endParaRPr lang="en-US" sz="850" dirty="0"/>
          </a:p>
        </p:txBody>
      </p:sp>
      <p:sp>
        <p:nvSpPr>
          <p:cNvPr id="19" name="Text 17"/>
          <p:cNvSpPr/>
          <p:nvPr/>
        </p:nvSpPr>
        <p:spPr>
          <a:xfrm>
            <a:off x="4608576" y="3017520"/>
            <a:ext cx="1783080" cy="256032"/>
          </a:xfrm>
          <a:prstGeom prst="rect">
            <a:avLst/>
          </a:prstGeom>
          <a:noFill/>
          <a:ln/>
        </p:spPr>
        <p:txBody>
          <a:bodyPr wrap="square" rtlCol="0" anchor="ctr"/>
          <a:lstStyle/>
          <a:p>
            <a:pPr marL="0" indent="0" algn="ctr">
              <a:buNone/>
            </a:pPr>
            <a:r>
              <a:rPr lang="en-US" sz="700" dirty="0">
                <a:solidFill>
                  <a:srgbClr val="CADCFC"/>
                </a:solidFill>
              </a:rPr>
              <a:t>6 report pages · 15+ DAX measures · 30+ visuals</a:t>
            </a:r>
            <a:endParaRPr lang="en-US" sz="700" dirty="0"/>
          </a:p>
        </p:txBody>
      </p:sp>
      <p:sp>
        <p:nvSpPr>
          <p:cNvPr id="20" name="Shape 18"/>
          <p:cNvSpPr/>
          <p:nvPr/>
        </p:nvSpPr>
        <p:spPr>
          <a:xfrm>
            <a:off x="6547104" y="2788920"/>
            <a:ext cx="1783080" cy="548640"/>
          </a:xfrm>
          <a:prstGeom prst="rect">
            <a:avLst/>
          </a:prstGeom>
          <a:solidFill>
            <a:srgbClr val="1A73E8">
              <a:alpha val="15000"/>
            </a:srgbClr>
          </a:solidFill>
          <a:ln w="12700">
            <a:solidFill>
              <a:srgbClr val="1A73E8">
                <a:alpha val="40000"/>
              </a:srgbClr>
            </a:solidFill>
            <a:prstDash val="solid"/>
          </a:ln>
        </p:spPr>
      </p:sp>
      <p:sp>
        <p:nvSpPr>
          <p:cNvPr id="21" name="Text 19"/>
          <p:cNvSpPr/>
          <p:nvPr/>
        </p:nvSpPr>
        <p:spPr>
          <a:xfrm>
            <a:off x="6547104" y="2816352"/>
            <a:ext cx="1783080" cy="201168"/>
          </a:xfrm>
          <a:prstGeom prst="rect">
            <a:avLst/>
          </a:prstGeom>
          <a:noFill/>
          <a:ln/>
        </p:spPr>
        <p:txBody>
          <a:bodyPr wrap="square" rtlCol="0" anchor="ctr"/>
          <a:lstStyle/>
          <a:p>
            <a:pPr marL="0" indent="0" algn="ctr">
              <a:buNone/>
            </a:pPr>
            <a:r>
              <a:rPr lang="en-US" sz="850" b="1" dirty="0">
                <a:solidFill>
                  <a:srgbClr val="8AB4F8"/>
                </a:solidFill>
              </a:rPr>
              <a:t>Savings</a:t>
            </a:r>
            <a:endParaRPr lang="en-US" sz="850" dirty="0"/>
          </a:p>
        </p:txBody>
      </p:sp>
      <p:sp>
        <p:nvSpPr>
          <p:cNvPr id="22" name="Text 20"/>
          <p:cNvSpPr/>
          <p:nvPr/>
        </p:nvSpPr>
        <p:spPr>
          <a:xfrm>
            <a:off x="6547104" y="3017520"/>
            <a:ext cx="1783080" cy="256032"/>
          </a:xfrm>
          <a:prstGeom prst="rect">
            <a:avLst/>
          </a:prstGeom>
          <a:noFill/>
          <a:ln/>
        </p:spPr>
        <p:txBody>
          <a:bodyPr wrap="square" rtlCol="0" anchor="ctr"/>
          <a:lstStyle/>
          <a:p>
            <a:pPr marL="0" indent="0" algn="ctr">
              <a:buNone/>
            </a:pPr>
            <a:r>
              <a:rPr lang="en-US" sz="700" dirty="0">
                <a:solidFill>
                  <a:srgbClr val="CADCFC"/>
                </a:solidFill>
              </a:rPr>
              <a:t>Est. $377K annual · 1,029 untagged rows resolved</a:t>
            </a:r>
            <a:endParaRPr lang="en-US" sz="700" dirty="0"/>
          </a:p>
        </p:txBody>
      </p:sp>
      <p:sp>
        <p:nvSpPr>
          <p:cNvPr id="23" name="Text 21"/>
          <p:cNvSpPr/>
          <p:nvPr/>
        </p:nvSpPr>
        <p:spPr>
          <a:xfrm>
            <a:off x="548640" y="3547872"/>
            <a:ext cx="8229600" cy="274320"/>
          </a:xfrm>
          <a:prstGeom prst="rect">
            <a:avLst/>
          </a:prstGeom>
          <a:noFill/>
          <a:ln/>
        </p:spPr>
        <p:txBody>
          <a:bodyPr wrap="square" rtlCol="0" anchor="ctr"/>
          <a:lstStyle/>
          <a:p>
            <a:pPr marL="0" indent="0" algn="ctr">
              <a:buNone/>
            </a:pPr>
            <a:r>
              <a:rPr lang="en-US" sz="900" dirty="0">
                <a:solidFill>
                  <a:srgbClr val="5F7EA8"/>
                </a:solidFill>
              </a:rPr>
              <a:t>Built with  Google Cloud Platform  ·  Microsoft Power BI  ·  BigQuery  ·  Power Query</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2192</TotalTime>
  <Words>1526</Words>
  <Application>Microsoft Office PowerPoint</Application>
  <PresentationFormat>On-screen Show (16:9)</PresentationFormat>
  <Paragraphs>303</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Consolas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GCP Cloud Cost Optimization Dashboard</dc:title>
  <dc:subject>PptxGenJS Presentation</dc:subject>
  <dc:creator>GCP FinOps Analytics</dc:creator>
  <cp:lastModifiedBy>Varun Dusane</cp:lastModifiedBy>
  <cp:revision>4</cp:revision>
  <dcterms:created xsi:type="dcterms:W3CDTF">2026-05-24T06:25:30Z</dcterms:created>
  <dcterms:modified xsi:type="dcterms:W3CDTF">2026-05-27T13:13:15Z</dcterms:modified>
</cp:coreProperties>
</file>